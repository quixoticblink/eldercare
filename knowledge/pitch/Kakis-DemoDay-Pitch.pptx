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name: kakis — Singlish for the trusted companions you can call on. One sentence: we help family caregivers activate trusted respite within hours when a care crisis hits, starting from Vanguard's Pasir Ris pilot. The pass on the right is the product in one image: a known face, verified by Vanguard, that a senior recognises.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rubric asks for evidence of learning and adaptation. This is it: four dated iterations, each triggered by evidence, none overwritten. The honest beat: on June 15 we admitted NCSS's question was sharper than ours — and took ten days to decide rather than pivoting performatively.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wedge is not routine chaperone — Vanguard runs that today at only 20–30 bookings a month. The pain concentrates in these six moments, when willingness to accept help (and to pay) spikes. Kakis is built for the moment the plan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epistemics: the 15–30K is an extrapolation Vanguard's Jason wrote on a whiteboard in front of us, and we've flagged its assumptions. But three independent signals — turned-away requests, incumbent lead times, and the awareness gap — all point the same direction: latent demand that current uptake cannot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quotes, three design commitments. The middle one is load-bearing: the consistency constraint rules out Uber-style rotation entirely, and it came from our fieldwork AND NCSS's independent research AND Vanguard's operating pattern — triangulated three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aren't features, they're constraints — facts about the problem that rule out solution classes before we build them. Everything in the prototype traces to one of these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Vanguard themselves pushed back on 'Grab for eldercare' — home care doesn't reveal demand through pricing. What survives that critique is this: an activation layer plus care planning plus certified supply, on their platform, in their sandbox sub-region. The pilot offer was volunteered, not extracted.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in one picture. Caregivers activate; certified kakis serve; agents do verification, matching and quality review in the middle; one human coordinator approves. The senior deliberately sits outside the app — trust reaches them through a person, not a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demo here if time allows. Three beats: the crisis picker leads (that's the wedge), the match is a known face with the consistency logic stated, and the price shows the multi-payer stack openly — $84 becomes $27. Feedback is a private care note, never a public star: MOH constraint, designed in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supply side is Vanguard's actual playbook, productised: their real training tracks (CPR externally certified at St. Luke's, mobility half-day, dementia tiered), their micro-jobber demographic, their first-session-with-staff pattern — turned into an onboarding funnel with a certification wallet.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 commercially: Vanguard's manual pattern — phone triage plus WhatsApp rosters — caps out around 20–30 bookings a month. Agents do the routine 90% with evidence trails; the human approves. That's how ops cost per booking falls as volume rises, which is what makes the multi-payer economics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uncomfortable truth from Vanguard's own numbers: the service costs ~$26 a session to deliver and the people who need it most can't pay that. Vanguard already bridges with an internal healthcare fund and philanthropy — proof the stack works. Kakis systematises it across payers instead of inside one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refuse to present one big number. The floor is measured, the signal is a partner's extrapolation with named assumptions, the ceiling is a boundary. Shobhit's discipline from day one: partner sizing is orientation, not evidence. AIC's national data — MET waitlists, referral funnels — is the triangulation meeting we've already requested.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pilot is a Vanguard operational scope — we don't need to solve full platform ownership to run it. Our deliverables by September: pilot design, KPI framework, the multi-payer business case. The KPIs are chosen to answer the three open questions: does crisis activation convert, does consistency hold at scale, do agent ops actually bend the cost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reward intellectual honesty; so does reality. These four are the strongest live critiques from our own devil's-advocate file — including one (the graveyard) we inherited knowingly from NCSS. The pattern in our answers: we're building the business case and ownership answer first, because that's what stalled everyone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arc: five personal family stories, six field interviews, two reframes, one anchor partner — and a concrete pilot with a date on it. The three asks are deliberately small and unblockable. End with the wiki URL: the whole journey is public, which is itself the leadership-journey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Kakis</a:t>
            </a:r>
            <a:pPr indent="0" marL="0">
              <a:buNone/>
            </a:pPr>
            <a:r>
              <a:rPr lang="en-US" sz="800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68680" y="331012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respite when a crisis hits.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39319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crisis-activation respite platform for caregivers of Singapore's relatively healthy elderly — layered on Vanguard's Pasir Ris ICCP pilot.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68680" y="5806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B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SGLN TECH · Demo Day · September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61447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Kaul · Lara PuReum Yim · Aditi Agarwal · Shobhit Singhal · Quah Zheng Wei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955280" y="1920240"/>
            <a:ext cx="3383280" cy="2834640"/>
          </a:xfrm>
          <a:prstGeom prst="roundRect">
            <a:avLst>
              <a:gd name="adj" fmla="val 2903"/>
            </a:avLst>
          </a:prstGeom>
          <a:solidFill>
            <a:srgbClr val="14594A"/>
          </a:solidFill>
          <a:ln w="12700">
            <a:solidFill>
              <a:srgbClr val="2E7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240280"/>
            <a:ext cx="658368" cy="658368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224028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0684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Mdm Halimah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06840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Chaperone &amp; companionship · Pasir Ris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0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knows her — 6 visits together since May. No re-introduction needed.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KAKI-PR04-0117 · CERT VERIFIED BY VANGUARD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LEADERSHIP JOURNEY · EVIDENCE OF CHANGING OUR MINDS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moved twice. We have the receipts.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121408"/>
            <a:ext cx="10332720" cy="0"/>
          </a:xfrm>
          <a:prstGeom prst="line">
            <a:avLst/>
          </a:prstGeom>
          <a:noFill/>
          <a:ln w="38100">
            <a:solidFill>
              <a:srgbClr val="DFED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01368" y="1975104"/>
            <a:ext cx="310896" cy="310896"/>
          </a:xfrm>
          <a:prstGeom prst="ellipse">
            <a:avLst/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May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487168"/>
            <a:ext cx="2560320" cy="3246120"/>
          </a:xfrm>
          <a:prstGeom prst="roundRect">
            <a:avLst>
              <a:gd name="adj" fmla="val 3214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Companionship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312724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elderly in Singapore experience genuine daily connection.”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family stories, one shared word: connection.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975104"/>
            <a:ext cx="310896" cy="310896"/>
          </a:xfrm>
          <a:prstGeom prst="ellipse">
            <a:avLst/>
          </a:prstGeom>
          <a:solidFill>
            <a:srgbClr val="5E6B65"/>
          </a:solidFill>
          <a:ln w="12700">
            <a:solidFill>
              <a:srgbClr val="5E6B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Jun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02152" y="2487168"/>
            <a:ext cx="2560320" cy="3246120"/>
          </a:xfrm>
          <a:prstGeom prst="roundRect">
            <a:avLst>
              <a:gd name="adj" fmla="val 3214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reframe signal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85032" y="312724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NCSS's year-old HMW was sharper than ours. Aditi conceded it on the call.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85032" y="4572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sat with the tension for ten days instead of pivoting on the spot.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34072" y="1975104"/>
            <a:ext cx="310896" cy="310896"/>
          </a:xfrm>
          <a:prstGeom prst="ellipse">
            <a:avLst/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Jun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18504" y="2487168"/>
            <a:ext cx="2560320" cy="3246120"/>
          </a:xfrm>
          <a:prstGeom prst="roundRect">
            <a:avLst>
              <a:gd name="adj" fmla="val 3214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Caregiver respite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01384" y="312724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“Offer on-demand respite to caregivers of the relatively healthy elderly.”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01384" y="4572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field data + NCSS IDIs both pointed away from companionship-as-product.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250424" y="1975104"/>
            <a:ext cx="310896" cy="310896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4856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Jul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34856" y="2487168"/>
            <a:ext cx="2560320" cy="3246120"/>
          </a:xfrm>
          <a:prstGeom prst="roundRect">
            <a:avLst>
              <a:gd name="adj" fmla="val 3214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17736" y="2670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Crisis activation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17736" y="312724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“Activate trusted respite when a crisis hits — on Vanguard's Pasir Ris ICCP pilot.”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17736" y="4572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named the six crisis triggers. The wedge sharpened.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iteration is preserved verbatim in our public wiki — including the one where a partner's framing beat ours.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 · QUALITY OF THINKING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plans work — until the day they break.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663440" cy="4480560"/>
          </a:xfrm>
          <a:prstGeom prst="roundRect">
            <a:avLst>
              <a:gd name="adj" fmla="val 1837"/>
            </a:avLst>
          </a:prstGeom>
          <a:solidFill>
            <a:srgbClr val="0C3D33"/>
          </a:solidFill>
          <a:ln w="12700">
            <a:solidFill>
              <a:srgbClr val="0C3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0A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TUESDAY, 7:43 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Priya's helper has left. No notice.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father, 78, walks with a stick and takes diabetes medication at 2pm.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has a 9am meeting and a son to fetch at 5.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options today: agencies quoting 2–3 weeks, a nursing home that can't take short stays, or annual leave — again.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5440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is the buyer, the user, and the one who breaks.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77840" y="1783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crisis triggers — named by Vanguard, in the room: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77840" y="2240280"/>
            <a:ext cx="2880360" cy="1207008"/>
          </a:xfrm>
          <a:prstGeom prst="roundRect">
            <a:avLst>
              <a:gd name="adj" fmla="val 6818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459736"/>
            <a:ext cx="182880" cy="182880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2386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leaves suddenly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89904" y="2862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 of bridging care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41080" y="2240280"/>
            <a:ext cx="2880360" cy="1207008"/>
          </a:xfrm>
          <a:prstGeom prst="roundRect">
            <a:avLst>
              <a:gd name="adj" fmla="val 6818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459736"/>
            <a:ext cx="182880" cy="182880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3144" y="2386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 hospitalised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53144" y="2862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senior is stranded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611880"/>
            <a:ext cx="2880360" cy="1207008"/>
          </a:xfrm>
          <a:prstGeom prst="roundRect">
            <a:avLst>
              <a:gd name="adj" fmla="val 6818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831336"/>
            <a:ext cx="182880" cy="182880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37581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Discharge, no plan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89904" y="42336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can't hold; family scrambles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41080" y="3611880"/>
            <a:ext cx="2880360" cy="1207008"/>
          </a:xfrm>
          <a:prstGeom prst="roundRect">
            <a:avLst>
              <a:gd name="adj" fmla="val 6818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3831336"/>
            <a:ext cx="182880" cy="182880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3144" y="37581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decline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53144" y="42336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fall, surgery — weeks of extra help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4983480"/>
            <a:ext cx="2880360" cy="1207008"/>
          </a:xfrm>
          <a:prstGeom prst="roundRect">
            <a:avLst>
              <a:gd name="adj" fmla="val 6818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5202936"/>
            <a:ext cx="182880" cy="182880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51297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a spouse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89904" y="56052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grief + a care gap at once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41080" y="4983480"/>
            <a:ext cx="2880360" cy="1207008"/>
          </a:xfrm>
          <a:prstGeom prst="roundRect">
            <a:avLst>
              <a:gd name="adj" fmla="val 6818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23960" y="5202936"/>
            <a:ext cx="182880" cy="182880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3144" y="51297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Caregiver's own crisis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53144" y="56052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carer needs cover too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Vanguard, 8 Jul 2026: “caregivers don't think about elder-care planning when nothing happened. When something happens... they don't know what to do.”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QUALITY OF THINKING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demand is real — and mostly hiding.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476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40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aged 60+ in Singapore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729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non-robust (~300K)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476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A5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0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respite bookings / month nationwide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31729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Vanguard's whiteboard extrapolation from Pasir Ris attach rates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9476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wks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366760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at incumbent providers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31729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NCSS calling Homage &amp; Jagami themselves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879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&gt;50%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77240" y="4919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likely beneficiaries don't know services exist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413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latent, not observable — sizing from current uptake is a floor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402336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1879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 in 20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72000" y="4919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Vanguard already turns away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5413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supply-constrained — observed demand understates the ceiling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402336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6E3DC"/>
          </a:solidFill>
          <a:ln w="12700">
            <a:solidFill>
              <a:srgbClr val="F6E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1879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&lt;24 hrs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366760" y="4919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crisis actually allows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66760" y="5413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current option fits inside 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Vanguard operational data (8 Jul 2026, whiteboard + transcript), NCSS IDIs (late 2025). Partner-sourced figures — AIC triangulation is our next meeting, already requested.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FIELDWORK · QUALITY OF THINKING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field said — before we believed it.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“Cannot be AI.”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a senior-tech company — who sells AI companionship for a living. Engagement decays once seniors detect the pattern.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4919472"/>
            <a:ext cx="31089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Kakis routes tech toward human connection, never in place of it. The AI works the back office.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0116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“Consistency is the most important thing in whatever solutions.”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72000" y="3703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of a grandmother with dementia. NCSS's IDIs agree: seniors repel new faces; adjusting takes months.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4919472"/>
            <a:ext cx="31089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matching is sticky by design — same kaki, same senior, and a shadow visit before any first solo appointment.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0116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“Loneliness is when I wake up without any activities planned for the day.”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366760" y="3703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who had joined everything — and still hit empty days.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66760" y="4919472"/>
            <a:ext cx="31089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respite visits are structured around the senior's day: market runs, meals, mahjong — not generic ‘care hours’.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6 team field interviews (May), NCSS IDIs ~20–30 respondents (late 2025), 14 Grab Marsiling AAC interviews. Small samples — treated as mechanisms, not rates.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 · QUALITY OF THINKING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constraints shape everything we build.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21408"/>
            <a:ext cx="566928" cy="566928"/>
          </a:xfrm>
          <a:prstGeom prst="ellipse">
            <a:avLst/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121408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865376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is a hard constraint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0" y="1883664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actively repel unfamiliar helpers; adjustment takes months, not days. Rotation-friendly marketplaces fail at the first visit.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188366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answer: sticky senior–kaki matches, and every first visit paired with Vanguard care staff — their proven pattern, made scalable.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657600"/>
            <a:ext cx="566928" cy="566928"/>
          </a:xfrm>
          <a:prstGeom prst="ellipse">
            <a:avLst/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6576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40156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is not code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29200" y="3419856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Luce already has AIC-accredited caregivers and same-day booking. A matching algorithm is not defensible — NCSS, Grab and Gojek all concluded the same.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0" y="3419856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answer: differentiate on what no commercial player has — ICCP integration, the multi-payer stack, and crisis activation as the product.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5193792"/>
            <a:ext cx="566928" cy="566928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5193792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493776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Willingness-to-pay is broken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9200" y="4956048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Vanguard's session costs ~$26 to deliver; it charges $25–35 and many families still can't pay. Private pay alone cannot fund consistency.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4956048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answer: a multi-payer stack — private pay + healthcare fund + philanthropic capital + corporate partners — on one supply layer.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A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CONCEPT · MVP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Kakis is not another marketplace.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activation layer on infrastructure that already exists — Vanguard's Pasir Ris ICCP pilot, its trained micro-jobber pool, and its training pipeline at St. Luke's.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14594A"/>
          </a:solidFill>
          <a:ln w="12700">
            <a:solidFill>
              <a:srgbClr val="2E72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834640"/>
            <a:ext cx="237744" cy="237744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2186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layer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404164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crisis triggers jump the queue. Matched in hours, not 2–3 weeks. Closer to insurance than to Uber: trusted before it's ever used.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5146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14594A"/>
          </a:solidFill>
          <a:ln w="12700">
            <a:solidFill>
              <a:srgbClr val="2E7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834640"/>
            <a:ext cx="237744" cy="237744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32186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Care-planning wrapper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9432" y="404164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senior has a living care plan — meds, mobility, language, routines — so any kaki arrives briefed, and families stop re-explaining.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5146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14594A"/>
          </a:solidFill>
          <a:ln w="12700">
            <a:solidFill>
              <a:srgbClr val="2E72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4192" y="2834640"/>
            <a:ext cx="237744" cy="237744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32186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Certified-supply orchestrator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94192" y="404164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Vanguard-run training, St. Luke's certification, tiered skills. Task-typed matching: chaperone ≠ medicine administration.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Anchored: Angeline (Vanguard) volunteered a Pasir Ris pilot by year-end 2026, layered on the existing ICCP platform.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 · MVP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three sides — agents in the middle.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01768" y="2788920"/>
            <a:ext cx="2194560" cy="2194560"/>
          </a:xfrm>
          <a:prstGeom prst="ellipse">
            <a:avLst/>
          </a:prstGeom>
          <a:solidFill>
            <a:srgbClr val="0C3D33"/>
          </a:solidFill>
          <a:ln w="25400">
            <a:solidFill>
              <a:srgbClr val="F0A6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01768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0A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OPS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01768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· match · review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93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Caregiver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help when a crisis hits — task, time, language. Sees a face her father knows, and a price the family can absorb.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993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Respite giver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200" y="2377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retirees &amp; certified gig workers. Trains free with Vanguard, earns tiered certifications, serves the same seniors again and again.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521208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(human)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57150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5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coordinator. Reviews exceptions and approves agent recommendations — doesn't push rosters.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0" y="3108960"/>
            <a:ext cx="1097280" cy="457200"/>
          </a:xfrm>
          <a:prstGeom prst="line">
            <a:avLst/>
          </a:prstGeom>
          <a:noFill/>
          <a:ln w="31750">
            <a:solidFill>
              <a:srgbClr val="1459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78040" y="3566160"/>
            <a:ext cx="1097280" cy="-457200"/>
          </a:xfrm>
          <a:prstGeom prst="line">
            <a:avLst/>
          </a:prstGeom>
          <a:noFill/>
          <a:ln w="31750">
            <a:solidFill>
              <a:srgbClr val="1459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99048" y="4983480"/>
            <a:ext cx="0" cy="228600"/>
          </a:xfrm>
          <a:prstGeom prst="line">
            <a:avLst/>
          </a:prstGeom>
          <a:noFill/>
          <a:ln w="31750">
            <a:solidFill>
              <a:srgbClr val="F0A63C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429000" y="2761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+ care plan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03720" y="3794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 visit + brief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never installs anything. Trust reaches them as a person they recognise — and a pass with a name on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977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pools: Vanguard micro-jobbers (19–20/centre) + AIC-certified gig workers + AV-displaced Grab drivers (exploratory).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JOURNEY 1 OF 3 · MVP · THE CAREGIVER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Priya: from crisis to a known face, in hours.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017520" cy="37033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6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2798064" cy="384048"/>
          </a:xfrm>
          <a:prstGeom prst="roundRect">
            <a:avLst>
              <a:gd name="adj" fmla="val 14286"/>
            </a:avLst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What happened?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8096" y="2404872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323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left suddenly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6517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care, 1–2 weeks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68096" y="2971800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999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 hospitalised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32186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senior is stranded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68096" y="3538728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66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Discharge, no plan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" y="37856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nobody's ready at home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68096" y="4105656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decline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" y="43525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extra help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68096" y="4672584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700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a spouse · My own crisis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" y="4919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presence · trusted backup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590288" y="1783080"/>
            <a:ext cx="3017520" cy="37033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6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1892808"/>
            <a:ext cx="2798064" cy="384048"/>
          </a:xfrm>
          <a:prstGeom prst="roundRect">
            <a:avLst>
              <a:gd name="adj" fmla="val 14286"/>
            </a:avLst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Halimah can come — 2pm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18304" y="2404872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DFEDE5"/>
          </a:solidFill>
          <a:ln w="12700">
            <a:solidFill>
              <a:srgbClr val="DFE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4323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Halimah · Tier 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6517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chaperone-ready · speaks Tamil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718304" y="2971800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DFEDE5"/>
          </a:solidFill>
          <a:ln w="12700">
            <a:solidFill>
              <a:srgbClr val="DFED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knows her — 6 visits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2186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re-introduction needed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718304" y="3538728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566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KAKI-PR04-0117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7856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verified by Vanguard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718304" y="4105656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senior? First visit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43525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paired with Vanguard staff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4718304" y="4672584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700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pass to Papa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919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travels as an artifact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8540496" y="1783080"/>
            <a:ext cx="3017520" cy="37033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6C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50224" y="1892808"/>
            <a:ext cx="2798064" cy="384048"/>
          </a:xfrm>
          <a:prstGeom prst="roundRect">
            <a:avLst>
              <a:gd name="adj" fmla="val 14286"/>
            </a:avLst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pay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668512" y="2404872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96528" y="24323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rate · 3 hrs × $28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96528" y="26517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$84.00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8668512" y="2971800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DFEDE5"/>
          </a:solidFill>
          <a:ln w="12700">
            <a:solidFill>
              <a:srgbClr val="DFED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96528" y="2999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care subsidy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796528" y="32186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$45.00 · Vanguard healthcare fund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8668512" y="3538728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DFEDE5"/>
          </a:solidFill>
          <a:ln w="12700">
            <a:solidFill>
              <a:srgbClr val="DFED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96528" y="3566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top-up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96528" y="37856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$12.00 · means-tested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668512" y="4105656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96528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pay: $27.00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796528" y="43525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multi-payer stack, in the open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8668512" y="4672584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96528" y="4700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visit report + care note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796528" y="4919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 ticked · no public ratings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640080" y="5623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triggers, one tap. The crisis jumps the queue.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590288" y="5623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Regulars first. The pass makes trust visible.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540496" y="5623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payers, one receipt. Nothing hidden.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knowledge/prototype/kakis-prototype.html — full flow, all three personas, every screen annotated with the evidence behind it.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JOURNEY 2 OF 3 · MVP · THE RESPITE GIVER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Mdm Tan: trained by Vanguard, certified at St. Luke's.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017520" cy="37033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6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2798064" cy="384048"/>
          </a:xfrm>
          <a:prstGeom prst="roundRect">
            <a:avLst>
              <a:gd name="adj" fmla="val 14286"/>
            </a:avLst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help with?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8096" y="2404872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DFEDE5"/>
          </a:solidFill>
          <a:ln w="12700">
            <a:solidFill>
              <a:srgbClr val="DFED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4323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Chaperone ✓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6517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polyclinic, market, meals out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68096" y="2971800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DFEDE5"/>
          </a:solidFill>
          <a:ln w="12700">
            <a:solidFill>
              <a:srgbClr val="DFED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999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Companionship 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32186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games, walks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68096" y="3538728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66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checks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" y="37856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meals, meds, safety drop-ins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68096" y="4105656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F6E3DC"/>
          </a:solidFill>
          <a:ln w="12700">
            <a:solidFill>
              <a:srgbClr val="F6E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admin — locked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" y="43525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until Tier 2 module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68096" y="4672584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F6E3DC"/>
          </a:solidFill>
          <a:ln w="12700">
            <a:solidFill>
              <a:srgbClr val="F6E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700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care — locked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" y="4919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until Tier 2 module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590288" y="1783080"/>
            <a:ext cx="3017520" cy="37033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6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1892808"/>
            <a:ext cx="2798064" cy="384048"/>
          </a:xfrm>
          <a:prstGeom prst="roundRect">
            <a:avLst>
              <a:gd name="adj" fmla="val 14286"/>
            </a:avLst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path · Tier 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18304" y="2404872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DFEDE5"/>
          </a:solidFill>
          <a:ln w="12700">
            <a:solidFill>
              <a:srgbClr val="DFE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4323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 + AED — passed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6517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cert · St. Luke's Hospital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718304" y="2971800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DFEDE5"/>
          </a:solidFill>
          <a:ln w="12700">
            <a:solidFill>
              <a:srgbClr val="DFED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assistance — passed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2186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· Vanguard in-house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718304" y="3538728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DFEDE5"/>
          </a:solidFill>
          <a:ln w="12700">
            <a:solidFill>
              <a:srgbClr val="DFED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566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seniors — passed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7856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dialects, introductions, SOPs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718304" y="4105656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visit — Thu 16 Jul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43525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visit, with Vanguard staff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4718304" y="4672584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700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free of charge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919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via NCSS / Vanguard pipeline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8540496" y="1783080"/>
            <a:ext cx="3017520" cy="37033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6C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50224" y="1892808"/>
            <a:ext cx="2798064" cy="384048"/>
          </a:xfrm>
          <a:prstGeom prst="roundRect">
            <a:avLst>
              <a:gd name="adj" fmla="val 14286"/>
            </a:avLst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near you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668512" y="2404872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96528" y="24323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Crisis · today 2–5pm · $36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96528" y="26517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Nathan — you've visited him 6×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8668512" y="2971800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96528" y="2999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Polyclinic escort · Tue · $24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796528" y="32186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visit — paired with staff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8668512" y="3538728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96528" y="3566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Mahjong kaki · Wed · $22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96528" y="37856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Silva, 76 · English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668512" y="4105656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DFEDE5"/>
          </a:solidFill>
          <a:ln w="12700">
            <a:solidFill>
              <a:srgbClr val="DFED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96528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visits that match your certs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796528" y="43525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languages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8668512" y="4672584"/>
            <a:ext cx="2761488" cy="493776"/>
          </a:xfrm>
          <a:prstGeom prst="roundRect">
            <a:avLst>
              <a:gd name="adj" fmla="val 925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96528" y="4700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impact: 4 seniors · 27 hrs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796528" y="4919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streak: 6 repeat visits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640080" y="5623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gate tasks. Locked tiers are visible — the path up is the point.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590288" y="5623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Vanguard's real modules. The shadow visit is the pre-relationship layer.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540496" y="5623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Regulars ranked first. Contribution framed above income.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profile per Vanguard: well/robust seniors in their early 60s — motivated by structure and contribution. Pay honest at $10–12/hr + transport; training free.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JOURNEY 3 OF 3 · MVP · THE ADMIN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bookings. 3 decisions. One coordinator.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568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agent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Singpass, the St. Luke's cert registry and Vanguard's LMS. Shows its evidence trail.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4564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week: 12 verified · 2 flagged (one reused reference document caught)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9568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agent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48716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Optimises consistency first (45%), then language, proximity, speed. Proposes weight changes with simulated impact.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34564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week: 34 auto-matched, regulars preserved · 1 exception — no Tamil speaker free Tue am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0" y="19568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agent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248716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visit report and private care note. Surfaces patterns families miss.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66760" y="34564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week: 18 reports read · 1 flag — a senior's fatigue across 3 visits → nurse check-in scheduled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0C3D33"/>
          </a:solidFill>
          <a:ln w="12700">
            <a:solidFill>
              <a:srgbClr val="0C3D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64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rules no agent can override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visit to a new senior → paired with Vanguard staff  ·  No public ratings or rankings of care staff (MOH/AIC policy)  ·  Certification tier must cover the task — no exceptions  ·  Crisis triggers jump the queue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 · QUALITY OF THINKING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pay can't fund consistency. Stack the payers.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846320" cy="4297680"/>
          </a:xfrm>
          <a:prstGeom prst="roundRect">
            <a:avLst>
              <a:gd name="adj" fmla="val 1915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VISIT · 3 HRS · CHAPERONE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rate (3 × $28)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$84.00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4297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14400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Healthcare-fund subsidy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0815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$45.00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538728"/>
            <a:ext cx="4297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14400" y="37398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Philanthropic top-up (means-tested)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37398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$12.00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197096"/>
            <a:ext cx="4297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Caregiver pays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66160" y="4434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45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$27.00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5120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payer: corporate partners — hotels donate low-season rooms for respite stays; employers add eldercare benefits.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reality (Vanguard, today):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233172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4597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$10–12/hr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092440" y="24963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 micro-jobbers (gig market: $20–22)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3300984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~$26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092440" y="34655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fully-loaded cost per session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4270248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6E3DC"/>
          </a:solidFill>
          <a:ln w="12700">
            <a:solidFill>
              <a:srgbClr val="F6E3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3982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$25–35/hr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092440" y="4434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— and many families still can't pay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53492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Kakis' pitch to the sector: today each payer is siloed by operator. The platform lets all four fund the same certified supply layer — that's the business case NCSS asked us to build.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SIZING · QUALITY OF THINKING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market, honestly: a floor, a signal, a ceiling.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154680"/>
          </a:xfrm>
          <a:prstGeom prst="roundRect">
            <a:avLst>
              <a:gd name="adj" fmla="val 260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E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 — observed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5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chaperone bookings/month across Vanguard's 4 centres — while turning away 3–4 in 20 requests, with zero marketing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3154680"/>
          </a:xfrm>
          <a:prstGeom prst="roundRect">
            <a:avLst>
              <a:gd name="adj" fmla="val 2609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E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— extrapolated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5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15–30K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0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bookings/month nationwide if Pasir Ris attach rates (5–10%) hold across 1M seniors — Vanguard's own whiteboard math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66160" cy="3154680"/>
          </a:xfrm>
          <a:prstGeom prst="roundRect">
            <a:avLst>
              <a:gd name="adj" fmla="val 2609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E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CEILING — modelled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66760" y="22860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5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$425M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66760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Grab's SAM for senior-adjacent services — a boundary on the space, not a forecast for respite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0C3D33"/>
          </a:solidFill>
          <a:ln w="12700">
            <a:solidFill>
              <a:srgbClr val="0C3D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floor understates: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of likely beneficiaries don't know services exist (NCSS), supply constraints suppress observed demand, and crisis demand never shows up in scheduled-service data. The pilot exists to replace this slide with measured numbers.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 DESIGN · MVP + STRATEGY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Pasir Ris, by year-end. Scoped, not hoped.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01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Vanguard brings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Pasir Ris ICCP sub-region (~15,000 seniors)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76–80 trained micro-jobbers across 4 centres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+ St. Luke's certification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First-session care staff &amp; phone-triage fallback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01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Kakis platform: activation, matching, agent ops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design, KPI framework, measurement plan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multi-payer business case (NCSS's ask)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Care-planning wrapper — the sector's named gap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901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23774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fill time: target &lt; 24 hrs (vs 3-day notice today)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First-visit success rate &amp; senior acceptance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% repeat senior–kaki pairs ≥ 90%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cost per booking as volume scales past 30/mo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5742432"/>
            <a:ext cx="10332720" cy="0"/>
          </a:xfrm>
          <a:prstGeom prst="line">
            <a:avLst/>
          </a:prstGeom>
          <a:noFill/>
          <a:ln w="38100">
            <a:solidFill>
              <a:srgbClr val="DFED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56232" y="5614416"/>
            <a:ext cx="256032" cy="256032"/>
          </a:xfrm>
          <a:prstGeom prst="ellipse">
            <a:avLst/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943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Jul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6199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SGLN masterclass — concept walk-through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5614416"/>
            <a:ext cx="256032" cy="256032"/>
          </a:xfrm>
          <a:prstGeom prst="ellipse">
            <a:avLst/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5943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Aug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02152" y="6199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milestone — this build, pressure-tested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88936" y="5614416"/>
            <a:ext cx="256032" cy="256032"/>
          </a:xfrm>
          <a:prstGeom prst="ellipse">
            <a:avLst/>
          </a:prstGeom>
          <a:solidFill>
            <a:srgbClr val="14594A"/>
          </a:solidFill>
          <a:ln w="12700">
            <a:solidFill>
              <a:srgbClr val="1459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5943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18504" y="6199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— pilot design + business case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305288" y="5614416"/>
            <a:ext cx="256032" cy="256032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4856" y="5943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34856" y="6199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Pasir Ris pilot live on ICCP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145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 · WE ARGUE AGAINST OURSELVES IN WRITING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kill this — and what we're doing about it.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6E3DC"/>
          </a:solidFill>
          <a:ln w="12700">
            <a:solidFill>
              <a:srgbClr val="F6E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653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owns it in October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NCSS won't own it. Grab and Gojek declined. A demo without an owner is just a demo.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94436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Vanguard's volunteered Pasir Ris pilot makes year one their operational scope. Counterparty (HCLI Tech vs our own NGO) is our top open item — asked, not avoided.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653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latent, maybe imaginary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46520" y="226771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data doesn't show it; if it did, MOH would already fund it (Angeline's own words).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294436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point of the pilot: generate the demand data the ministry says it lacks. KPIs are designed as evidence for a funding case, not vanity metrics.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056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space has a graveyard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450799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NCSS's deck is “exactly the same as one year ago.” Something keeps stalling everyone.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518464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ownership + a business case that doesn't close on private pay. Those are precisely the two things we're building first — not the app.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EDF4EF"/>
          </a:solidFill>
          <a:ln w="12700">
            <a:solidFill>
              <a:srgbClr val="EDF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1056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consistency constraint fights on-demand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46520" y="450799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repel strangers; a marketplace wants rotation. The tension is real.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518464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moments temporarily raise tolerance for new faces; sticky matching takes over from visit two. Vanguard's staff-first pattern bridges the first meeting. Untested at scale — we say so.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devil's-advocate file has grown from 5 critiques to 14 since May. It's public, and it has changed the product three times.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A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started with companionship.</a:t>
            </a:r>
            <a:endParaRPr lang="en-US" sz="3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walked us here.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4594A"/>
          </a:solidFill>
          <a:ln w="12700">
            <a:solidFill>
              <a:srgbClr val="2E72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816352"/>
            <a:ext cx="457200" cy="457200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8163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8529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 demand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6118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meeting that turns our extrapolation into evidence: MET waitlists, referral funnels, sub-region profiles.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6060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4594A"/>
          </a:solidFill>
          <a:ln w="12700">
            <a:solidFill>
              <a:srgbClr val="2E7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816352"/>
            <a:ext cx="457200" cy="457200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28163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28529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counterparty for the MOU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36118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HCLI Tech as pilot counterparty — or a ruling that lets us stand up an NGO in time for a Q4 start.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4594A"/>
          </a:solidFill>
          <a:ln w="12700">
            <a:solidFill>
              <a:srgbClr val="2E72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2816352"/>
            <a:ext cx="457200" cy="457200"/>
          </a:xfrm>
          <a:prstGeom prst="ellipse">
            <a:avLst/>
          </a:prstGeom>
          <a:solidFill>
            <a:srgbClr val="F0A63C"/>
          </a:solidFill>
          <a:ln w="12700">
            <a:solidFill>
              <a:srgbClr val="F0A6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28163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06840" y="28529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Pasir Ris pilot scope by August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94192" y="36118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definitions, budget envelope and KPIs agreed with Vanguard while the offer is warm.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9D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long game: every visit generates structured care data. Vanguard-certified humans today; the training substrate for assistive robotics in 3–5 years. The marketplace is the wedge — the data layer is the compounding asset.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Kakis</a:t>
            </a:r>
            <a:pPr indent="0" marL="0">
              <a:buNone/>
            </a:pPr>
            <a:r>
              <a:rPr lang="en-US" sz="200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  <a:pPr indent="0" marL="0">
              <a:buNone/>
            </a:pPr>
            <a:r>
              <a:rPr lang="en-US" sz="1150" b="1" dirty="0">
                <a:solidFill>
                  <a:srgbClr val="9DBF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the journey, in public: github.com/quixoticblink/eldercare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2026-07-11T13:19:42Z</dcterms:created>
  <dcterms:modified xsi:type="dcterms:W3CDTF">2026-07-11T13:19:42Z</dcterms:modified>
</cp:coreProperties>
</file>