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name: kakis — Singlish for the trusted companions you can call on. One sentence: we help family caregivers activate trusted respite when a need arises — urgent within hours, planned in advance — starting from Vanguard's Pasir Ris pilot. The pass on the right is the product in one image: a known face, verified by Vanguard, that a senior recognises.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rubric asks for evidence of learning and adaptation. This is it: four dated iterations, each triggered by evidence, none overwritten. Two honest beats: on June 15 we admitted NCSS's question was sharper than ours; on July 11 we corrected our own three-day-old framing when we saw crisis-only was too tight.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wedge is not routine chaperone — Vanguard runs that today at only 20–30 bookings a month. The pain peaks in these six urgent moments, when willingness to accept help (and to pay) spikes — but per the July 11 HMW the product also serves the planned everyday (appointments, vacations, weekly gap-fill), which is where the volume lives. Quote Vanguard here: caregivers don't plan until something happens.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honest about the epistemics: the 15–30K is an extrapolation Vanguard's Jason wrote on a whiteboard in front of us, and we've flagged its assumptions. But three independent signals — turned-away requests, incumbent lead times, and the awareness gap — all point the same direction: latent demand that current uptake cannot measure.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quotes, three design commitments. The middle one is load-bearing: the consistency constraint rules out Uber-style rotation entirely, and it came from our fieldwork AND NCSS's independent research AND Vanguard's operating pattern — triangulated three ways.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aren't features, they're constraints — facts about the problem that rule out solution classes before we build them. Everything in the prototype traces to one of these three.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Vanguard themselves pushed back on 'Grab for eldercare' — home care doesn't reveal demand through pricing. What survives that critique is this: an activation layer plus care planning plus certified supply, on their platform, in their sandbox sub-region. The pilot offer was volunteered, not extracted.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architecture in one picture. Caregivers activate; certified kakis serve; agents do verification, matching and quality review in the middle; one human coordinator approves. The senior deliberately sits outside the app — trust reaches them through a person, not a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demo here if time allows. Three beats: the six-trigger picker serves the urgent path (Book-ahead runs the same flow for planned needs), the match is a known face with the consistency logic stated, and the price shows the multi-payer stack openly — $84 becomes $27. Feedback is a private care note, never a public star: MOH constraint, designed in from day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supply side is Vanguard's actual playbook, productised: their real training tracks (CPR externally certified at St. Luke's, mobility half-day, dementia tiered), their micro-jobber demographic, their first-session-with-staff pattern — turned into an onboarding funnel with a certification wallet.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this matters commercially: Vanguard's manual pattern — phone triage plus WhatsApp rosters — caps out around 20–30 bookings a month. Agents do the routine 90% with evidence trails; the human approves. That's how ops cost per booking falls as volume rises, which is what makes the multi-payer economics close.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uncomfortable truth from Vanguard's own numbers: the service costs ~$26 a session to deliver and the people who need it most can't pay that. Vanguard already bridges with an internal healthcare fund and philanthropy — proof the stack works. Kakis systematises it across payers instead of inside one operator.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refuse to present one big number. The floor is measured, the signal is a partner's extrapolation with named assumptions, the ceiling is a boundary. Shobhit's discipline from day one: partner sizing is orientation, not evidence. AIC's national data — MET waitlists, referral funnels — is the triangulation meeting we've already requested.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pilot is a Vanguard operational scope — we don't need to solve full platform ownership to run it. Our deliverables by September: pilot design, KPI framework, the multi-payer business case. The KPIs are chosen to answer the three open questions: do both demand curves (urgent and planned) convert, does consistency hold at scale, do agent ops actually bend the cost curve.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Judges reward intellectual honesty; so does reality. These four are the strongest live critiques from our own devil's-advocate file — including one (two demand curves) we raised against ourselves the same day we broadened the HMW. The pattern in our answers: we're building the business case and ownership answer first, because that's what stalled everyone else.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arc: five personal family stories, six field interviews, two reframes, one anchor partner — and a concrete pilot with a date on it. The three asks are deliberately small and unblockable. End with the wiki URL: the whole journey is public, which is itself the leadership-journey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3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6949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Kakis</a:t>
            </a:r>
            <a:pPr indent="0" marL="0">
              <a:buNone/>
            </a:pPr>
            <a:r>
              <a:rPr lang="en-US" sz="8000" b="1" dirty="0">
                <a:solidFill>
                  <a:srgbClr val="F0A6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en-US" sz="8000" dirty="0"/>
          </a:p>
        </p:txBody>
      </p:sp>
      <p:sp>
        <p:nvSpPr>
          <p:cNvPr id="3" name="Text 1"/>
          <p:cNvSpPr/>
          <p:nvPr/>
        </p:nvSpPr>
        <p:spPr>
          <a:xfrm>
            <a:off x="868680" y="3310128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F0A6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Trusted respite when a need arises.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68680" y="3931920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CFE3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respite-activation platform for caregivers of Singapore's relatively healthy elderly — planned or urgent — layered on Vanguard's Pasir Ris ICCP pilot.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868680" y="580644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9DBF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SGLN TECH · Demo Day · September 2026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68680" y="6144768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FE3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Abhishek Kaul · Lara PuReum Yim · Aditi Agarwal · Shobhit Singhal · Quah Zheng Wei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7955280" y="1920240"/>
            <a:ext cx="3383280" cy="2834640"/>
          </a:xfrm>
          <a:prstGeom prst="roundRect">
            <a:avLst>
              <a:gd name="adj" fmla="val 2903"/>
            </a:avLst>
          </a:prstGeom>
          <a:solidFill>
            <a:srgbClr val="14594A"/>
          </a:solidFill>
          <a:ln w="12700">
            <a:solidFill>
              <a:srgbClr val="2E726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0" y="2240280"/>
            <a:ext cx="658368" cy="658368"/>
          </a:xfrm>
          <a:prstGeom prst="ellipse">
            <a:avLst/>
          </a:prstGeom>
          <a:solidFill>
            <a:srgbClr val="F0A63C"/>
          </a:solidFill>
          <a:ln w="12700">
            <a:solidFill>
              <a:srgbClr val="F0A6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92440" y="2240280"/>
            <a:ext cx="932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C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006840" y="22860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Mdm Halimah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006840" y="261518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FE3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Chaperone &amp; companionship · Pasir Ris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8229600" y="320040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Papa knows her — 6 visits together since May. No re-introduction needed.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229600" y="41605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DBF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KAKI-PR04-0117 · CERT VERIFIED BY VANGUARD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0" kern="0" dirty="0">
                <a:solidFill>
                  <a:srgbClr val="1459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LEADERSHIP JOURNEY · EVIDENCE OF CHANGING OUR MINDS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A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 kept moving. We kept the receipts.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914400" y="2121408"/>
            <a:ext cx="10332720" cy="0"/>
          </a:xfrm>
          <a:prstGeom prst="line">
            <a:avLst/>
          </a:prstGeom>
          <a:noFill/>
          <a:ln w="38100">
            <a:solidFill>
              <a:srgbClr val="DFED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801368" y="1975104"/>
            <a:ext cx="310896" cy="310896"/>
          </a:xfrm>
          <a:prstGeom prst="ellipse">
            <a:avLst/>
          </a:prstGeom>
          <a:solidFill>
            <a:srgbClr val="14594A"/>
          </a:solidFill>
          <a:ln w="12700">
            <a:solidFill>
              <a:srgbClr val="1459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57276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E6B6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May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85800" y="2487168"/>
            <a:ext cx="2560320" cy="3246120"/>
          </a:xfrm>
          <a:prstGeom prst="roundRect">
            <a:avLst>
              <a:gd name="adj" fmla="val 3214"/>
            </a:avLst>
          </a:prstGeom>
          <a:solidFill>
            <a:srgbClr val="EDF4EF"/>
          </a:solidFill>
          <a:ln w="12700">
            <a:solidFill>
              <a:srgbClr val="EDF4E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267004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Companionship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868680" y="3127248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i="1" dirty="0">
                <a:solidFill>
                  <a:srgbClr val="1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“Help elderly in Singapore experience genuine daily connection.”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68680" y="457200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family stories, one shared word: connection.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17720" y="1975104"/>
            <a:ext cx="310896" cy="310896"/>
          </a:xfrm>
          <a:prstGeom prst="ellipse">
            <a:avLst/>
          </a:prstGeom>
          <a:solidFill>
            <a:srgbClr val="5E6B65"/>
          </a:solidFill>
          <a:ln w="12700">
            <a:solidFill>
              <a:srgbClr val="5E6B6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02152" y="157276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E6B6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Jun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502152" y="2487168"/>
            <a:ext cx="2560320" cy="3246120"/>
          </a:xfrm>
          <a:prstGeom prst="roundRect">
            <a:avLst>
              <a:gd name="adj" fmla="val 3214"/>
            </a:avLst>
          </a:prstGeom>
          <a:solidFill>
            <a:srgbClr val="EDF4EF"/>
          </a:solidFill>
          <a:ln w="12700">
            <a:solidFill>
              <a:srgbClr val="EDF4E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85032" y="267004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reframe signal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685032" y="3127248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i="1" dirty="0">
                <a:solidFill>
                  <a:srgbClr val="1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NCSS's year-old HMW was sharper than ours. Aditi conceded it on the call.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685032" y="457200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sat with the tension for ten days instead of pivoting on the spot.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434072" y="1975104"/>
            <a:ext cx="310896" cy="310896"/>
          </a:xfrm>
          <a:prstGeom prst="ellipse">
            <a:avLst/>
          </a:prstGeom>
          <a:solidFill>
            <a:srgbClr val="14594A"/>
          </a:solidFill>
          <a:ln w="12700">
            <a:solidFill>
              <a:srgbClr val="1459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18504" y="157276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E6B6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Jun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318504" y="2487168"/>
            <a:ext cx="2560320" cy="3246120"/>
          </a:xfrm>
          <a:prstGeom prst="roundRect">
            <a:avLst>
              <a:gd name="adj" fmla="val 3214"/>
            </a:avLst>
          </a:prstGeom>
          <a:solidFill>
            <a:srgbClr val="EDF4EF"/>
          </a:solidFill>
          <a:ln w="12700">
            <a:solidFill>
              <a:srgbClr val="EDF4E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01384" y="267004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Caregiver respite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6501384" y="3127248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i="1" dirty="0">
                <a:solidFill>
                  <a:srgbClr val="1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“Offer on-demand respite to caregivers of the relatively healthy elderly.”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501384" y="457200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field data + NCSS IDIs both pointed away from companionship-as-product.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0250424" y="1975104"/>
            <a:ext cx="310896" cy="310896"/>
          </a:xfrm>
          <a:prstGeom prst="ellipse">
            <a:avLst/>
          </a:prstGeom>
          <a:solidFill>
            <a:srgbClr val="F0A63C"/>
          </a:solidFill>
          <a:ln w="12700">
            <a:solidFill>
              <a:srgbClr val="F0A63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34856" y="157276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E6B6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8–11 Jul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9134856" y="2487168"/>
            <a:ext cx="2560320" cy="3246120"/>
          </a:xfrm>
          <a:prstGeom prst="roundRect">
            <a:avLst>
              <a:gd name="adj" fmla="val 3214"/>
            </a:avLst>
          </a:prstGeom>
          <a:solidFill>
            <a:srgbClr val="FBEED6"/>
          </a:solidFill>
          <a:ln w="12700">
            <a:solidFill>
              <a:srgbClr val="FBEED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317736" y="267004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Need-arises activation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9317736" y="3127248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i="1" dirty="0">
                <a:solidFill>
                  <a:srgbClr val="1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“Activate trusted respite when a need arises — planned or urgent — on Vanguard's Pasir Ris ICCP pilot.”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317736" y="457200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Vanguard named six crisis triggers on the 8th. On the 11th we caught crisis-only as too tight: planned respite is the same product, longer lead time.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48640" y="641908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iteration is preserved verbatim in our public wiki — including the one where a partner's framing beat ours.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0" kern="0" dirty="0">
                <a:solidFill>
                  <a:srgbClr val="1459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 · QUALITY OF THINKING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A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Care plans work — until the day they break.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4663440" cy="4480560"/>
          </a:xfrm>
          <a:prstGeom prst="roundRect">
            <a:avLst>
              <a:gd name="adj" fmla="val 1837"/>
            </a:avLst>
          </a:prstGeom>
          <a:solidFill>
            <a:srgbClr val="0C3D33"/>
          </a:solidFill>
          <a:ln w="12700">
            <a:solidFill>
              <a:srgbClr val="0C3D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9659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F0A6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TUESDAY, 7:43 AM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68680" y="2331720"/>
            <a:ext cx="4023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Priya's helper has left. No notice.</a:t>
            </a:r>
            <a:endParaRPr lang="en-US" sz="15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 father, 78, walks with a stick and takes diabetes medication at 2pm.</a:t>
            </a:r>
            <a:endParaRPr lang="en-US" sz="15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She has a 9am meeting and a son to fetch at 5.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868680" y="434340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CFE3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options today: agencies quoting 2–3 weeks, a nursing home that can't take short stays, or annual leave — again.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68680" y="544068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F0A6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She is the buyer, the user, and the one who breaks.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577840" y="178308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urgent six — named by Vanguard, in the room: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577840" y="2240280"/>
            <a:ext cx="2880360" cy="1207008"/>
          </a:xfrm>
          <a:prstGeom prst="roundRect">
            <a:avLst>
              <a:gd name="adj" fmla="val 6818"/>
            </a:avLst>
          </a:prstGeom>
          <a:solidFill>
            <a:srgbClr val="EDF4EF"/>
          </a:solidFill>
          <a:ln w="12700">
            <a:solidFill>
              <a:srgbClr val="EDF4E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760720" y="2459736"/>
            <a:ext cx="182880" cy="182880"/>
          </a:xfrm>
          <a:prstGeom prst="ellipse">
            <a:avLst/>
          </a:prstGeom>
          <a:solidFill>
            <a:srgbClr val="F0A63C"/>
          </a:solidFill>
          <a:ln w="12700">
            <a:solidFill>
              <a:srgbClr val="F0A63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89904" y="2386584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Helper leaves suddenly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089904" y="286207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1–2 weeks of bridging care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641080" y="2240280"/>
            <a:ext cx="2880360" cy="1207008"/>
          </a:xfrm>
          <a:prstGeom prst="roundRect">
            <a:avLst>
              <a:gd name="adj" fmla="val 6818"/>
            </a:avLst>
          </a:prstGeom>
          <a:solidFill>
            <a:srgbClr val="EDF4EF"/>
          </a:solidFill>
          <a:ln w="12700">
            <a:solidFill>
              <a:srgbClr val="EDF4E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823960" y="2459736"/>
            <a:ext cx="182880" cy="182880"/>
          </a:xfrm>
          <a:prstGeom prst="ellipse">
            <a:avLst/>
          </a:prstGeom>
          <a:solidFill>
            <a:srgbClr val="F0A63C"/>
          </a:solidFill>
          <a:ln w="12700">
            <a:solidFill>
              <a:srgbClr val="F0A63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53144" y="2386584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Spouse hospitalised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9153144" y="286207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senior is stranded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577840" y="3611880"/>
            <a:ext cx="2880360" cy="1207008"/>
          </a:xfrm>
          <a:prstGeom prst="roundRect">
            <a:avLst>
              <a:gd name="adj" fmla="val 6818"/>
            </a:avLst>
          </a:prstGeom>
          <a:solidFill>
            <a:srgbClr val="EDF4EF"/>
          </a:solidFill>
          <a:ln w="12700">
            <a:solidFill>
              <a:srgbClr val="EDF4E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760720" y="3831336"/>
            <a:ext cx="182880" cy="182880"/>
          </a:xfrm>
          <a:prstGeom prst="ellipse">
            <a:avLst/>
          </a:prstGeom>
          <a:solidFill>
            <a:srgbClr val="F0A63C"/>
          </a:solidFill>
          <a:ln w="12700">
            <a:solidFill>
              <a:srgbClr val="F0A63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89904" y="3758184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Discharge, no plan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089904" y="423367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can't hold; family scrambles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641080" y="3611880"/>
            <a:ext cx="2880360" cy="1207008"/>
          </a:xfrm>
          <a:prstGeom prst="roundRect">
            <a:avLst>
              <a:gd name="adj" fmla="val 6818"/>
            </a:avLst>
          </a:prstGeom>
          <a:solidFill>
            <a:srgbClr val="EDF4EF"/>
          </a:solidFill>
          <a:ln w="12700">
            <a:solidFill>
              <a:srgbClr val="EDF4E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823960" y="3831336"/>
            <a:ext cx="182880" cy="182880"/>
          </a:xfrm>
          <a:prstGeom prst="ellipse">
            <a:avLst/>
          </a:prstGeom>
          <a:solidFill>
            <a:srgbClr val="F0A63C"/>
          </a:solidFill>
          <a:ln w="12700">
            <a:solidFill>
              <a:srgbClr val="F0A63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53144" y="3758184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Sudden decline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9153144" y="423367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fall, surgery — weeks of extra help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577840" y="4983480"/>
            <a:ext cx="2880360" cy="1207008"/>
          </a:xfrm>
          <a:prstGeom prst="roundRect">
            <a:avLst>
              <a:gd name="adj" fmla="val 6818"/>
            </a:avLst>
          </a:prstGeom>
          <a:solidFill>
            <a:srgbClr val="EDF4EF"/>
          </a:solidFill>
          <a:ln w="12700">
            <a:solidFill>
              <a:srgbClr val="EDF4E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760720" y="5202936"/>
            <a:ext cx="182880" cy="182880"/>
          </a:xfrm>
          <a:prstGeom prst="ellipse">
            <a:avLst/>
          </a:prstGeom>
          <a:solidFill>
            <a:srgbClr val="F0A63C"/>
          </a:solidFill>
          <a:ln w="12700">
            <a:solidFill>
              <a:srgbClr val="F0A63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89904" y="5129784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of a spouse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089904" y="560527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grief + a care gap at once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641080" y="4983480"/>
            <a:ext cx="2880360" cy="1207008"/>
          </a:xfrm>
          <a:prstGeom prst="roundRect">
            <a:avLst>
              <a:gd name="adj" fmla="val 6818"/>
            </a:avLst>
          </a:prstGeom>
          <a:solidFill>
            <a:srgbClr val="EDF4EF"/>
          </a:solidFill>
          <a:ln w="12700">
            <a:solidFill>
              <a:srgbClr val="EDF4E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823960" y="5202936"/>
            <a:ext cx="182880" cy="182880"/>
          </a:xfrm>
          <a:prstGeom prst="ellipse">
            <a:avLst/>
          </a:prstGeom>
          <a:solidFill>
            <a:srgbClr val="F0A63C"/>
          </a:solidFill>
          <a:ln w="12700">
            <a:solidFill>
              <a:srgbClr val="F0A63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53144" y="5129784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Caregiver's own crisis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9153144" y="560527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carer needs cover too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48640" y="641908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quieter, higher-volume half is planned: appointment overlaps, vacations, weekly gap-fill — same product, longer lead time (HMW, 11 Jul). Urgent is where pain peaks; planned is where volume lives.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0" kern="0" dirty="0">
                <a:solidFill>
                  <a:srgbClr val="1459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EVIDENCE · QUALITY OF THINKING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A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demand is real — and mostly hiding.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66160" cy="2057400"/>
          </a:xfrm>
          <a:prstGeom prst="roundRect">
            <a:avLst>
              <a:gd name="adj" fmla="val 4000"/>
            </a:avLst>
          </a:prstGeom>
          <a:solidFill>
            <a:srgbClr val="EDF4EF"/>
          </a:solidFill>
          <a:ln w="12700">
            <a:solidFill>
              <a:srgbClr val="EDF4E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94767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1M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77240" y="267919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seniors aged 60+ in Singapore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77240" y="3172968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~30% non-robust (~300K)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343400" y="1783080"/>
            <a:ext cx="3566160" cy="2057400"/>
          </a:xfrm>
          <a:prstGeom prst="roundRect">
            <a:avLst>
              <a:gd name="adj" fmla="val 4000"/>
            </a:avLst>
          </a:prstGeom>
          <a:solidFill>
            <a:srgbClr val="FBEED6"/>
          </a:solidFill>
          <a:ln w="12700">
            <a:solidFill>
              <a:srgbClr val="FBEED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0" y="194767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8A5E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15–30K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4572000" y="267919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est. respite bookings / month nationwide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572000" y="3172968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Vanguard's whiteboard extrapolation from Pasir Ris attach rates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138160" y="1783080"/>
            <a:ext cx="3566160" cy="2057400"/>
          </a:xfrm>
          <a:prstGeom prst="roundRect">
            <a:avLst>
              <a:gd name="adj" fmla="val 4000"/>
            </a:avLst>
          </a:prstGeom>
          <a:solidFill>
            <a:srgbClr val="EDF4EF"/>
          </a:solidFill>
          <a:ln w="12700">
            <a:solidFill>
              <a:srgbClr val="EDF4E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66760" y="194767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2–3 wks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8366760" y="267919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 at incumbent providers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366760" y="3172968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by NCSS calling Homage &amp; Jagami themselves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4023360"/>
            <a:ext cx="3566160" cy="2057400"/>
          </a:xfrm>
          <a:prstGeom prst="roundRect">
            <a:avLst>
              <a:gd name="adj" fmla="val 4000"/>
            </a:avLst>
          </a:prstGeom>
          <a:solidFill>
            <a:srgbClr val="EDF4EF"/>
          </a:solidFill>
          <a:ln w="12700">
            <a:solidFill>
              <a:srgbClr val="EDF4E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418795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&gt;50%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777240" y="491947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likely beneficiaries don't know services exist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77240" y="5413248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is latent, not observable — sizing from current uptake is a floor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343400" y="4023360"/>
            <a:ext cx="3566160" cy="2057400"/>
          </a:xfrm>
          <a:prstGeom prst="roundRect">
            <a:avLst>
              <a:gd name="adj" fmla="val 4000"/>
            </a:avLst>
          </a:prstGeom>
          <a:solidFill>
            <a:srgbClr val="EDF4EF"/>
          </a:solidFill>
          <a:ln w="12700">
            <a:solidFill>
              <a:srgbClr val="EDF4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0" y="418795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3–4 in 20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4572000" y="491947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 Vanguard already turns away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572000" y="5413248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supply-constrained — observed demand understates the ceiling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138160" y="4023360"/>
            <a:ext cx="3566160" cy="2057400"/>
          </a:xfrm>
          <a:prstGeom prst="roundRect">
            <a:avLst>
              <a:gd name="adj" fmla="val 4000"/>
            </a:avLst>
          </a:prstGeom>
          <a:solidFill>
            <a:srgbClr val="F6E3DC"/>
          </a:solidFill>
          <a:ln w="12700">
            <a:solidFill>
              <a:srgbClr val="F6E3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66760" y="418795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8F3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&lt;24 hrs</a:t>
            </a:r>
            <a:endParaRPr lang="en-US" sz="3600" dirty="0"/>
          </a:p>
        </p:txBody>
      </p:sp>
      <p:sp>
        <p:nvSpPr>
          <p:cNvPr id="26" name="Text 24"/>
          <p:cNvSpPr/>
          <p:nvPr/>
        </p:nvSpPr>
        <p:spPr>
          <a:xfrm>
            <a:off x="8366760" y="491947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crisis actually allows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8366760" y="5413248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current option fits inside it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48640" y="641908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Vanguard operational data (8 Jul 2026, whiteboard + transcript), NCSS IDIs (late 2025). Partner-sourced figures — AIC triangulation is our next meeting, already requested.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0" kern="0" dirty="0">
                <a:solidFill>
                  <a:srgbClr val="1459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FIELDWORK · QUALITY OF THINKING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A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field said — before we believed it.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66160" cy="4343400"/>
          </a:xfrm>
          <a:prstGeom prst="roundRect">
            <a:avLst>
              <a:gd name="adj" fmla="val 2308"/>
            </a:avLst>
          </a:prstGeom>
          <a:solidFill>
            <a:srgbClr val="EDF4EF"/>
          </a:solidFill>
          <a:ln w="12700">
            <a:solidFill>
              <a:srgbClr val="EDF4E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2011680"/>
            <a:ext cx="31089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50" i="1" dirty="0">
                <a:solidFill>
                  <a:srgbClr val="1A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“Cannot be AI.”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777240" y="3703320"/>
            <a:ext cx="3108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of a senior-tech company — who sells AI companionship for a living. Engagement decays once seniors detect the pattern.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777240" y="4919472"/>
            <a:ext cx="3108960" cy="0"/>
          </a:xfrm>
          <a:prstGeom prst="line">
            <a:avLst/>
          </a:prstGeom>
          <a:noFill/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502920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4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Kakis routes tech toward human connection, never in place of it. The AI works the back office.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343400" y="1783080"/>
            <a:ext cx="3566160" cy="4343400"/>
          </a:xfrm>
          <a:prstGeom prst="roundRect">
            <a:avLst>
              <a:gd name="adj" fmla="val 2308"/>
            </a:avLst>
          </a:prstGeom>
          <a:solidFill>
            <a:srgbClr val="FBEED6"/>
          </a:solidFill>
          <a:ln w="12700">
            <a:solidFill>
              <a:srgbClr val="FBEED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2011680"/>
            <a:ext cx="31089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50" i="1" dirty="0">
                <a:solidFill>
                  <a:srgbClr val="1A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“Consistency is the most important thing in whatever solutions.”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4572000" y="3703320"/>
            <a:ext cx="3108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Caregiver of a grandmother with dementia. NCSS's IDIs agree: seniors repel new faces; adjusting takes months.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0" y="4919472"/>
            <a:ext cx="3108960" cy="0"/>
          </a:xfrm>
          <a:prstGeom prst="line">
            <a:avLst/>
          </a:prstGeom>
          <a:noFill/>
          <a:ln w="254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0" y="502920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4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matching is sticky by design — same kaki, same senior, and a shadow visit before any first solo appointment.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38160" y="1783080"/>
            <a:ext cx="3566160" cy="4343400"/>
          </a:xfrm>
          <a:prstGeom prst="roundRect">
            <a:avLst>
              <a:gd name="adj" fmla="val 2308"/>
            </a:avLst>
          </a:prstGeom>
          <a:solidFill>
            <a:srgbClr val="EDF4EF"/>
          </a:solidFill>
          <a:ln w="12700">
            <a:solidFill>
              <a:srgbClr val="EDF4E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66760" y="2011680"/>
            <a:ext cx="31089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50" i="1" dirty="0">
                <a:solidFill>
                  <a:srgbClr val="1A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“Loneliness is when I wake up without any activities planned for the day.”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8366760" y="3703320"/>
            <a:ext cx="3108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senior who had joined everything — and still hit empty days.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366760" y="4919472"/>
            <a:ext cx="3108960" cy="0"/>
          </a:xfrm>
          <a:prstGeom prst="line">
            <a:avLst/>
          </a:prstGeom>
          <a:noFill/>
          <a:ln w="254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66760" y="502920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4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respite visits are structured around the senior's day: market runs, meals, mahjong — not generic ‘care hours’.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48640" y="641908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Base: 6 team field interviews (May), NCSS IDIs ~20–30 respondents (late 2025), 14 Grab Marsiling AAC interviews. Small samples — treated as mechanisms, not rates.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0" kern="0" dirty="0">
                <a:solidFill>
                  <a:srgbClr val="1459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STRATEGY · QUALITY OF THINKING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A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constraints shape everything we build.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64240" cy="1371600"/>
          </a:xfrm>
          <a:prstGeom prst="roundRect">
            <a:avLst>
              <a:gd name="adj" fmla="val 6000"/>
            </a:avLst>
          </a:prstGeom>
          <a:solidFill>
            <a:srgbClr val="EDF4EF"/>
          </a:solidFill>
          <a:ln w="12700">
            <a:solidFill>
              <a:srgbClr val="EDF4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2121408"/>
            <a:ext cx="566928" cy="566928"/>
          </a:xfrm>
          <a:prstGeom prst="ellipse">
            <a:avLst/>
          </a:prstGeom>
          <a:solidFill>
            <a:srgbClr val="14594A"/>
          </a:solidFill>
          <a:ln w="12700">
            <a:solidFill>
              <a:srgbClr val="1459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4088" y="2121408"/>
            <a:ext cx="8412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45920" y="1865376"/>
            <a:ext cx="3291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1A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Consistency is a hard constraint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5029200" y="1883664"/>
            <a:ext cx="3246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Seniors actively repel unfamiliar helpers; adjustment takes months, not days. Rotation-friendly marketplaces fail at the first visit.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412480" y="1883664"/>
            <a:ext cx="2971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14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answer: sticky senior–kaki matches, and every first visit paired with Vanguard care staff — their proven pattern, made scalable.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3273552"/>
            <a:ext cx="11064240" cy="1371600"/>
          </a:xfrm>
          <a:prstGeom prst="roundRect">
            <a:avLst>
              <a:gd name="adj" fmla="val 6000"/>
            </a:avLst>
          </a:prstGeom>
          <a:solidFill>
            <a:srgbClr val="EDF4EF"/>
          </a:solidFill>
          <a:ln w="12700">
            <a:solidFill>
              <a:srgbClr val="EDF4E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1248" y="3657600"/>
            <a:ext cx="566928" cy="566928"/>
          </a:xfrm>
          <a:prstGeom prst="ellipse">
            <a:avLst/>
          </a:prstGeom>
          <a:solidFill>
            <a:srgbClr val="14594A"/>
          </a:solidFill>
          <a:ln w="12700">
            <a:solidFill>
              <a:srgbClr val="1459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04088" y="3657600"/>
            <a:ext cx="8412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645920" y="3401568"/>
            <a:ext cx="3291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1A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moat is not code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5029200" y="3419856"/>
            <a:ext cx="3246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Luce already has AIC-accredited caregivers and same-day booking. A matching algorithm is not defensible — NCSS, Grab and Gojek all concluded the same.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412480" y="3419856"/>
            <a:ext cx="2971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14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answer: differentiate on what no commercial player has — ICCP integration, the multi-payer stack, and crisis activation as the product.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4809744"/>
            <a:ext cx="11064240" cy="1371600"/>
          </a:xfrm>
          <a:prstGeom prst="roundRect">
            <a:avLst>
              <a:gd name="adj" fmla="val 6000"/>
            </a:avLst>
          </a:prstGeom>
          <a:solidFill>
            <a:srgbClr val="FBEED6"/>
          </a:solidFill>
          <a:ln w="12700">
            <a:solidFill>
              <a:srgbClr val="FBEE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1248" y="5193792"/>
            <a:ext cx="566928" cy="566928"/>
          </a:xfrm>
          <a:prstGeom prst="ellipse">
            <a:avLst/>
          </a:prstGeom>
          <a:solidFill>
            <a:srgbClr val="F0A63C"/>
          </a:solidFill>
          <a:ln w="12700">
            <a:solidFill>
              <a:srgbClr val="F0A63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04088" y="5193792"/>
            <a:ext cx="8412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C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645920" y="4937760"/>
            <a:ext cx="3291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1A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Willingness-to-pay is broken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5029200" y="4956048"/>
            <a:ext cx="3246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Vanguard's session costs ~$26 to deliver; it charges $25–35 and many families still can't pay. Private pay alone cannot fund consistency.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412480" y="4956048"/>
            <a:ext cx="2971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14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answer: a multi-payer stack — private pay + healthcare fund + philanthropic capital + corporate partners — on one supply layer.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C3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0" kern="0" dirty="0">
                <a:solidFill>
                  <a:srgbClr val="F0A6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CONCEPT · MVP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Kakis is not another marketplace.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153619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FE3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an activation layer on infrastructure that already exists — Vanguard's Pasir Ris ICCP pilot, its trained micro-jobber pool, and its training pipeline at St. Luke's.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514600"/>
            <a:ext cx="3566160" cy="3063240"/>
          </a:xfrm>
          <a:prstGeom prst="roundRect">
            <a:avLst>
              <a:gd name="adj" fmla="val 2687"/>
            </a:avLst>
          </a:prstGeom>
          <a:solidFill>
            <a:srgbClr val="14594A"/>
          </a:solidFill>
          <a:ln w="12700">
            <a:solidFill>
              <a:srgbClr val="2E726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2834640"/>
            <a:ext cx="237744" cy="237744"/>
          </a:xfrm>
          <a:prstGeom prst="ellipse">
            <a:avLst/>
          </a:prstGeom>
          <a:solidFill>
            <a:srgbClr val="F0A63C"/>
          </a:solidFill>
          <a:ln w="12700">
            <a:solidFill>
              <a:srgbClr val="F0A63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3218688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0A6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Activation layer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04672" y="4041648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 or urgent, one front door. Six urgent triggers jump the queue — matched in hours, not 2–3 weeks. Planned bookings keep trusted supply busy between crises.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43400" y="2514600"/>
            <a:ext cx="3566160" cy="3063240"/>
          </a:xfrm>
          <a:prstGeom prst="roundRect">
            <a:avLst>
              <a:gd name="adj" fmla="val 2687"/>
            </a:avLst>
          </a:prstGeom>
          <a:solidFill>
            <a:srgbClr val="14594A"/>
          </a:solidFill>
          <a:ln w="12700">
            <a:solidFill>
              <a:srgbClr val="2E726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99432" y="2834640"/>
            <a:ext cx="237744" cy="237744"/>
          </a:xfrm>
          <a:prstGeom prst="ellipse">
            <a:avLst/>
          </a:prstGeom>
          <a:solidFill>
            <a:srgbClr val="F0A63C"/>
          </a:solidFill>
          <a:ln w="12700">
            <a:solidFill>
              <a:srgbClr val="F0A6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99432" y="3218688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0A6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Care-planning wrapper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599432" y="4041648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senior has a living care plan — meds, mobility, language, routines — so any kaki arrives briefed, and families stop re-explaining.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138160" y="2514600"/>
            <a:ext cx="3566160" cy="3063240"/>
          </a:xfrm>
          <a:prstGeom prst="roundRect">
            <a:avLst>
              <a:gd name="adj" fmla="val 2687"/>
            </a:avLst>
          </a:prstGeom>
          <a:solidFill>
            <a:srgbClr val="14594A"/>
          </a:solidFill>
          <a:ln w="12700">
            <a:solidFill>
              <a:srgbClr val="2E726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394192" y="2834640"/>
            <a:ext cx="237744" cy="237744"/>
          </a:xfrm>
          <a:prstGeom prst="ellipse">
            <a:avLst/>
          </a:prstGeom>
          <a:solidFill>
            <a:srgbClr val="F0A63C"/>
          </a:solidFill>
          <a:ln w="12700">
            <a:solidFill>
              <a:srgbClr val="F0A63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94192" y="3218688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0A6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Certified-supply orchestrator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394192" y="4041648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Vanguard-run training, St. Luke's certification, tiered skills. Task-typed matching: chaperone ≠ medicine administration.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0A6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Anchored: Angeline (Vanguard) volunteered a Pasir Ris pilot by year-end 2026, layered on the existing ICCP platform.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0" kern="0" dirty="0">
                <a:solidFill>
                  <a:srgbClr val="1459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IT WORKS · MVP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A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loop, three sides — agents in the middle.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001768" y="2788920"/>
            <a:ext cx="2194560" cy="2194560"/>
          </a:xfrm>
          <a:prstGeom prst="ellipse">
            <a:avLst/>
          </a:prstGeom>
          <a:solidFill>
            <a:srgbClr val="0C3D33"/>
          </a:solidFill>
          <a:ln w="25400">
            <a:solidFill>
              <a:srgbClr val="F0A63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01768" y="33832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F0A6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 OPS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01768" y="37033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· match · review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3291840" cy="1828800"/>
          </a:xfrm>
          <a:prstGeom prst="roundRect">
            <a:avLst>
              <a:gd name="adj" fmla="val 4500"/>
            </a:avLst>
          </a:prstGeom>
          <a:solidFill>
            <a:srgbClr val="EDF4EF"/>
          </a:solidFill>
          <a:ln w="12700">
            <a:solidFill>
              <a:srgbClr val="EDF4E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199339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Caregiver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8680" y="2377440"/>
            <a:ext cx="2880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Activates help when a crisis hits — task, time, language. Sees a face her father knows, and a price the family can absorb.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229600" y="1828800"/>
            <a:ext cx="3291840" cy="1828800"/>
          </a:xfrm>
          <a:prstGeom prst="roundRect">
            <a:avLst>
              <a:gd name="adj" fmla="val 4500"/>
            </a:avLst>
          </a:prstGeom>
          <a:solidFill>
            <a:srgbClr val="EDF4EF"/>
          </a:solidFill>
          <a:ln w="12700">
            <a:solidFill>
              <a:srgbClr val="EDF4E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58200" y="199339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Respite giver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458200" y="2377440"/>
            <a:ext cx="2880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retirees &amp; certified gig workers. Trains free with Vanguard, earns tiered certifications, serves the same seniors again and again.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434840" y="5212080"/>
            <a:ext cx="3291840" cy="1371600"/>
          </a:xfrm>
          <a:prstGeom prst="roundRect">
            <a:avLst>
              <a:gd name="adj" fmla="val 6000"/>
            </a:avLst>
          </a:prstGeom>
          <a:solidFill>
            <a:srgbClr val="FBEED6"/>
          </a:solidFill>
          <a:ln w="12700">
            <a:solidFill>
              <a:srgbClr val="FBEED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63440" y="53492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 (human)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663440" y="571500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8A5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coordinator. Reviews exceptions and approves agent recommendations — doesn't push rosters.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931920" y="3108960"/>
            <a:ext cx="1097280" cy="457200"/>
          </a:xfrm>
          <a:prstGeom prst="line">
            <a:avLst/>
          </a:prstGeom>
          <a:noFill/>
          <a:ln w="31750">
            <a:solidFill>
              <a:srgbClr val="14594A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178040" y="3566160"/>
            <a:ext cx="1097280" cy="-457200"/>
          </a:xfrm>
          <a:prstGeom prst="line">
            <a:avLst/>
          </a:prstGeom>
          <a:noFill/>
          <a:ln w="31750">
            <a:solidFill>
              <a:srgbClr val="14594A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099048" y="4983480"/>
            <a:ext cx="0" cy="228600"/>
          </a:xfrm>
          <a:prstGeom prst="line">
            <a:avLst/>
          </a:prstGeom>
          <a:noFill/>
          <a:ln w="31750">
            <a:solidFill>
              <a:srgbClr val="F0A63C"/>
            </a:solidFill>
            <a:prstDash val="solid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3429000" y="276148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6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 + care plan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903720" y="379476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6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matched visit + brief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40080" y="397764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14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senior never installs anything. Trust reaches them as a person they recognise — and a pass with a name on it.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229600" y="397764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14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pools: Vanguard micro-jobbers (19–20/centre) + AIC-certified gig workers + AV-displaced Grab drivers (exploratory).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0" kern="0" dirty="0">
                <a:solidFill>
                  <a:srgbClr val="1459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JOURNEY 1 OF 3 · MVP · THE CAREGIVER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A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Priya: from crisis to a known face, in hours.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017520" cy="370332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C9D6C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1892808"/>
            <a:ext cx="2798064" cy="384048"/>
          </a:xfrm>
          <a:prstGeom prst="roundRect">
            <a:avLst>
              <a:gd name="adj" fmla="val 14286"/>
            </a:avLst>
          </a:prstGeom>
          <a:solidFill>
            <a:srgbClr val="F0A63C"/>
          </a:solidFill>
          <a:ln w="12700">
            <a:solidFill>
              <a:srgbClr val="F0A63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77824" y="190195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C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What happened?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768096" y="2404872"/>
            <a:ext cx="2761488" cy="493776"/>
          </a:xfrm>
          <a:prstGeom prst="roundRect">
            <a:avLst>
              <a:gd name="adj" fmla="val 9259"/>
            </a:avLst>
          </a:prstGeom>
          <a:solidFill>
            <a:srgbClr val="FBEED6"/>
          </a:solidFill>
          <a:ln w="12700">
            <a:solidFill>
              <a:srgbClr val="FBEE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243230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Helper left suddenly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896112" y="2651760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bridging care, 1–2 weeks</a:t>
            </a:r>
            <a:endParaRPr lang="en-US" sz="780" dirty="0"/>
          </a:p>
        </p:txBody>
      </p:sp>
      <p:sp>
        <p:nvSpPr>
          <p:cNvPr id="10" name="Shape 8"/>
          <p:cNvSpPr/>
          <p:nvPr/>
        </p:nvSpPr>
        <p:spPr>
          <a:xfrm>
            <a:off x="768096" y="2971800"/>
            <a:ext cx="2761488" cy="493776"/>
          </a:xfrm>
          <a:prstGeom prst="roundRect">
            <a:avLst>
              <a:gd name="adj" fmla="val 9259"/>
            </a:avLst>
          </a:prstGeom>
          <a:solidFill>
            <a:srgbClr val="EDF4EF"/>
          </a:solidFill>
          <a:ln w="12700">
            <a:solidFill>
              <a:srgbClr val="EDF4E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299923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Spouse hospitalised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896112" y="3218688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senior is stranded</a:t>
            </a:r>
            <a:endParaRPr lang="en-US" sz="780" dirty="0"/>
          </a:p>
        </p:txBody>
      </p:sp>
      <p:sp>
        <p:nvSpPr>
          <p:cNvPr id="13" name="Shape 11"/>
          <p:cNvSpPr/>
          <p:nvPr/>
        </p:nvSpPr>
        <p:spPr>
          <a:xfrm>
            <a:off x="768096" y="3538728"/>
            <a:ext cx="2761488" cy="493776"/>
          </a:xfrm>
          <a:prstGeom prst="roundRect">
            <a:avLst>
              <a:gd name="adj" fmla="val 9259"/>
            </a:avLst>
          </a:prstGeom>
          <a:solidFill>
            <a:srgbClr val="EDF4EF"/>
          </a:solidFill>
          <a:ln w="12700">
            <a:solidFill>
              <a:srgbClr val="EDF4E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96112" y="356616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Discharge, no plan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96112" y="3785616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nobody's ready at home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768096" y="4105656"/>
            <a:ext cx="2761488" cy="493776"/>
          </a:xfrm>
          <a:prstGeom prst="roundRect">
            <a:avLst>
              <a:gd name="adj" fmla="val 9259"/>
            </a:avLst>
          </a:prstGeom>
          <a:solidFill>
            <a:srgbClr val="EDF4EF"/>
          </a:solidFill>
          <a:ln w="12700">
            <a:solidFill>
              <a:srgbClr val="EDF4E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96112" y="413308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Sudden decline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896112" y="4352544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of extra help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768096" y="4672584"/>
            <a:ext cx="2761488" cy="493776"/>
          </a:xfrm>
          <a:prstGeom prst="roundRect">
            <a:avLst>
              <a:gd name="adj" fmla="val 9259"/>
            </a:avLst>
          </a:prstGeom>
          <a:solidFill>
            <a:srgbClr val="EDF4EF"/>
          </a:solidFill>
          <a:ln w="12700">
            <a:solidFill>
              <a:srgbClr val="EDF4E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96112" y="470001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of a spouse · My own crisis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896112" y="4919472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steady presence · trusted backup</a:t>
            </a:r>
            <a:endParaRPr lang="en-US" sz="780" dirty="0"/>
          </a:p>
        </p:txBody>
      </p:sp>
      <p:sp>
        <p:nvSpPr>
          <p:cNvPr id="22" name="Shape 20"/>
          <p:cNvSpPr/>
          <p:nvPr/>
        </p:nvSpPr>
        <p:spPr>
          <a:xfrm>
            <a:off x="4590288" y="1783080"/>
            <a:ext cx="3017520" cy="370332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C9D6C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00016" y="1892808"/>
            <a:ext cx="2798064" cy="384048"/>
          </a:xfrm>
          <a:prstGeom prst="roundRect">
            <a:avLst>
              <a:gd name="adj" fmla="val 14286"/>
            </a:avLst>
          </a:prstGeom>
          <a:solidFill>
            <a:srgbClr val="14594A"/>
          </a:solidFill>
          <a:ln w="12700">
            <a:solidFill>
              <a:srgbClr val="14594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28032" y="190195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Halimah can come — 2pm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718304" y="2404872"/>
            <a:ext cx="2761488" cy="493776"/>
          </a:xfrm>
          <a:prstGeom prst="roundRect">
            <a:avLst>
              <a:gd name="adj" fmla="val 9259"/>
            </a:avLst>
          </a:prstGeom>
          <a:solidFill>
            <a:srgbClr val="DFEDE5"/>
          </a:solidFill>
          <a:ln w="12700">
            <a:solidFill>
              <a:srgbClr val="DFEDE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46320" y="243230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Mdm Halimah · Tier 1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846320" y="2651760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chaperone-ready · speaks Tamil</a:t>
            </a:r>
            <a:endParaRPr lang="en-US" sz="780" dirty="0"/>
          </a:p>
        </p:txBody>
      </p:sp>
      <p:sp>
        <p:nvSpPr>
          <p:cNvPr id="28" name="Shape 26"/>
          <p:cNvSpPr/>
          <p:nvPr/>
        </p:nvSpPr>
        <p:spPr>
          <a:xfrm>
            <a:off x="4718304" y="2971800"/>
            <a:ext cx="2761488" cy="493776"/>
          </a:xfrm>
          <a:prstGeom prst="roundRect">
            <a:avLst>
              <a:gd name="adj" fmla="val 9259"/>
            </a:avLst>
          </a:prstGeom>
          <a:solidFill>
            <a:srgbClr val="DFEDE5"/>
          </a:solidFill>
          <a:ln w="12700">
            <a:solidFill>
              <a:srgbClr val="DFEDE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46320" y="299923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Papa knows her — 6 visits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846320" y="3218688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re-introduction needed</a:t>
            </a:r>
            <a:endParaRPr lang="en-US" sz="780" dirty="0"/>
          </a:p>
        </p:txBody>
      </p:sp>
      <p:sp>
        <p:nvSpPr>
          <p:cNvPr id="31" name="Shape 29"/>
          <p:cNvSpPr/>
          <p:nvPr/>
        </p:nvSpPr>
        <p:spPr>
          <a:xfrm>
            <a:off x="4718304" y="3538728"/>
            <a:ext cx="2761488" cy="493776"/>
          </a:xfrm>
          <a:prstGeom prst="roundRect">
            <a:avLst>
              <a:gd name="adj" fmla="val 9259"/>
            </a:avLst>
          </a:prstGeom>
          <a:solidFill>
            <a:srgbClr val="EDF4EF"/>
          </a:solidFill>
          <a:ln w="12700">
            <a:solidFill>
              <a:srgbClr val="EDF4E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46320" y="356616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KAKI-PR04-0117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846320" y="3785616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 verified by Vanguard</a:t>
            </a:r>
            <a:endParaRPr lang="en-US" sz="780" dirty="0"/>
          </a:p>
        </p:txBody>
      </p:sp>
      <p:sp>
        <p:nvSpPr>
          <p:cNvPr id="34" name="Shape 32"/>
          <p:cNvSpPr/>
          <p:nvPr/>
        </p:nvSpPr>
        <p:spPr>
          <a:xfrm>
            <a:off x="4718304" y="4105656"/>
            <a:ext cx="2761488" cy="493776"/>
          </a:xfrm>
          <a:prstGeom prst="roundRect">
            <a:avLst>
              <a:gd name="adj" fmla="val 9259"/>
            </a:avLst>
          </a:prstGeom>
          <a:solidFill>
            <a:srgbClr val="EDF4EF"/>
          </a:solidFill>
          <a:ln w="12700">
            <a:solidFill>
              <a:srgbClr val="EDF4E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46320" y="413308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senior? First visit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4846320" y="4352544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paired with Vanguard staff</a:t>
            </a:r>
            <a:endParaRPr lang="en-US" sz="780" dirty="0"/>
          </a:p>
        </p:txBody>
      </p:sp>
      <p:sp>
        <p:nvSpPr>
          <p:cNvPr id="37" name="Shape 35"/>
          <p:cNvSpPr/>
          <p:nvPr/>
        </p:nvSpPr>
        <p:spPr>
          <a:xfrm>
            <a:off x="4718304" y="4672584"/>
            <a:ext cx="2761488" cy="493776"/>
          </a:xfrm>
          <a:prstGeom prst="roundRect">
            <a:avLst>
              <a:gd name="adj" fmla="val 9259"/>
            </a:avLst>
          </a:prstGeom>
          <a:solidFill>
            <a:srgbClr val="EDF4EF"/>
          </a:solidFill>
          <a:ln w="12700">
            <a:solidFill>
              <a:srgbClr val="EDF4E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46320" y="470001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pass to Papa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4846320" y="4919472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travels as an artifact</a:t>
            </a:r>
            <a:endParaRPr lang="en-US" sz="780" dirty="0"/>
          </a:p>
        </p:txBody>
      </p:sp>
      <p:sp>
        <p:nvSpPr>
          <p:cNvPr id="40" name="Shape 38"/>
          <p:cNvSpPr/>
          <p:nvPr/>
        </p:nvSpPr>
        <p:spPr>
          <a:xfrm>
            <a:off x="8540496" y="1783080"/>
            <a:ext cx="3017520" cy="370332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C9D6CD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650224" y="1892808"/>
            <a:ext cx="2798064" cy="384048"/>
          </a:xfrm>
          <a:prstGeom prst="roundRect">
            <a:avLst>
              <a:gd name="adj" fmla="val 14286"/>
            </a:avLst>
          </a:prstGeom>
          <a:solidFill>
            <a:srgbClr val="14594A"/>
          </a:solidFill>
          <a:ln w="12700">
            <a:solidFill>
              <a:srgbClr val="14594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778240" y="190195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pay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8668512" y="2404872"/>
            <a:ext cx="2761488" cy="493776"/>
          </a:xfrm>
          <a:prstGeom prst="roundRect">
            <a:avLst>
              <a:gd name="adj" fmla="val 9259"/>
            </a:avLst>
          </a:prstGeom>
          <a:solidFill>
            <a:srgbClr val="EDF4EF"/>
          </a:solidFill>
          <a:ln w="12700">
            <a:solidFill>
              <a:srgbClr val="EDF4E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796528" y="243230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 rate · 3 hrs × $28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8796528" y="2651760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$84.00</a:t>
            </a:r>
            <a:endParaRPr lang="en-US" sz="780" dirty="0"/>
          </a:p>
        </p:txBody>
      </p:sp>
      <p:sp>
        <p:nvSpPr>
          <p:cNvPr id="46" name="Shape 44"/>
          <p:cNvSpPr/>
          <p:nvPr/>
        </p:nvSpPr>
        <p:spPr>
          <a:xfrm>
            <a:off x="8668512" y="2971800"/>
            <a:ext cx="2761488" cy="493776"/>
          </a:xfrm>
          <a:prstGeom prst="roundRect">
            <a:avLst>
              <a:gd name="adj" fmla="val 9259"/>
            </a:avLst>
          </a:prstGeom>
          <a:solidFill>
            <a:srgbClr val="DFEDE5"/>
          </a:solidFill>
          <a:ln w="12700">
            <a:solidFill>
              <a:srgbClr val="DFEDE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796528" y="299923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care subsidy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8796528" y="3218688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$45.00 · Vanguard healthcare fund</a:t>
            </a:r>
            <a:endParaRPr lang="en-US" sz="780" dirty="0"/>
          </a:p>
        </p:txBody>
      </p:sp>
      <p:sp>
        <p:nvSpPr>
          <p:cNvPr id="49" name="Shape 47"/>
          <p:cNvSpPr/>
          <p:nvPr/>
        </p:nvSpPr>
        <p:spPr>
          <a:xfrm>
            <a:off x="8668512" y="3538728"/>
            <a:ext cx="2761488" cy="493776"/>
          </a:xfrm>
          <a:prstGeom prst="roundRect">
            <a:avLst>
              <a:gd name="adj" fmla="val 9259"/>
            </a:avLst>
          </a:prstGeom>
          <a:solidFill>
            <a:srgbClr val="DFEDE5"/>
          </a:solidFill>
          <a:ln w="12700">
            <a:solidFill>
              <a:srgbClr val="DFEDE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796528" y="356616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top-up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8796528" y="3785616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$12.00 · means-tested</a:t>
            </a:r>
            <a:endParaRPr lang="en-US" sz="780" dirty="0"/>
          </a:p>
        </p:txBody>
      </p:sp>
      <p:sp>
        <p:nvSpPr>
          <p:cNvPr id="52" name="Shape 50"/>
          <p:cNvSpPr/>
          <p:nvPr/>
        </p:nvSpPr>
        <p:spPr>
          <a:xfrm>
            <a:off x="8668512" y="4105656"/>
            <a:ext cx="2761488" cy="493776"/>
          </a:xfrm>
          <a:prstGeom prst="roundRect">
            <a:avLst>
              <a:gd name="adj" fmla="val 9259"/>
            </a:avLst>
          </a:prstGeom>
          <a:solidFill>
            <a:srgbClr val="FBEED6"/>
          </a:solidFill>
          <a:ln w="12700">
            <a:solidFill>
              <a:srgbClr val="FBEED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796528" y="413308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pay: $27.00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8796528" y="4352544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multi-payer stack, in the open</a:t>
            </a:r>
            <a:endParaRPr lang="en-US" sz="780" dirty="0"/>
          </a:p>
        </p:txBody>
      </p:sp>
      <p:sp>
        <p:nvSpPr>
          <p:cNvPr id="55" name="Shape 53"/>
          <p:cNvSpPr/>
          <p:nvPr/>
        </p:nvSpPr>
        <p:spPr>
          <a:xfrm>
            <a:off x="8668512" y="4672584"/>
            <a:ext cx="2761488" cy="493776"/>
          </a:xfrm>
          <a:prstGeom prst="roundRect">
            <a:avLst>
              <a:gd name="adj" fmla="val 9259"/>
            </a:avLst>
          </a:prstGeom>
          <a:solidFill>
            <a:srgbClr val="EDF4EF"/>
          </a:solidFill>
          <a:ln w="12700">
            <a:solidFill>
              <a:srgbClr val="EDF4E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796528" y="470001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After: visit report + care note</a:t>
            </a: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8796528" y="4919472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meds ticked · no public ratings</a:t>
            </a:r>
            <a:endParaRPr lang="en-US" sz="780" dirty="0"/>
          </a:p>
        </p:txBody>
      </p:sp>
      <p:sp>
        <p:nvSpPr>
          <p:cNvPr id="58" name="Text 56"/>
          <p:cNvSpPr/>
          <p:nvPr/>
        </p:nvSpPr>
        <p:spPr>
          <a:xfrm>
            <a:off x="640080" y="562356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14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Urgent or planned: crisis jumps the queue, Book-ahead takes the everyday.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4590288" y="562356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14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Regulars first. The pass makes trust visible.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8540496" y="562356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14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payers, one receipt. Nothing hidden.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548640" y="641908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prototype: knowledge/prototype/kakis-prototype.html — full flow, all three personas, every screen annotated with the evidence behind it.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0" kern="0" dirty="0">
                <a:solidFill>
                  <a:srgbClr val="1459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JOURNEY 2 OF 3 · MVP · THE RESPITE GIVER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A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Mdm Tan: trained by Vanguard, certified at St. Luke's.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017520" cy="370332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C9D6C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1892808"/>
            <a:ext cx="2798064" cy="384048"/>
          </a:xfrm>
          <a:prstGeom prst="roundRect">
            <a:avLst>
              <a:gd name="adj" fmla="val 14286"/>
            </a:avLst>
          </a:prstGeom>
          <a:solidFill>
            <a:srgbClr val="14594A"/>
          </a:solidFill>
          <a:ln w="12700">
            <a:solidFill>
              <a:srgbClr val="1459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77824" y="190195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can you help with?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768096" y="2404872"/>
            <a:ext cx="2761488" cy="493776"/>
          </a:xfrm>
          <a:prstGeom prst="roundRect">
            <a:avLst>
              <a:gd name="adj" fmla="val 9259"/>
            </a:avLst>
          </a:prstGeom>
          <a:solidFill>
            <a:srgbClr val="DFEDE5"/>
          </a:solidFill>
          <a:ln w="12700">
            <a:solidFill>
              <a:srgbClr val="DFED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243230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Chaperone ✓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896112" y="2651760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polyclinic, market, meals out</a:t>
            </a:r>
            <a:endParaRPr lang="en-US" sz="780" dirty="0"/>
          </a:p>
        </p:txBody>
      </p:sp>
      <p:sp>
        <p:nvSpPr>
          <p:cNvPr id="10" name="Shape 8"/>
          <p:cNvSpPr/>
          <p:nvPr/>
        </p:nvSpPr>
        <p:spPr>
          <a:xfrm>
            <a:off x="768096" y="2971800"/>
            <a:ext cx="2761488" cy="493776"/>
          </a:xfrm>
          <a:prstGeom prst="roundRect">
            <a:avLst>
              <a:gd name="adj" fmla="val 9259"/>
            </a:avLst>
          </a:prstGeom>
          <a:solidFill>
            <a:srgbClr val="DFEDE5"/>
          </a:solidFill>
          <a:ln w="12700">
            <a:solidFill>
              <a:srgbClr val="DFED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299923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Companionship ✓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896112" y="3218688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presence, games, walks</a:t>
            </a:r>
            <a:endParaRPr lang="en-US" sz="780" dirty="0"/>
          </a:p>
        </p:txBody>
      </p:sp>
      <p:sp>
        <p:nvSpPr>
          <p:cNvPr id="13" name="Shape 11"/>
          <p:cNvSpPr/>
          <p:nvPr/>
        </p:nvSpPr>
        <p:spPr>
          <a:xfrm>
            <a:off x="768096" y="3538728"/>
            <a:ext cx="2761488" cy="493776"/>
          </a:xfrm>
          <a:prstGeom prst="roundRect">
            <a:avLst>
              <a:gd name="adj" fmla="val 9259"/>
            </a:avLst>
          </a:prstGeom>
          <a:solidFill>
            <a:srgbClr val="EDF4EF"/>
          </a:solidFill>
          <a:ln w="12700">
            <a:solidFill>
              <a:srgbClr val="EDF4E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96112" y="356616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Wellness checks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96112" y="3785616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meals, meds, safety drop-ins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768096" y="4105656"/>
            <a:ext cx="2761488" cy="493776"/>
          </a:xfrm>
          <a:prstGeom prst="roundRect">
            <a:avLst>
              <a:gd name="adj" fmla="val 9259"/>
            </a:avLst>
          </a:prstGeom>
          <a:solidFill>
            <a:srgbClr val="F6E3DC"/>
          </a:solidFill>
          <a:ln w="12700">
            <a:solidFill>
              <a:srgbClr val="F6E3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96112" y="413308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Medicine admin — locked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896112" y="4352544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locked until Tier 2 module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768096" y="4672584"/>
            <a:ext cx="2761488" cy="493776"/>
          </a:xfrm>
          <a:prstGeom prst="roundRect">
            <a:avLst>
              <a:gd name="adj" fmla="val 9259"/>
            </a:avLst>
          </a:prstGeom>
          <a:solidFill>
            <a:srgbClr val="F6E3DC"/>
          </a:solidFill>
          <a:ln w="12700">
            <a:solidFill>
              <a:srgbClr val="F6E3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96112" y="470001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Dementia care — locked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896112" y="4919472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locked until Tier 2 module</a:t>
            </a:r>
            <a:endParaRPr lang="en-US" sz="780" dirty="0"/>
          </a:p>
        </p:txBody>
      </p:sp>
      <p:sp>
        <p:nvSpPr>
          <p:cNvPr id="22" name="Shape 20"/>
          <p:cNvSpPr/>
          <p:nvPr/>
        </p:nvSpPr>
        <p:spPr>
          <a:xfrm>
            <a:off x="4590288" y="1783080"/>
            <a:ext cx="3017520" cy="370332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C9D6C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00016" y="1892808"/>
            <a:ext cx="2798064" cy="384048"/>
          </a:xfrm>
          <a:prstGeom prst="roundRect">
            <a:avLst>
              <a:gd name="adj" fmla="val 14286"/>
            </a:avLst>
          </a:prstGeom>
          <a:solidFill>
            <a:srgbClr val="14594A"/>
          </a:solidFill>
          <a:ln w="12700">
            <a:solidFill>
              <a:srgbClr val="14594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28032" y="190195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path · Tier 1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718304" y="2404872"/>
            <a:ext cx="2761488" cy="493776"/>
          </a:xfrm>
          <a:prstGeom prst="roundRect">
            <a:avLst>
              <a:gd name="adj" fmla="val 9259"/>
            </a:avLst>
          </a:prstGeom>
          <a:solidFill>
            <a:srgbClr val="DFEDE5"/>
          </a:solidFill>
          <a:ln w="12700">
            <a:solidFill>
              <a:srgbClr val="DFEDE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46320" y="243230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CPR + AED — passed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846320" y="2651760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cert · St. Luke's Hospital</a:t>
            </a:r>
            <a:endParaRPr lang="en-US" sz="780" dirty="0"/>
          </a:p>
        </p:txBody>
      </p:sp>
      <p:sp>
        <p:nvSpPr>
          <p:cNvPr id="28" name="Shape 26"/>
          <p:cNvSpPr/>
          <p:nvPr/>
        </p:nvSpPr>
        <p:spPr>
          <a:xfrm>
            <a:off x="4718304" y="2971800"/>
            <a:ext cx="2761488" cy="493776"/>
          </a:xfrm>
          <a:prstGeom prst="roundRect">
            <a:avLst>
              <a:gd name="adj" fmla="val 9259"/>
            </a:avLst>
          </a:prstGeom>
          <a:solidFill>
            <a:srgbClr val="DFEDE5"/>
          </a:solidFill>
          <a:ln w="12700">
            <a:solidFill>
              <a:srgbClr val="DFEDE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46320" y="299923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Mobility assistance — passed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846320" y="3218688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half-day · Vanguard in-house</a:t>
            </a:r>
            <a:endParaRPr lang="en-US" sz="780" dirty="0"/>
          </a:p>
        </p:txBody>
      </p:sp>
      <p:sp>
        <p:nvSpPr>
          <p:cNvPr id="31" name="Shape 29"/>
          <p:cNvSpPr/>
          <p:nvPr/>
        </p:nvSpPr>
        <p:spPr>
          <a:xfrm>
            <a:off x="4718304" y="3538728"/>
            <a:ext cx="2761488" cy="493776"/>
          </a:xfrm>
          <a:prstGeom prst="roundRect">
            <a:avLst>
              <a:gd name="adj" fmla="val 9259"/>
            </a:avLst>
          </a:prstGeom>
          <a:solidFill>
            <a:srgbClr val="DFEDE5"/>
          </a:solidFill>
          <a:ln w="12700">
            <a:solidFill>
              <a:srgbClr val="DFEDE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46320" y="356616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with seniors — passed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846320" y="3785616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dialects, introductions, SOPs</a:t>
            </a:r>
            <a:endParaRPr lang="en-US" sz="780" dirty="0"/>
          </a:p>
        </p:txBody>
      </p:sp>
      <p:sp>
        <p:nvSpPr>
          <p:cNvPr id="34" name="Shape 32"/>
          <p:cNvSpPr/>
          <p:nvPr/>
        </p:nvSpPr>
        <p:spPr>
          <a:xfrm>
            <a:off x="4718304" y="4105656"/>
            <a:ext cx="2761488" cy="493776"/>
          </a:xfrm>
          <a:prstGeom prst="roundRect">
            <a:avLst>
              <a:gd name="adj" fmla="val 9259"/>
            </a:avLst>
          </a:prstGeom>
          <a:solidFill>
            <a:srgbClr val="FBEED6"/>
          </a:solidFill>
          <a:ln w="12700">
            <a:solidFill>
              <a:srgbClr val="FBEED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46320" y="413308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 visit — Thu 16 Jul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4846320" y="4352544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real visit, with Vanguard staff</a:t>
            </a:r>
            <a:endParaRPr lang="en-US" sz="780" dirty="0"/>
          </a:p>
        </p:txBody>
      </p:sp>
      <p:sp>
        <p:nvSpPr>
          <p:cNvPr id="37" name="Shape 35"/>
          <p:cNvSpPr/>
          <p:nvPr/>
        </p:nvSpPr>
        <p:spPr>
          <a:xfrm>
            <a:off x="4718304" y="4672584"/>
            <a:ext cx="2761488" cy="493776"/>
          </a:xfrm>
          <a:prstGeom prst="roundRect">
            <a:avLst>
              <a:gd name="adj" fmla="val 9259"/>
            </a:avLst>
          </a:prstGeom>
          <a:solidFill>
            <a:srgbClr val="EDF4EF"/>
          </a:solidFill>
          <a:ln w="12700">
            <a:solidFill>
              <a:srgbClr val="EDF4E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46320" y="470001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modules free of charge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4846320" y="4919472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funded via NCSS / Vanguard pipeline</a:t>
            </a:r>
            <a:endParaRPr lang="en-US" sz="780" dirty="0"/>
          </a:p>
        </p:txBody>
      </p:sp>
      <p:sp>
        <p:nvSpPr>
          <p:cNvPr id="40" name="Shape 38"/>
          <p:cNvSpPr/>
          <p:nvPr/>
        </p:nvSpPr>
        <p:spPr>
          <a:xfrm>
            <a:off x="8540496" y="1783080"/>
            <a:ext cx="3017520" cy="370332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C9D6CD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650224" y="1892808"/>
            <a:ext cx="2798064" cy="384048"/>
          </a:xfrm>
          <a:prstGeom prst="roundRect">
            <a:avLst>
              <a:gd name="adj" fmla="val 14286"/>
            </a:avLst>
          </a:prstGeom>
          <a:solidFill>
            <a:srgbClr val="14594A"/>
          </a:solidFill>
          <a:ln w="12700">
            <a:solidFill>
              <a:srgbClr val="14594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778240" y="190195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Visits near you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8668512" y="2404872"/>
            <a:ext cx="2761488" cy="493776"/>
          </a:xfrm>
          <a:prstGeom prst="roundRect">
            <a:avLst>
              <a:gd name="adj" fmla="val 9259"/>
            </a:avLst>
          </a:prstGeom>
          <a:solidFill>
            <a:srgbClr val="FBEED6"/>
          </a:solidFill>
          <a:ln w="12700">
            <a:solidFill>
              <a:srgbClr val="FBEED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796528" y="243230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Crisis · today 2–5pm · $36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8796528" y="2651760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Nathan — you've visited him 6×</a:t>
            </a:r>
            <a:endParaRPr lang="en-US" sz="780" dirty="0"/>
          </a:p>
        </p:txBody>
      </p:sp>
      <p:sp>
        <p:nvSpPr>
          <p:cNvPr id="46" name="Shape 44"/>
          <p:cNvSpPr/>
          <p:nvPr/>
        </p:nvSpPr>
        <p:spPr>
          <a:xfrm>
            <a:off x="8668512" y="2971800"/>
            <a:ext cx="2761488" cy="493776"/>
          </a:xfrm>
          <a:prstGeom prst="roundRect">
            <a:avLst>
              <a:gd name="adj" fmla="val 9259"/>
            </a:avLst>
          </a:prstGeom>
          <a:solidFill>
            <a:srgbClr val="EDF4EF"/>
          </a:solidFill>
          <a:ln w="12700">
            <a:solidFill>
              <a:srgbClr val="EDF4E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796528" y="299923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Polyclinic escort · Tue · $24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8796528" y="3218688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visit — paired with staff</a:t>
            </a:r>
            <a:endParaRPr lang="en-US" sz="780" dirty="0"/>
          </a:p>
        </p:txBody>
      </p:sp>
      <p:sp>
        <p:nvSpPr>
          <p:cNvPr id="49" name="Shape 47"/>
          <p:cNvSpPr/>
          <p:nvPr/>
        </p:nvSpPr>
        <p:spPr>
          <a:xfrm>
            <a:off x="8668512" y="3538728"/>
            <a:ext cx="2761488" cy="493776"/>
          </a:xfrm>
          <a:prstGeom prst="roundRect">
            <a:avLst>
              <a:gd name="adj" fmla="val 9259"/>
            </a:avLst>
          </a:prstGeom>
          <a:solidFill>
            <a:srgbClr val="EDF4EF"/>
          </a:solidFill>
          <a:ln w="12700">
            <a:solidFill>
              <a:srgbClr val="EDF4E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796528" y="356616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Mahjong kaki · Wed · $22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8796528" y="3785616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Silva, 76 · English</a:t>
            </a:r>
            <a:endParaRPr lang="en-US" sz="780" dirty="0"/>
          </a:p>
        </p:txBody>
      </p:sp>
      <p:sp>
        <p:nvSpPr>
          <p:cNvPr id="52" name="Shape 50"/>
          <p:cNvSpPr/>
          <p:nvPr/>
        </p:nvSpPr>
        <p:spPr>
          <a:xfrm>
            <a:off x="8668512" y="4105656"/>
            <a:ext cx="2761488" cy="493776"/>
          </a:xfrm>
          <a:prstGeom prst="roundRect">
            <a:avLst>
              <a:gd name="adj" fmla="val 9259"/>
            </a:avLst>
          </a:prstGeom>
          <a:solidFill>
            <a:srgbClr val="DFEDE5"/>
          </a:solidFill>
          <a:ln w="12700">
            <a:solidFill>
              <a:srgbClr val="DFEDE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796528" y="413308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visits that match your certs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8796528" y="4352544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your languages</a:t>
            </a:r>
            <a:endParaRPr lang="en-US" sz="780" dirty="0"/>
          </a:p>
        </p:txBody>
      </p:sp>
      <p:sp>
        <p:nvSpPr>
          <p:cNvPr id="55" name="Shape 53"/>
          <p:cNvSpPr/>
          <p:nvPr/>
        </p:nvSpPr>
        <p:spPr>
          <a:xfrm>
            <a:off x="8668512" y="4672584"/>
            <a:ext cx="2761488" cy="493776"/>
          </a:xfrm>
          <a:prstGeom prst="roundRect">
            <a:avLst>
              <a:gd name="adj" fmla="val 9259"/>
            </a:avLst>
          </a:prstGeom>
          <a:solidFill>
            <a:srgbClr val="EDF4EF"/>
          </a:solidFill>
          <a:ln w="12700">
            <a:solidFill>
              <a:srgbClr val="EDF4E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796528" y="470001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impact: 4 seniors · 27 hrs</a:t>
            </a: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8796528" y="4919472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consistency streak: 6 repeat visits</a:t>
            </a:r>
            <a:endParaRPr lang="en-US" sz="780" dirty="0"/>
          </a:p>
        </p:txBody>
      </p:sp>
      <p:sp>
        <p:nvSpPr>
          <p:cNvPr id="58" name="Text 56"/>
          <p:cNvSpPr/>
          <p:nvPr/>
        </p:nvSpPr>
        <p:spPr>
          <a:xfrm>
            <a:off x="640080" y="56235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14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gate tasks. Locked tiers are visible — the path up is the point.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4590288" y="56235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14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Vanguard's real modules. The shadow visit is the pre-relationship layer.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8540496" y="56235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14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Regulars ranked first. Contribution framed above income.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548640" y="641908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profile per Vanguard: well/robust seniors in their early 60s — motivated by structure and contribution. Pay honest at $10–12/hr + transport; training free.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0" kern="0" dirty="0">
                <a:solidFill>
                  <a:srgbClr val="1459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JOURNEY 3 OF 3 · MVP · THE ADMIN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A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 bookings. 3 decisions. One coordinator.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66160" cy="2743200"/>
          </a:xfrm>
          <a:prstGeom prst="roundRect">
            <a:avLst>
              <a:gd name="adj" fmla="val 3000"/>
            </a:avLst>
          </a:prstGeom>
          <a:solidFill>
            <a:srgbClr val="EDF4EF"/>
          </a:solidFill>
          <a:ln w="12700">
            <a:solidFill>
              <a:srgbClr val="EDF4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920240"/>
            <a:ext cx="457200" cy="457200"/>
          </a:xfrm>
          <a:prstGeom prst="ellipse">
            <a:avLst/>
          </a:prstGeom>
          <a:solidFill>
            <a:srgbClr val="14594A"/>
          </a:solidFill>
          <a:ln w="12700">
            <a:solidFill>
              <a:srgbClr val="1459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9202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71600" y="1956816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Onboarding agent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77240" y="2487168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Cross-checks Singpass, the St. Luke's cert registry and Vanguard's LMS. Shows its evidence trail.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77240" y="3456432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1459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 week: 12 verified · 2 flagged (one reused reference document caught)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4343400" y="1737360"/>
            <a:ext cx="3566160" cy="2743200"/>
          </a:xfrm>
          <a:prstGeom prst="roundRect">
            <a:avLst>
              <a:gd name="adj" fmla="val 3000"/>
            </a:avLst>
          </a:prstGeom>
          <a:solidFill>
            <a:srgbClr val="EDF4EF"/>
          </a:solidFill>
          <a:ln w="12700">
            <a:solidFill>
              <a:srgbClr val="EDF4E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0" y="1920240"/>
            <a:ext cx="457200" cy="457200"/>
          </a:xfrm>
          <a:prstGeom prst="ellipse">
            <a:avLst/>
          </a:prstGeom>
          <a:solidFill>
            <a:srgbClr val="14594A"/>
          </a:solidFill>
          <a:ln w="12700">
            <a:solidFill>
              <a:srgbClr val="1459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34840" y="19202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166360" y="1956816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Matching agent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0" y="2487168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Optimises consistency first (45%), then language, proximity, speed. Proposes weight changes with simulated impact.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572000" y="3456432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1459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 week: 34 auto-matched, regulars preserved · 1 exception — no Tamil speaker free Tue am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8138160" y="1737360"/>
            <a:ext cx="3566160" cy="2743200"/>
          </a:xfrm>
          <a:prstGeom prst="roundRect">
            <a:avLst>
              <a:gd name="adj" fmla="val 3000"/>
            </a:avLst>
          </a:prstGeom>
          <a:solidFill>
            <a:srgbClr val="EDF4EF"/>
          </a:solidFill>
          <a:ln w="12700">
            <a:solidFill>
              <a:srgbClr val="EDF4E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366760" y="1920240"/>
            <a:ext cx="457200" cy="457200"/>
          </a:xfrm>
          <a:prstGeom prst="ellipse">
            <a:avLst/>
          </a:prstGeom>
          <a:solidFill>
            <a:srgbClr val="14594A"/>
          </a:solidFill>
          <a:ln w="12700">
            <a:solidFill>
              <a:srgbClr val="1459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0" y="19202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✱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961120" y="1956816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Quality agent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366760" y="2487168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every visit report and private care note. Surfaces patterns families miss.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366760" y="3456432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1459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 week: 18 reports read · 1 flag — a senior's fatigue across 3 visits → nurse check-in scheduled</a:t>
            </a:r>
            <a:endParaRPr lang="en-US" sz="880" dirty="0"/>
          </a:p>
        </p:txBody>
      </p:sp>
      <p:sp>
        <p:nvSpPr>
          <p:cNvPr id="22" name="Shape 20"/>
          <p:cNvSpPr/>
          <p:nvPr/>
        </p:nvSpPr>
        <p:spPr>
          <a:xfrm>
            <a:off x="548640" y="4709160"/>
            <a:ext cx="11064240" cy="1417320"/>
          </a:xfrm>
          <a:prstGeom prst="roundRect">
            <a:avLst>
              <a:gd name="adj" fmla="val 5806"/>
            </a:avLst>
          </a:prstGeom>
          <a:solidFill>
            <a:srgbClr val="0C3D33"/>
          </a:solidFill>
          <a:ln w="12700">
            <a:solidFill>
              <a:srgbClr val="0C3D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486460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0A6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 rules no agent can override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822960" y="521208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visit to a new senior → paired with Vanguard staff  ·  No public ratings or rankings of care staff (MOH/AIC policy)  ·  Certification tier must cover the task — no exceptions  ·  Urgent triggers jump the queue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0" kern="0" dirty="0">
                <a:solidFill>
                  <a:srgbClr val="1459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BUSINESS MODEL · QUALITY OF THINKING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A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Private pay can't fund consistency. Stack the payers.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4846320" cy="4297680"/>
          </a:xfrm>
          <a:prstGeom prst="roundRect">
            <a:avLst>
              <a:gd name="adj" fmla="val 1915"/>
            </a:avLst>
          </a:prstGeom>
          <a:solidFill>
            <a:srgbClr val="EDF4EF"/>
          </a:solidFill>
          <a:ln w="12700">
            <a:solidFill>
              <a:srgbClr val="EDF4E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01168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1459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VISIT · 3 HRS · CHAPERONE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14400" y="24231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 rate (3 × $28)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931920" y="24231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$84.00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914400" y="2880360"/>
            <a:ext cx="4297680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914400" y="308152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Healthcare-fund subsidy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931920" y="308152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459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 $45.00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14400" y="3538728"/>
            <a:ext cx="4297680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914400" y="373989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Philanthropic top-up (means-tested)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931920" y="3739896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459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 $12.00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14400" y="4197096"/>
            <a:ext cx="4297680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914400" y="449884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Caregiver pays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3566160" y="44348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45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$27.00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" y="512064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4th payer: corporate partners — hotels donate low-season rooms for respite stays; employers add eldercare benefits.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035040" y="18745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unit reality (Vanguard, today):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035040" y="2331720"/>
            <a:ext cx="5486400" cy="841248"/>
          </a:xfrm>
          <a:prstGeom prst="roundRect">
            <a:avLst>
              <a:gd name="adj" fmla="val 9783"/>
            </a:avLst>
          </a:prstGeom>
          <a:solidFill>
            <a:srgbClr val="EDF4EF"/>
          </a:solidFill>
          <a:ln w="12700">
            <a:solidFill>
              <a:srgbClr val="EDF4E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63640" y="2459736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5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$10–12/hr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8092440" y="249631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to micro-jobbers (gig market: $20–22)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035040" y="3300984"/>
            <a:ext cx="5486400" cy="841248"/>
          </a:xfrm>
          <a:prstGeom prst="roundRect">
            <a:avLst>
              <a:gd name="adj" fmla="val 9783"/>
            </a:avLst>
          </a:prstGeom>
          <a:solidFill>
            <a:srgbClr val="EDF4EF"/>
          </a:solidFill>
          <a:ln w="12700">
            <a:solidFill>
              <a:srgbClr val="EDF4E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63640" y="342900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5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~$26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8092440" y="3465576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fully-loaded cost per session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035040" y="4270248"/>
            <a:ext cx="5486400" cy="841248"/>
          </a:xfrm>
          <a:prstGeom prst="roundRect">
            <a:avLst>
              <a:gd name="adj" fmla="val 9783"/>
            </a:avLst>
          </a:prstGeom>
          <a:solidFill>
            <a:srgbClr val="F6E3DC"/>
          </a:solidFill>
          <a:ln w="12700">
            <a:solidFill>
              <a:srgbClr val="F6E3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63640" y="4398264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F3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$25–35/hr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8092440" y="443484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charged — and many families still can't pay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035040" y="5349240"/>
            <a:ext cx="5486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4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Kakis' pitch to the sector: today each payer is siloed by operator. The platform lets all four fund the same certified supply layer — that's the business case NCSS asked us to build.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0" kern="0" dirty="0">
                <a:solidFill>
                  <a:srgbClr val="1459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SIZING · QUALITY OF THINKING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A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market, honestly: a floor, a signal, a ceiling.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66160" cy="3154680"/>
          </a:xfrm>
          <a:prstGeom prst="roundRect">
            <a:avLst>
              <a:gd name="adj" fmla="val 2609"/>
            </a:avLst>
          </a:prstGeom>
          <a:solidFill>
            <a:srgbClr val="EDF4EF"/>
          </a:solidFill>
          <a:ln w="12700">
            <a:solidFill>
              <a:srgbClr val="EDF4E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9659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5E6B6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FLOOR — observed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777240" y="228600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45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20–30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777240" y="3246120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chaperone bookings/month across Vanguard's 4 centres — while turning away 3–4 in 20 requests, with zero marketing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43400" y="1783080"/>
            <a:ext cx="3566160" cy="3154680"/>
          </a:xfrm>
          <a:prstGeom prst="roundRect">
            <a:avLst>
              <a:gd name="adj" fmla="val 2609"/>
            </a:avLst>
          </a:prstGeom>
          <a:solidFill>
            <a:srgbClr val="FBEED6"/>
          </a:solidFill>
          <a:ln w="12700">
            <a:solidFill>
              <a:srgbClr val="FBEED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0" y="19659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5E6B6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SIGNAL — extrapolated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572000" y="228600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8A5E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15–30K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4572000" y="3246120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bookings/month nationwide if Pasir Ris attach rates (5–10%) hold across 1M seniors — Vanguard's own whiteboard math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138160" y="1783080"/>
            <a:ext cx="3566160" cy="3154680"/>
          </a:xfrm>
          <a:prstGeom prst="roundRect">
            <a:avLst>
              <a:gd name="adj" fmla="val 2609"/>
            </a:avLst>
          </a:prstGeom>
          <a:solidFill>
            <a:srgbClr val="EDF4EF"/>
          </a:solidFill>
          <a:ln w="12700">
            <a:solidFill>
              <a:srgbClr val="EDF4E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66760" y="19659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5E6B6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CEILING — modelled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366760" y="228600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45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$425M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8366760" y="3246120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Grab's SAM for senior-adjacent services — a boundary on the space, not a forecast for respite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5166360"/>
            <a:ext cx="11064240" cy="1005840"/>
          </a:xfrm>
          <a:prstGeom prst="roundRect">
            <a:avLst>
              <a:gd name="adj" fmla="val 8182"/>
            </a:avLst>
          </a:prstGeom>
          <a:solidFill>
            <a:srgbClr val="0C3D33"/>
          </a:solidFill>
          <a:ln w="12700">
            <a:solidFill>
              <a:srgbClr val="0C3D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534924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0A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floor understates: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&gt;50% of likely beneficiaries don't know services exist (NCSS), supply constraints suppress observed demand, and crisis demand never shows up in scheduled-service data. The pilot exists to replace this slide with measured numbers.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0" kern="0" dirty="0">
                <a:solidFill>
                  <a:srgbClr val="1459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PILOT DESIGN · MVP + STRATEGY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A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Pasir Ris, by year-end. Scoped, not hoped.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66160" cy="3291840"/>
          </a:xfrm>
          <a:prstGeom prst="roundRect">
            <a:avLst>
              <a:gd name="adj" fmla="val 2500"/>
            </a:avLst>
          </a:prstGeom>
          <a:solidFill>
            <a:srgbClr val="EDF4EF"/>
          </a:solidFill>
          <a:ln w="12700">
            <a:solidFill>
              <a:srgbClr val="EDF4E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90195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Vanguard brings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2377440"/>
            <a:ext cx="315468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Pasir Ris ICCP sub-region (~15,000 seniors)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76–80 trained micro-jobbers across 4 centres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pipeline + St. Luke's certification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First-session care staff &amp; phone-triage fallback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343400" y="1737360"/>
            <a:ext cx="3566160" cy="3291840"/>
          </a:xfrm>
          <a:prstGeom prst="roundRect">
            <a:avLst>
              <a:gd name="adj" fmla="val 2500"/>
            </a:avLst>
          </a:prstGeom>
          <a:solidFill>
            <a:srgbClr val="EDF4EF"/>
          </a:solidFill>
          <a:ln w="12700">
            <a:solidFill>
              <a:srgbClr val="EDF4E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0" y="190195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bring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0" y="2377440"/>
            <a:ext cx="315468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Kakis platform: activation, matching, agent ops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design, KPI framework, measurement plan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multi-payer business case (NCSS's ask)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Care-planning wrapper — the sector's named gap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138160" y="1737360"/>
            <a:ext cx="3566160" cy="3291840"/>
          </a:xfrm>
          <a:prstGeom prst="roundRect">
            <a:avLst>
              <a:gd name="adj" fmla="val 2500"/>
            </a:avLst>
          </a:prstGeom>
          <a:solidFill>
            <a:srgbClr val="FBEED6"/>
          </a:solidFill>
          <a:ln w="12700">
            <a:solidFill>
              <a:srgbClr val="FBEED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66760" y="190195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measure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366760" y="2377440"/>
            <a:ext cx="315468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Urgent fill &lt; 24 hrs; planned fill ≥ 95% (vs 3-day notice)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First-visit success rate &amp; senior acceptance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Consistency: % repeat senior–kaki pairs ≥ 90%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cost per booking as volume scales past 30/mo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914400" y="5742432"/>
            <a:ext cx="10332720" cy="0"/>
          </a:xfrm>
          <a:prstGeom prst="line">
            <a:avLst/>
          </a:prstGeom>
          <a:noFill/>
          <a:ln w="38100">
            <a:solidFill>
              <a:srgbClr val="DFED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856232" y="5614416"/>
            <a:ext cx="256032" cy="256032"/>
          </a:xfrm>
          <a:prstGeom prst="ellipse">
            <a:avLst/>
          </a:prstGeom>
          <a:solidFill>
            <a:srgbClr val="14594A"/>
          </a:solidFill>
          <a:ln w="12700">
            <a:solidFill>
              <a:srgbClr val="1459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5943600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59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Jul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85800" y="6199632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SGLN masterclass — concept walk-through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672584" y="5614416"/>
            <a:ext cx="256032" cy="256032"/>
          </a:xfrm>
          <a:prstGeom prst="ellipse">
            <a:avLst/>
          </a:prstGeom>
          <a:solidFill>
            <a:srgbClr val="14594A"/>
          </a:solidFill>
          <a:ln w="12700">
            <a:solidFill>
              <a:srgbClr val="1459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502152" y="5943600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59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Aug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502152" y="6199632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milestone — this build, pressure-tested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488936" y="5614416"/>
            <a:ext cx="256032" cy="256032"/>
          </a:xfrm>
          <a:prstGeom prst="ellipse">
            <a:avLst/>
          </a:prstGeom>
          <a:solidFill>
            <a:srgbClr val="14594A"/>
          </a:solidFill>
          <a:ln w="12700">
            <a:solidFill>
              <a:srgbClr val="1459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18504" y="5943600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59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Sep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318504" y="6199632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Day — pilot design + business case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10305288" y="5614416"/>
            <a:ext cx="256032" cy="256032"/>
          </a:xfrm>
          <a:prstGeom prst="ellipse">
            <a:avLst/>
          </a:prstGeom>
          <a:solidFill>
            <a:srgbClr val="F0A63C"/>
          </a:solidFill>
          <a:ln w="12700">
            <a:solidFill>
              <a:srgbClr val="F0A63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34856" y="5943600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59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 2026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9134856" y="6199632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Pasir Ris pilot live on ICCP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0" kern="0" dirty="0">
                <a:solidFill>
                  <a:srgbClr val="1459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RISKS · WE ARGUE AGAINST OURSELVES IN WRITING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A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could kill this — and what we're doing about it.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440680" cy="2084832"/>
          </a:xfrm>
          <a:prstGeom prst="roundRect">
            <a:avLst>
              <a:gd name="adj" fmla="val 3947"/>
            </a:avLst>
          </a:prstGeom>
          <a:solidFill>
            <a:srgbClr val="F6E3DC"/>
          </a:solidFill>
          <a:ln w="12700">
            <a:solidFill>
              <a:srgbClr val="F6E3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865376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F3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Nobody owns it in October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77240" y="2267712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NCSS won't own it. Grab and Gojek declined. A demo without an owner is just a demo.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777240" y="2944368"/>
            <a:ext cx="4983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14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Vanguard's volunteered Pasir Ris pilot makes year one their operational scope. Counterparty (HCLI Tech vs our own NGO) is our top open item — asked, not avoided.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17920" y="1737360"/>
            <a:ext cx="5440680" cy="2084832"/>
          </a:xfrm>
          <a:prstGeom prst="roundRect">
            <a:avLst>
              <a:gd name="adj" fmla="val 3947"/>
            </a:avLst>
          </a:prstGeom>
          <a:solidFill>
            <a:srgbClr val="EDF4EF"/>
          </a:solidFill>
          <a:ln w="12700">
            <a:solidFill>
              <a:srgbClr val="EDF4E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46520" y="1865376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Demand is latent, maybe imaginary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446520" y="2267712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Ministry data doesn't show it; if it did, MOH would already fund it (Angeline's own words).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446520" y="2944368"/>
            <a:ext cx="4983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14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the point of the pilot: generate the demand data the ministry says it lacks. KPIs are designed as evidence for a funding case, not vanity metrics.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3977640"/>
            <a:ext cx="5440680" cy="2084832"/>
          </a:xfrm>
          <a:prstGeom prst="roundRect">
            <a:avLst>
              <a:gd name="adj" fmla="val 3947"/>
            </a:avLst>
          </a:prstGeom>
          <a:solidFill>
            <a:srgbClr val="EDF4EF"/>
          </a:solidFill>
          <a:ln w="12700">
            <a:solidFill>
              <a:srgbClr val="EDF4E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4105656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space has a graveyard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777240" y="4507992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NCSS's deck is “exactly the same as one year ago.” Something keeps stalling everyone.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77240" y="5184648"/>
            <a:ext cx="4983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14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Diagnosis: ownership + a business case that doesn't close on private pay. Those are precisely the two things we're building first — not the app.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17920" y="3977640"/>
            <a:ext cx="5440680" cy="2084832"/>
          </a:xfrm>
          <a:prstGeom prst="roundRect">
            <a:avLst>
              <a:gd name="adj" fmla="val 3947"/>
            </a:avLst>
          </a:prstGeom>
          <a:solidFill>
            <a:srgbClr val="EDF4EF"/>
          </a:solidFill>
          <a:ln w="12700">
            <a:solidFill>
              <a:srgbClr val="EDF4E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46520" y="4105656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demand curves in one product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446520" y="4507992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 respite (weeks of lead time, price-sensitive) and urgent respite (hours, price-tolerant) may want different UX, SLAs and prices — and planned is the incumbents' strongest ground.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446520" y="5184648"/>
            <a:ext cx="4983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145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supply layer, one certification base, sticky matching binding both. The pilot tests both vectors; if the UX diverges, v2 splits the front door — not the platform.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48640" y="641908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devil's-advocate file has grown from 5 critiques to 14 since May. It's public, and it has changed the product three times.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C3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0" kern="0" dirty="0">
                <a:solidFill>
                  <a:srgbClr val="F0A6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ASK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515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started with companionship.</a:t>
            </a:r>
            <a:endParaRPr lang="en-US" sz="3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evidence walked us here.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2606040"/>
            <a:ext cx="3566160" cy="2286000"/>
          </a:xfrm>
          <a:prstGeom prst="roundRect">
            <a:avLst>
              <a:gd name="adj" fmla="val 3600"/>
            </a:avLst>
          </a:prstGeom>
          <a:solidFill>
            <a:srgbClr val="14594A"/>
          </a:solidFill>
          <a:ln w="12700">
            <a:solidFill>
              <a:srgbClr val="2E726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2816352"/>
            <a:ext cx="457200" cy="457200"/>
          </a:xfrm>
          <a:prstGeom prst="ellipse">
            <a:avLst/>
          </a:prstGeom>
          <a:solidFill>
            <a:srgbClr val="F0A63C"/>
          </a:solidFill>
          <a:ln w="12700">
            <a:solidFill>
              <a:srgbClr val="F0A63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67512" y="281635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C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285292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AIC demand data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04672" y="361188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FE3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meeting that turns our extrapolation into evidence: MET waitlists, referral funnels, sub-region profiles.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43400" y="2606040"/>
            <a:ext cx="3566160" cy="2286000"/>
          </a:xfrm>
          <a:prstGeom prst="roundRect">
            <a:avLst>
              <a:gd name="adj" fmla="val 3600"/>
            </a:avLst>
          </a:prstGeom>
          <a:solidFill>
            <a:srgbClr val="14594A"/>
          </a:solidFill>
          <a:ln w="12700">
            <a:solidFill>
              <a:srgbClr val="2E726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99432" y="2816352"/>
            <a:ext cx="457200" cy="457200"/>
          </a:xfrm>
          <a:prstGeom prst="ellipse">
            <a:avLst/>
          </a:prstGeom>
          <a:solidFill>
            <a:srgbClr val="F0A63C"/>
          </a:solidFill>
          <a:ln w="12700">
            <a:solidFill>
              <a:srgbClr val="F0A6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62272" y="281635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C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212080" y="285292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counterparty for the MOU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99432" y="361188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FE3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HCLI Tech as pilot counterparty — or a ruling that lets us stand up an NGO in time for a Q4 start.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138160" y="2606040"/>
            <a:ext cx="3566160" cy="2286000"/>
          </a:xfrm>
          <a:prstGeom prst="roundRect">
            <a:avLst>
              <a:gd name="adj" fmla="val 3600"/>
            </a:avLst>
          </a:prstGeom>
          <a:solidFill>
            <a:srgbClr val="14594A"/>
          </a:solidFill>
          <a:ln w="12700">
            <a:solidFill>
              <a:srgbClr val="2E726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94192" y="2816352"/>
            <a:ext cx="457200" cy="457200"/>
          </a:xfrm>
          <a:prstGeom prst="ellipse">
            <a:avLst/>
          </a:prstGeom>
          <a:solidFill>
            <a:srgbClr val="F0A63C"/>
          </a:solidFill>
          <a:ln w="12700">
            <a:solidFill>
              <a:srgbClr val="F0A63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57032" y="281635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C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9006840" y="285292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Pasir Ris pilot scope by August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394192" y="361188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FE3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definitions, budget envelope and KPIs agreed with Vanguard while the offer is warm.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" y="52120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i="1" dirty="0">
                <a:solidFill>
                  <a:srgbClr val="9DBF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long game: every visit generates structured care data. Vanguard-certified humans today; the training substrate for assistive robotics in 3–5 years. The marketplace is the wedge — the data layer is the compounding asset.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48640" y="61722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Kakis</a:t>
            </a:r>
            <a:pPr indent="0" marL="0">
              <a:buNone/>
            </a:pPr>
            <a:r>
              <a:rPr lang="en-US" sz="2000" b="1" dirty="0">
                <a:solidFill>
                  <a:srgbClr val="F0A6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 </a:t>
            </a:r>
            <a:pPr indent="0" marL="0">
              <a:buNone/>
            </a:pPr>
            <a:r>
              <a:rPr lang="en-US" sz="1150" b="1" dirty="0">
                <a:solidFill>
                  <a:srgbClr val="9DBF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·  the journey, in public: github.com/quixoticblink/eldercare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2026-07-11T14:04:26Z</dcterms:created>
  <dcterms:modified xsi:type="dcterms:W3CDTF">2026-07-11T14:04:26Z</dcterms:modified>
</cp:coreProperties>
</file>