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Proxima Nova"/>
      <p:regular r:id="rId28"/>
      <p:bold r:id="rId29"/>
      <p:italic r:id="rId30"/>
      <p:boldItalic r:id="rId31"/>
    </p:embeddedFont>
    <p:embeddedFont>
      <p:font typeface="Proxima Nova Extrabold"/>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CF5F29-3526-4AB9-838A-E46E55F47985}">
  <a:tblStyle styleId="{49CF5F29-3526-4AB9-838A-E46E55F479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roximaNova-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roximaNova-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roximaNova-boldItalic.fntdata"/><Relationship Id="rId30" Type="http://schemas.openxmlformats.org/officeDocument/2006/relationships/font" Target="fonts/ProximaNova-italic.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ProximaNovaExtrabold-bold.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26110c35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26110c35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26110c35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26110c35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26110c35d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26110c35d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26110c35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26110c3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0cc81a3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0cc81a3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26110c35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26110c35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0cc81a3f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0cc81a3f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0cc81a3f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0cc81a3f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0cc81a3f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0cc81a3f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26110c35d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26110c35d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26110c35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26110c35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0cc81a3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0cc81a3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0cc81a3f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0cc81a3f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273bacd2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273bacd2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26110c35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26110c35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Data Points from NCSS:</a:t>
            </a:r>
            <a:endParaRPr/>
          </a:p>
          <a:p>
            <a:pPr indent="-298450" lvl="0" marL="457200" rtl="0" algn="l">
              <a:spcBef>
                <a:spcPts val="0"/>
              </a:spcBef>
              <a:spcAft>
                <a:spcPts val="0"/>
              </a:spcAft>
              <a:buSzPts val="1100"/>
              <a:buChar char="●"/>
            </a:pPr>
            <a:r>
              <a:rPr lang="en"/>
              <a:t>Positive Sentiments: 63% of seniors agree that digital technologies make life easier, and 45% are willing to try new technologies. However, only 24% know how to use emerging technologies like voice recognition or augmented reality. Grab can offer user-friendly tech solutions tailored for seniors.</a:t>
            </a:r>
            <a:endParaRPr/>
          </a:p>
          <a:p>
            <a:pPr indent="-298450" lvl="0" marL="457200" rtl="0" algn="l">
              <a:spcBef>
                <a:spcPts val="0"/>
              </a:spcBef>
              <a:spcAft>
                <a:spcPts val="0"/>
              </a:spcAft>
              <a:buSzPts val="1100"/>
              <a:buChar char="●"/>
            </a:pPr>
            <a:r>
              <a:rPr lang="en"/>
              <a:t>Concerns About Risks: Seniors are cautious about online scams and misinformation. Building trust through secure platforms and scam-prevention education will be critical.</a:t>
            </a:r>
            <a:endParaRPr/>
          </a:p>
          <a:p>
            <a:pPr indent="-298450" lvl="0" marL="457200" rtl="0" algn="l">
              <a:spcBef>
                <a:spcPts val="0"/>
              </a:spcBef>
              <a:spcAft>
                <a:spcPts val="0"/>
              </a:spcAft>
              <a:buSzPts val="1100"/>
              <a:buChar char="●"/>
            </a:pPr>
            <a:r>
              <a:rPr lang="en"/>
              <a:t>"Digital First, Not Digital Only": While digital adoption is growing, essential services must remain accessible via non-digital channels. Grab can offer hybrid solutions combining app-based and offline services.</a:t>
            </a:r>
            <a:endParaRPr/>
          </a:p>
          <a:p>
            <a:pPr indent="-298450" lvl="0" marL="457200" rtl="0" algn="l">
              <a:spcBef>
                <a:spcPts val="0"/>
              </a:spcBef>
              <a:spcAft>
                <a:spcPts val="0"/>
              </a:spcAft>
              <a:buSzPts val="1100"/>
              <a:buChar char="●"/>
            </a:pPr>
            <a:r>
              <a:rPr lang="en"/>
              <a:t>Online Transactions: Seniors' use of online payments has doubled from 38% in 2018 to 78% in 2022. This suggests an increasing willingness to adopt digital payment methods, but trust and confidence in such transactions need reinforcement.</a:t>
            </a:r>
            <a:endParaRPr/>
          </a:p>
          <a:p>
            <a:pPr indent="-298450" lvl="0" marL="457200" rtl="0" algn="l">
              <a:spcBef>
                <a:spcPts val="0"/>
              </a:spcBef>
              <a:spcAft>
                <a:spcPts val="0"/>
              </a:spcAft>
              <a:buSzPts val="1100"/>
              <a:buChar char="●"/>
            </a:pPr>
            <a:r>
              <a:rPr lang="en"/>
              <a:t>Singpass App Usage: 67% of seniors used Singpass in 2022, up from 41% in 2020. This indicates familiarity with government-backed apps, which can be a trust-building factor for Grab's digital services.</a:t>
            </a:r>
            <a:endParaRPr/>
          </a:p>
          <a:p>
            <a:pPr indent="-298450" lvl="0" marL="457200" rtl="0" algn="l">
              <a:spcBef>
                <a:spcPts val="0"/>
              </a:spcBef>
              <a:spcAft>
                <a:spcPts val="0"/>
              </a:spcAft>
              <a:buSzPts val="1100"/>
              <a:buChar char="●"/>
            </a:pPr>
            <a:r>
              <a:rPr lang="en"/>
              <a:t>Smartphone Ownership: 89% of seniors own smartphones, showing a significant increase from 74% in 2017. This indicates growing comfort with mobile devices, which can be leveraged for app-based services.</a:t>
            </a:r>
            <a:endParaRPr/>
          </a:p>
          <a:p>
            <a:pPr indent="-298450" lvl="0" marL="457200" rtl="0" algn="l">
              <a:spcBef>
                <a:spcPts val="0"/>
              </a:spcBef>
              <a:spcAft>
                <a:spcPts val="0"/>
              </a:spcAft>
              <a:buSzPts val="1100"/>
              <a:buChar char="●"/>
            </a:pPr>
            <a:r>
              <a:rPr lang="en"/>
              <a:t>Only 46% of Seniors keep their smartphones up to date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Info dump: </a:t>
            </a:r>
            <a:endParaRPr/>
          </a:p>
          <a:p>
            <a:pPr indent="-298450" lvl="0" marL="457200" rtl="0" algn="l">
              <a:spcBef>
                <a:spcPts val="0"/>
              </a:spcBef>
              <a:spcAft>
                <a:spcPts val="0"/>
              </a:spcAft>
              <a:buSzPts val="1100"/>
              <a:buChar char="●"/>
            </a:pPr>
            <a:r>
              <a:rPr lang="en"/>
              <a:t>Singapore anticipates a rising number of seniors requiring support: by 2030, approx. 100,000 will need help with at least one ADL, and about 83,000 will be living alone.</a:t>
            </a:r>
            <a:endParaRPr/>
          </a:p>
          <a:p>
            <a:pPr indent="-298450" lvl="0" marL="457200" rtl="0" algn="l">
              <a:spcBef>
                <a:spcPts val="0"/>
              </a:spcBef>
              <a:spcAft>
                <a:spcPts val="0"/>
              </a:spcAft>
              <a:buSzPts val="1100"/>
              <a:buChar char="●"/>
            </a:pPr>
            <a:r>
              <a:rPr lang="en"/>
              <a:t>About 100,000 seniors in Singapore will require help with at least one activity of daily living (ADL) by 2030 (CNBC) </a:t>
            </a:r>
            <a:endParaRPr/>
          </a:p>
          <a:p>
            <a:pPr indent="-298450" lvl="0" marL="457200" rtl="0" algn="l">
              <a:spcBef>
                <a:spcPts val="0"/>
              </a:spcBef>
              <a:spcAft>
                <a:spcPts val="0"/>
              </a:spcAft>
              <a:buSzPts val="1100"/>
              <a:buChar char="●"/>
            </a:pPr>
            <a:r>
              <a:rPr lang="en"/>
              <a:t>Nearly 83,000 seniors are projected to be living alone by 2030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Cargivers (210,000 total – inclusive of all types of caregivers) </a:t>
            </a:r>
            <a:endParaRPr/>
          </a:p>
          <a:p>
            <a:pPr indent="-298450" lvl="0" marL="457200" rtl="0" algn="l">
              <a:spcBef>
                <a:spcPts val="0"/>
              </a:spcBef>
              <a:spcAft>
                <a:spcPts val="0"/>
              </a:spcAft>
              <a:buSzPts val="1100"/>
              <a:buChar char="●"/>
            </a:pPr>
            <a:r>
              <a:rPr lang="en"/>
              <a:t>Primary </a:t>
            </a:r>
            <a:endParaRPr/>
          </a:p>
          <a:p>
            <a:pPr indent="-298450" lvl="0" marL="457200" rtl="0" algn="l">
              <a:spcBef>
                <a:spcPts val="0"/>
              </a:spcBef>
              <a:spcAft>
                <a:spcPts val="0"/>
              </a:spcAft>
              <a:buSzPts val="1100"/>
              <a:buChar char="●"/>
            </a:pPr>
            <a:r>
              <a:rPr lang="en"/>
              <a:t>Professional </a:t>
            </a:r>
            <a:endParaRPr/>
          </a:p>
          <a:p>
            <a:pPr indent="-298450" lvl="1" marL="914400" rtl="0" algn="l">
              <a:spcBef>
                <a:spcPts val="0"/>
              </a:spcBef>
              <a:spcAft>
                <a:spcPts val="0"/>
              </a:spcAft>
              <a:buSzPts val="1100"/>
              <a:buChar char="○"/>
            </a:pPr>
            <a:r>
              <a:rPr lang="en"/>
              <a:t>In 2017, about 8,300 staff were providing direct care in long-term care (LTC) settings such as nursing homes and home- or centre-based services (MOH)</a:t>
            </a:r>
            <a:endParaRPr/>
          </a:p>
          <a:p>
            <a:pPr indent="-298450" lvl="1" marL="914400" rtl="0" algn="l">
              <a:spcBef>
                <a:spcPts val="0"/>
              </a:spcBef>
              <a:spcAft>
                <a:spcPts val="0"/>
              </a:spcAft>
              <a:buSzPts val="1100"/>
              <a:buChar char="○"/>
            </a:pPr>
            <a:r>
              <a:rPr lang="en"/>
              <a:t>The broader community care workforce, including nurses, allied health professionals, and support staff, grew from 16,500 (2020) to over 18,000 by 2024 (The Straits Times)</a:t>
            </a:r>
            <a:endParaRPr/>
          </a:p>
          <a:p>
            <a:pPr indent="-298450" lvl="1" marL="914400" rtl="0" algn="l">
              <a:spcBef>
                <a:spcPts val="0"/>
              </a:spcBef>
              <a:spcAft>
                <a:spcPts val="0"/>
              </a:spcAft>
              <a:buSzPts val="1100"/>
              <a:buChar char="○"/>
            </a:pPr>
            <a:r>
              <a:rPr lang="en"/>
              <a:t>As of recently, there are about 1,600 live-in professional caregivers in Singapore, more than double the 700 in 2018 (CNA, Demand for professional caregiving help for the elderly on the rise). </a:t>
            </a:r>
            <a:endParaRPr/>
          </a:p>
          <a:p>
            <a:pPr indent="-298450" lvl="0" marL="457200" rtl="0" algn="l">
              <a:spcBef>
                <a:spcPts val="0"/>
              </a:spcBef>
              <a:spcAft>
                <a:spcPts val="0"/>
              </a:spcAft>
              <a:buSzPts val="1100"/>
              <a:buChar char="●"/>
            </a:pPr>
            <a:r>
              <a:rPr lang="en"/>
              <a:t>Respite / Interim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26110c35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26110c35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273bacd29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273bacd29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26110c35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f26110c35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26110c3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f26110c3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Blank Header">
  <p:cSld name="BLANK_1">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nvSpPr>
        <p:spPr>
          <a:xfrm>
            <a:off x="229989" y="4813313"/>
            <a:ext cx="1551300" cy="13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800">
                <a:solidFill>
                  <a:srgbClr val="00B14F"/>
                </a:solidFill>
                <a:latin typeface="Source Sans Pro"/>
                <a:ea typeface="Source Sans Pro"/>
                <a:cs typeface="Source Sans Pro"/>
                <a:sym typeface="Source Sans Pro"/>
              </a:rPr>
              <a:t>Confidential  |  For Internal Use Only</a:t>
            </a:r>
            <a:endParaRPr sz="800">
              <a:solidFill>
                <a:srgbClr val="00B14F"/>
              </a:solidFill>
              <a:latin typeface="Source Sans Pro"/>
              <a:ea typeface="Source Sans Pro"/>
              <a:cs typeface="Source Sans Pro"/>
              <a:sym typeface="Source Sans Pro"/>
            </a:endParaRPr>
          </a:p>
        </p:txBody>
      </p:sp>
      <p:sp>
        <p:nvSpPr>
          <p:cNvPr id="52" name="Google Shape;52;p13"/>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rmAutofit fontScale="92500" lnSpcReduction="20000"/>
          </a:bodyPr>
          <a:lstStyle>
            <a:lvl1pPr indent="0" lvl="0"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pic>
        <p:nvPicPr>
          <p:cNvPr id="53" name="Google Shape;53;p13"/>
          <p:cNvPicPr preferRelativeResize="0"/>
          <p:nvPr/>
        </p:nvPicPr>
        <p:blipFill rotWithShape="1">
          <a:blip r:embed="rId2">
            <a:alphaModFix/>
          </a:blip>
          <a:srcRect b="0" l="1957" r="1620" t="0"/>
          <a:stretch/>
        </p:blipFill>
        <p:spPr>
          <a:xfrm>
            <a:off x="229988" y="4511231"/>
            <a:ext cx="568765" cy="235930"/>
          </a:xfrm>
          <a:prstGeom prst="rect">
            <a:avLst/>
          </a:prstGeom>
          <a:noFill/>
          <a:ln>
            <a:noFill/>
          </a:ln>
        </p:spPr>
      </p:pic>
      <p:sp>
        <p:nvSpPr>
          <p:cNvPr id="54" name="Google Shape;54;p13"/>
          <p:cNvSpPr/>
          <p:nvPr/>
        </p:nvSpPr>
        <p:spPr>
          <a:xfrm>
            <a:off x="232031" y="219019"/>
            <a:ext cx="8684100" cy="5784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latin typeface="Source Sans Pro"/>
              <a:ea typeface="Source Sans Pro"/>
              <a:cs typeface="Source Sans Pro"/>
              <a:sym typeface="Source Sans Pro"/>
            </a:endParaRPr>
          </a:p>
        </p:txBody>
      </p:sp>
      <p:sp>
        <p:nvSpPr>
          <p:cNvPr id="55" name="Google Shape;55;p13"/>
          <p:cNvSpPr txBox="1"/>
          <p:nvPr>
            <p:ph type="title"/>
          </p:nvPr>
        </p:nvSpPr>
        <p:spPr>
          <a:xfrm>
            <a:off x="229988" y="415219"/>
            <a:ext cx="8684100" cy="381900"/>
          </a:xfrm>
          <a:prstGeom prst="rect">
            <a:avLst/>
          </a:prstGeom>
        </p:spPr>
        <p:txBody>
          <a:bodyPr anchorCtr="0" anchor="t" bIns="0" lIns="0" spcFirstLastPara="1" rIns="0" wrap="square" tIns="0">
            <a:normAutofit/>
          </a:bodyPr>
          <a:lstStyle>
            <a:lvl1pPr indent="0" lvl="0" marL="0" marR="0" algn="l">
              <a:lnSpc>
                <a:spcPct val="90000"/>
              </a:lnSpc>
              <a:spcBef>
                <a:spcPts val="0"/>
              </a:spcBef>
              <a:spcAft>
                <a:spcPts val="0"/>
              </a:spcAft>
              <a:buNone/>
              <a:defRPr>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56" name="Google Shape;56;p13"/>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a:bodyPr>
          <a:lstStyle>
            <a:lvl1pPr indent="0" lvl="0" marL="0" marR="0" algn="l">
              <a:lnSpc>
                <a:spcPct val="100000"/>
              </a:lnSpc>
              <a:spcBef>
                <a:spcPts val="0"/>
              </a:spcBef>
              <a:spcAft>
                <a:spcPts val="0"/>
              </a:spcAft>
              <a:buNone/>
              <a:defRPr sz="800">
                <a:solidFill>
                  <a:srgbClr val="00B14F"/>
                </a:solidFill>
                <a:latin typeface="Source Sans Pro"/>
                <a:ea typeface="Source Sans Pro"/>
                <a:cs typeface="Source Sans Pro"/>
                <a:sym typeface="Source Sans Pro"/>
              </a:defRPr>
            </a:lvl1pPr>
            <a:lvl2pPr lvl="1">
              <a:spcBef>
                <a:spcPts val="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Tree>
  </p:cSld>
  <p:clrMapOvr>
    <a:masterClrMapping/>
  </p:clrMapOvr>
  <p:extLst>
    <p:ext uri="{DCECCB84-F9BA-43D5-87BE-67443E8EF086}">
      <p15:sldGuideLst>
        <p15:guide id="1" orient="horz" pos="502">
          <p15:clr>
            <a:srgbClr val="FA7B17"/>
          </p15:clr>
        </p15:guide>
        <p15:guide id="2" pos="145">
          <p15:clr>
            <a:srgbClr val="FA7B17"/>
          </p15:clr>
        </p15:guide>
        <p15:guide id="3" pos="5615">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accent2"/>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1977469" y="342919"/>
            <a:ext cx="5763300" cy="2232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FFFFFF"/>
              </a:buClr>
              <a:buSzPts val="1500"/>
              <a:buNone/>
              <a:defRPr b="0" i="0" sz="1500" u="none" cap="none" strike="noStrike">
                <a:solidFill>
                  <a:srgbClr val="FFFFFF"/>
                </a:solidFill>
              </a:defRPr>
            </a:lvl1pPr>
            <a:lvl2pPr lvl="1">
              <a:spcBef>
                <a:spcPts val="0"/>
              </a:spcBef>
              <a:spcAft>
                <a:spcPts val="0"/>
              </a:spcAft>
              <a:buClr>
                <a:srgbClr val="FFFFFF"/>
              </a:buClr>
              <a:buSzPts val="1500"/>
              <a:buNone/>
              <a:defRPr sz="1500">
                <a:solidFill>
                  <a:srgbClr val="FFFFFF"/>
                </a:solidFill>
              </a:defRPr>
            </a:lvl2pPr>
            <a:lvl3pPr lvl="2">
              <a:spcBef>
                <a:spcPts val="0"/>
              </a:spcBef>
              <a:spcAft>
                <a:spcPts val="0"/>
              </a:spcAft>
              <a:buClr>
                <a:srgbClr val="FFFFFF"/>
              </a:buClr>
              <a:buSzPts val="1500"/>
              <a:buNone/>
              <a:defRPr sz="1500">
                <a:solidFill>
                  <a:srgbClr val="FFFFFF"/>
                </a:solidFill>
              </a:defRPr>
            </a:lvl3pPr>
            <a:lvl4pPr lvl="3">
              <a:spcBef>
                <a:spcPts val="0"/>
              </a:spcBef>
              <a:spcAft>
                <a:spcPts val="0"/>
              </a:spcAft>
              <a:buClr>
                <a:srgbClr val="FFFFFF"/>
              </a:buClr>
              <a:buSzPts val="1500"/>
              <a:buNone/>
              <a:defRPr sz="1500">
                <a:solidFill>
                  <a:srgbClr val="FFFFFF"/>
                </a:solidFill>
              </a:defRPr>
            </a:lvl4pPr>
            <a:lvl5pPr lvl="4">
              <a:spcBef>
                <a:spcPts val="0"/>
              </a:spcBef>
              <a:spcAft>
                <a:spcPts val="0"/>
              </a:spcAft>
              <a:buClr>
                <a:srgbClr val="FFFFFF"/>
              </a:buClr>
              <a:buSzPts val="1500"/>
              <a:buNone/>
              <a:defRPr sz="1500">
                <a:solidFill>
                  <a:srgbClr val="FFFFFF"/>
                </a:solidFill>
              </a:defRPr>
            </a:lvl5pPr>
            <a:lvl6pPr lvl="5">
              <a:spcBef>
                <a:spcPts val="0"/>
              </a:spcBef>
              <a:spcAft>
                <a:spcPts val="0"/>
              </a:spcAft>
              <a:buClr>
                <a:srgbClr val="FFFFFF"/>
              </a:buClr>
              <a:buSzPts val="1500"/>
              <a:buNone/>
              <a:defRPr sz="1500">
                <a:solidFill>
                  <a:srgbClr val="FFFFFF"/>
                </a:solidFill>
              </a:defRPr>
            </a:lvl6pPr>
            <a:lvl7pPr lvl="6">
              <a:spcBef>
                <a:spcPts val="0"/>
              </a:spcBef>
              <a:spcAft>
                <a:spcPts val="0"/>
              </a:spcAft>
              <a:buClr>
                <a:srgbClr val="FFFFFF"/>
              </a:buClr>
              <a:buSzPts val="1500"/>
              <a:buNone/>
              <a:defRPr sz="1500">
                <a:solidFill>
                  <a:srgbClr val="FFFFFF"/>
                </a:solidFill>
              </a:defRPr>
            </a:lvl7pPr>
            <a:lvl8pPr lvl="7">
              <a:spcBef>
                <a:spcPts val="0"/>
              </a:spcBef>
              <a:spcAft>
                <a:spcPts val="0"/>
              </a:spcAft>
              <a:buClr>
                <a:srgbClr val="FFFFFF"/>
              </a:buClr>
              <a:buSzPts val="1500"/>
              <a:buNone/>
              <a:defRPr sz="1500">
                <a:solidFill>
                  <a:srgbClr val="FFFFFF"/>
                </a:solidFill>
              </a:defRPr>
            </a:lvl8pPr>
            <a:lvl9pPr lvl="8">
              <a:spcBef>
                <a:spcPts val="0"/>
              </a:spcBef>
              <a:spcAft>
                <a:spcPts val="0"/>
              </a:spcAft>
              <a:buClr>
                <a:srgbClr val="FFFFFF"/>
              </a:buClr>
              <a:buSzPts val="1500"/>
              <a:buNone/>
              <a:defRPr sz="1500">
                <a:solidFill>
                  <a:srgbClr val="FFFFFF"/>
                </a:solidFill>
              </a:defRPr>
            </a:lvl9pPr>
          </a:lstStyle>
          <a:p/>
        </p:txBody>
      </p:sp>
      <p:sp>
        <p:nvSpPr>
          <p:cNvPr id="64" name="Google Shape;64;p15"/>
          <p:cNvSpPr/>
          <p:nvPr/>
        </p:nvSpPr>
        <p:spPr>
          <a:xfrm>
            <a:off x="0" y="0"/>
            <a:ext cx="1766400" cy="5143500"/>
          </a:xfrm>
          <a:prstGeom prst="rect">
            <a:avLst/>
          </a:prstGeom>
          <a:solidFill>
            <a:srgbClr val="00685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65" name="Google Shape;65;p15"/>
          <p:cNvSpPr/>
          <p:nvPr/>
        </p:nvSpPr>
        <p:spPr>
          <a:xfrm>
            <a:off x="9201150" y="0"/>
            <a:ext cx="699600" cy="699600"/>
          </a:xfrm>
          <a:prstGeom prst="ellipse">
            <a:avLst/>
          </a:prstGeom>
          <a:solidFill>
            <a:srgbClr val="00B14F"/>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Source Sans Pro"/>
                <a:ea typeface="Source Sans Pro"/>
                <a:cs typeface="Source Sans Pro"/>
                <a:sym typeface="Source Sans Pro"/>
              </a:rPr>
              <a:t>#00b14f</a:t>
            </a:r>
            <a:endParaRPr b="1" sz="900">
              <a:solidFill>
                <a:srgbClr val="FFFFFF"/>
              </a:solidFill>
              <a:latin typeface="Source Sans Pro"/>
              <a:ea typeface="Source Sans Pro"/>
              <a:cs typeface="Source Sans Pro"/>
              <a:sym typeface="Source Sans Pro"/>
            </a:endParaRPr>
          </a:p>
        </p:txBody>
      </p:sp>
      <p:sp>
        <p:nvSpPr>
          <p:cNvPr id="66" name="Google Shape;66;p15"/>
          <p:cNvSpPr/>
          <p:nvPr/>
        </p:nvSpPr>
        <p:spPr>
          <a:xfrm>
            <a:off x="9201150" y="756675"/>
            <a:ext cx="699600" cy="699600"/>
          </a:xfrm>
          <a:prstGeom prst="ellipse">
            <a:avLst/>
          </a:prstGeom>
          <a:solidFill>
            <a:srgbClr val="006850"/>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Source Sans Pro"/>
                <a:ea typeface="Source Sans Pro"/>
                <a:cs typeface="Source Sans Pro"/>
                <a:sym typeface="Source Sans Pro"/>
              </a:rPr>
              <a:t>#006850</a:t>
            </a:r>
            <a:endParaRPr b="1" sz="900">
              <a:latin typeface="Source Sans Pro"/>
              <a:ea typeface="Source Sans Pro"/>
              <a:cs typeface="Source Sans Pro"/>
              <a:sym typeface="Source Sans Pro"/>
            </a:endParaRPr>
          </a:p>
        </p:txBody>
      </p:sp>
      <p:sp>
        <p:nvSpPr>
          <p:cNvPr id="67" name="Google Shape;67;p15"/>
          <p:cNvSpPr/>
          <p:nvPr/>
        </p:nvSpPr>
        <p:spPr>
          <a:xfrm>
            <a:off x="9201150" y="1513350"/>
            <a:ext cx="699600" cy="699600"/>
          </a:xfrm>
          <a:prstGeom prst="ellipse">
            <a:avLst/>
          </a:prstGeom>
          <a:solidFill>
            <a:srgbClr val="95E66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Source Sans Pro"/>
                <a:ea typeface="Source Sans Pro"/>
                <a:cs typeface="Source Sans Pro"/>
                <a:sym typeface="Source Sans Pro"/>
              </a:rPr>
              <a:t>#95e662</a:t>
            </a:r>
            <a:endParaRPr b="1" sz="900">
              <a:latin typeface="Source Sans Pro"/>
              <a:ea typeface="Source Sans Pro"/>
              <a:cs typeface="Source Sans Pro"/>
              <a:sym typeface="Source Sans Pro"/>
            </a:endParaRPr>
          </a:p>
        </p:txBody>
      </p:sp>
      <p:sp>
        <p:nvSpPr>
          <p:cNvPr id="68" name="Google Shape;68;p15"/>
          <p:cNvSpPr/>
          <p:nvPr/>
        </p:nvSpPr>
        <p:spPr>
          <a:xfrm>
            <a:off x="9201150" y="2270025"/>
            <a:ext cx="699600" cy="699600"/>
          </a:xfrm>
          <a:prstGeom prst="ellipse">
            <a:avLst/>
          </a:prstGeom>
          <a:solidFill>
            <a:srgbClr val="D6EF5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6850"/>
                </a:solidFill>
                <a:latin typeface="Source Sans Pro"/>
                <a:ea typeface="Source Sans Pro"/>
                <a:cs typeface="Source Sans Pro"/>
                <a:sym typeface="Source Sans Pro"/>
              </a:rPr>
              <a:t>#d6ef52</a:t>
            </a:r>
            <a:endParaRPr b="1" sz="900">
              <a:solidFill>
                <a:srgbClr val="006850"/>
              </a:solidFill>
              <a:latin typeface="Source Sans Pro"/>
              <a:ea typeface="Source Sans Pro"/>
              <a:cs typeface="Source Sans Pro"/>
              <a:sym typeface="Source Sans Pro"/>
            </a:endParaRPr>
          </a:p>
        </p:txBody>
      </p:sp>
      <p:sp>
        <p:nvSpPr>
          <p:cNvPr id="69" name="Google Shape;69;p15"/>
          <p:cNvSpPr txBox="1"/>
          <p:nvPr/>
        </p:nvSpPr>
        <p:spPr>
          <a:xfrm>
            <a:off x="384938" y="4699013"/>
            <a:ext cx="827700" cy="1392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700">
                <a:solidFill>
                  <a:srgbClr val="FFFFFF"/>
                </a:solidFill>
                <a:latin typeface="Source Sans Pro"/>
                <a:ea typeface="Source Sans Pro"/>
                <a:cs typeface="Source Sans Pro"/>
                <a:sym typeface="Source Sans Pro"/>
              </a:rPr>
              <a:t>Confidential </a:t>
            </a:r>
            <a:endParaRPr sz="7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700">
                <a:solidFill>
                  <a:srgbClr val="FFFFFF"/>
                </a:solidFill>
                <a:latin typeface="Source Sans Pro"/>
                <a:ea typeface="Source Sans Pro"/>
                <a:cs typeface="Source Sans Pro"/>
                <a:sym typeface="Source Sans Pro"/>
              </a:rPr>
              <a:t>For Internal Use Only</a:t>
            </a:r>
            <a:endParaRPr sz="700">
              <a:solidFill>
                <a:srgbClr val="FFFFFF"/>
              </a:solidFill>
              <a:latin typeface="Source Sans Pro"/>
              <a:ea typeface="Source Sans Pro"/>
              <a:cs typeface="Source Sans Pro"/>
              <a:sym typeface="Source Sans Pro"/>
            </a:endParaRPr>
          </a:p>
        </p:txBody>
      </p:sp>
      <p:sp>
        <p:nvSpPr>
          <p:cNvPr id="70" name="Google Shape;70;p15"/>
          <p:cNvSpPr txBox="1"/>
          <p:nvPr>
            <p:ph idx="2" type="title"/>
          </p:nvPr>
        </p:nvSpPr>
        <p:spPr>
          <a:xfrm>
            <a:off x="1977469" y="680419"/>
            <a:ext cx="5763300" cy="12975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FFFFFF"/>
              </a:buClr>
              <a:buSzPts val="2400"/>
              <a:buNone/>
              <a:defRPr sz="4800">
                <a:solidFill>
                  <a:srgbClr val="FFFFFF"/>
                </a:solidFill>
              </a:defRPr>
            </a:lvl1pPr>
            <a:lvl2pPr lvl="1">
              <a:spcBef>
                <a:spcPts val="0"/>
              </a:spcBef>
              <a:spcAft>
                <a:spcPts val="0"/>
              </a:spcAft>
              <a:buClr>
                <a:srgbClr val="FFFFFF"/>
              </a:buClr>
              <a:buSzPts val="1100"/>
              <a:buNone/>
              <a:defRPr sz="1400">
                <a:solidFill>
                  <a:srgbClr val="FFFFFF"/>
                </a:solidFill>
              </a:defRPr>
            </a:lvl2pPr>
            <a:lvl3pPr lvl="2">
              <a:spcBef>
                <a:spcPts val="0"/>
              </a:spcBef>
              <a:spcAft>
                <a:spcPts val="0"/>
              </a:spcAft>
              <a:buClr>
                <a:srgbClr val="FFFFFF"/>
              </a:buClr>
              <a:buSzPts val="1100"/>
              <a:buNone/>
              <a:defRPr sz="1400">
                <a:solidFill>
                  <a:srgbClr val="FFFFFF"/>
                </a:solidFill>
              </a:defRPr>
            </a:lvl3pPr>
            <a:lvl4pPr lvl="3">
              <a:spcBef>
                <a:spcPts val="0"/>
              </a:spcBef>
              <a:spcAft>
                <a:spcPts val="0"/>
              </a:spcAft>
              <a:buClr>
                <a:srgbClr val="FFFFFF"/>
              </a:buClr>
              <a:buSzPts val="1100"/>
              <a:buNone/>
              <a:defRPr sz="1400">
                <a:solidFill>
                  <a:srgbClr val="FFFFFF"/>
                </a:solidFill>
              </a:defRPr>
            </a:lvl4pPr>
            <a:lvl5pPr lvl="4">
              <a:spcBef>
                <a:spcPts val="0"/>
              </a:spcBef>
              <a:spcAft>
                <a:spcPts val="0"/>
              </a:spcAft>
              <a:buClr>
                <a:srgbClr val="FFFFFF"/>
              </a:buClr>
              <a:buSzPts val="1100"/>
              <a:buNone/>
              <a:defRPr sz="1400">
                <a:solidFill>
                  <a:srgbClr val="FFFFFF"/>
                </a:solidFill>
              </a:defRPr>
            </a:lvl5pPr>
            <a:lvl6pPr lvl="5">
              <a:spcBef>
                <a:spcPts val="0"/>
              </a:spcBef>
              <a:spcAft>
                <a:spcPts val="0"/>
              </a:spcAft>
              <a:buClr>
                <a:srgbClr val="FFFFFF"/>
              </a:buClr>
              <a:buSzPts val="1100"/>
              <a:buNone/>
              <a:defRPr sz="1400">
                <a:solidFill>
                  <a:srgbClr val="FFFFFF"/>
                </a:solidFill>
              </a:defRPr>
            </a:lvl6pPr>
            <a:lvl7pPr lvl="6">
              <a:spcBef>
                <a:spcPts val="0"/>
              </a:spcBef>
              <a:spcAft>
                <a:spcPts val="0"/>
              </a:spcAft>
              <a:buClr>
                <a:srgbClr val="FFFFFF"/>
              </a:buClr>
              <a:buSzPts val="1100"/>
              <a:buNone/>
              <a:defRPr sz="1400">
                <a:solidFill>
                  <a:srgbClr val="FFFFFF"/>
                </a:solidFill>
              </a:defRPr>
            </a:lvl7pPr>
            <a:lvl8pPr lvl="7">
              <a:spcBef>
                <a:spcPts val="0"/>
              </a:spcBef>
              <a:spcAft>
                <a:spcPts val="0"/>
              </a:spcAft>
              <a:buClr>
                <a:srgbClr val="FFFFFF"/>
              </a:buClr>
              <a:buSzPts val="1100"/>
              <a:buNone/>
              <a:defRPr sz="1400">
                <a:solidFill>
                  <a:srgbClr val="FFFFFF"/>
                </a:solidFill>
              </a:defRPr>
            </a:lvl8pPr>
            <a:lvl9pPr lvl="8">
              <a:spcBef>
                <a:spcPts val="0"/>
              </a:spcBef>
              <a:spcAft>
                <a:spcPts val="0"/>
              </a:spcAft>
              <a:buClr>
                <a:srgbClr val="FFFFFF"/>
              </a:buClr>
              <a:buSzPts val="1100"/>
              <a:buNone/>
              <a:defRPr sz="1400">
                <a:solidFill>
                  <a:srgbClr val="FFFFFF"/>
                </a:solidFill>
              </a:defRPr>
            </a:lvl9pPr>
          </a:lstStyle>
          <a:p/>
        </p:txBody>
      </p:sp>
      <p:sp>
        <p:nvSpPr>
          <p:cNvPr id="71" name="Google Shape;71;p15"/>
          <p:cNvSpPr txBox="1"/>
          <p:nvPr>
            <p:ph idx="3" type="title"/>
          </p:nvPr>
        </p:nvSpPr>
        <p:spPr>
          <a:xfrm>
            <a:off x="1977469" y="4614863"/>
            <a:ext cx="5763300" cy="223200"/>
          </a:xfrm>
          <a:prstGeom prst="rect">
            <a:avLst/>
          </a:prstGeom>
          <a:noFill/>
          <a:ln>
            <a:noFill/>
          </a:ln>
        </p:spPr>
        <p:txBody>
          <a:bodyPr anchorCtr="0" anchor="b" bIns="0" lIns="0" spcFirstLastPara="1" rIns="0" wrap="square" tIns="0">
            <a:noAutofit/>
          </a:bodyPr>
          <a:lstStyle>
            <a:lvl1pPr lvl="0" marR="0" algn="l">
              <a:lnSpc>
                <a:spcPct val="90000"/>
              </a:lnSpc>
              <a:spcBef>
                <a:spcPts val="0"/>
              </a:spcBef>
              <a:spcAft>
                <a:spcPts val="0"/>
              </a:spcAft>
              <a:buClr>
                <a:srgbClr val="FFFFFF"/>
              </a:buClr>
              <a:buSzPts val="1100"/>
              <a:buNone/>
              <a:defRPr b="0" i="0" sz="1100" u="none" cap="none" strike="noStrike">
                <a:solidFill>
                  <a:srgbClr val="FFFFFF"/>
                </a:solidFill>
              </a:defRPr>
            </a:lvl1pPr>
            <a:lvl2pPr lvl="1">
              <a:spcBef>
                <a:spcPts val="0"/>
              </a:spcBef>
              <a:spcAft>
                <a:spcPts val="0"/>
              </a:spcAft>
              <a:buClr>
                <a:srgbClr val="FFFFFF"/>
              </a:buClr>
              <a:buSzPts val="1100"/>
              <a:buNone/>
              <a:defRPr sz="1100">
                <a:solidFill>
                  <a:srgbClr val="FFFFFF"/>
                </a:solidFill>
              </a:defRPr>
            </a:lvl2pPr>
            <a:lvl3pPr lvl="2">
              <a:spcBef>
                <a:spcPts val="0"/>
              </a:spcBef>
              <a:spcAft>
                <a:spcPts val="0"/>
              </a:spcAft>
              <a:buClr>
                <a:srgbClr val="FFFFFF"/>
              </a:buClr>
              <a:buSzPts val="1100"/>
              <a:buNone/>
              <a:defRPr sz="1100">
                <a:solidFill>
                  <a:srgbClr val="FFFFFF"/>
                </a:solidFill>
              </a:defRPr>
            </a:lvl3pPr>
            <a:lvl4pPr lvl="3">
              <a:spcBef>
                <a:spcPts val="0"/>
              </a:spcBef>
              <a:spcAft>
                <a:spcPts val="0"/>
              </a:spcAft>
              <a:buClr>
                <a:srgbClr val="FFFFFF"/>
              </a:buClr>
              <a:buSzPts val="1100"/>
              <a:buNone/>
              <a:defRPr sz="1100">
                <a:solidFill>
                  <a:srgbClr val="FFFFFF"/>
                </a:solidFill>
              </a:defRPr>
            </a:lvl4pPr>
            <a:lvl5pPr lvl="4">
              <a:spcBef>
                <a:spcPts val="0"/>
              </a:spcBef>
              <a:spcAft>
                <a:spcPts val="0"/>
              </a:spcAft>
              <a:buClr>
                <a:srgbClr val="FFFFFF"/>
              </a:buClr>
              <a:buSzPts val="1100"/>
              <a:buNone/>
              <a:defRPr sz="1100">
                <a:solidFill>
                  <a:srgbClr val="FFFFFF"/>
                </a:solidFill>
              </a:defRPr>
            </a:lvl5pPr>
            <a:lvl6pPr lvl="5">
              <a:spcBef>
                <a:spcPts val="0"/>
              </a:spcBef>
              <a:spcAft>
                <a:spcPts val="0"/>
              </a:spcAft>
              <a:buClr>
                <a:srgbClr val="FFFFFF"/>
              </a:buClr>
              <a:buSzPts val="1100"/>
              <a:buNone/>
              <a:defRPr sz="1100">
                <a:solidFill>
                  <a:srgbClr val="FFFFFF"/>
                </a:solidFill>
              </a:defRPr>
            </a:lvl6pPr>
            <a:lvl7pPr lvl="6">
              <a:spcBef>
                <a:spcPts val="0"/>
              </a:spcBef>
              <a:spcAft>
                <a:spcPts val="0"/>
              </a:spcAft>
              <a:buClr>
                <a:srgbClr val="FFFFFF"/>
              </a:buClr>
              <a:buSzPts val="1100"/>
              <a:buNone/>
              <a:defRPr sz="1100">
                <a:solidFill>
                  <a:srgbClr val="FFFFFF"/>
                </a:solidFill>
              </a:defRPr>
            </a:lvl7pPr>
            <a:lvl8pPr lvl="7">
              <a:spcBef>
                <a:spcPts val="0"/>
              </a:spcBef>
              <a:spcAft>
                <a:spcPts val="0"/>
              </a:spcAft>
              <a:buClr>
                <a:srgbClr val="FFFFFF"/>
              </a:buClr>
              <a:buSzPts val="1100"/>
              <a:buNone/>
              <a:defRPr sz="1100">
                <a:solidFill>
                  <a:srgbClr val="FFFFFF"/>
                </a:solidFill>
              </a:defRPr>
            </a:lvl8pPr>
            <a:lvl9pPr lvl="8">
              <a:spcBef>
                <a:spcPts val="0"/>
              </a:spcBef>
              <a:spcAft>
                <a:spcPts val="0"/>
              </a:spcAft>
              <a:buClr>
                <a:srgbClr val="FFFFFF"/>
              </a:buClr>
              <a:buSzPts val="1100"/>
              <a:buNone/>
              <a:defRPr sz="1100">
                <a:solidFill>
                  <a:srgbClr val="FFFFFF"/>
                </a:solidFill>
              </a:defRPr>
            </a:lvl9pPr>
          </a:lstStyle>
          <a:p/>
        </p:txBody>
      </p:sp>
      <p:pic>
        <p:nvPicPr>
          <p:cNvPr id="72" name="Google Shape;72;p15"/>
          <p:cNvPicPr preferRelativeResize="0"/>
          <p:nvPr/>
        </p:nvPicPr>
        <p:blipFill>
          <a:blip r:embed="rId2">
            <a:alphaModFix/>
          </a:blip>
          <a:stretch>
            <a:fillRect/>
          </a:stretch>
        </p:blipFill>
        <p:spPr>
          <a:xfrm>
            <a:off x="384938" y="342919"/>
            <a:ext cx="827550" cy="302517"/>
          </a:xfrm>
          <a:prstGeom prst="rect">
            <a:avLst/>
          </a:prstGeom>
          <a:noFill/>
          <a:ln>
            <a:noFill/>
          </a:ln>
        </p:spPr>
      </p:pic>
    </p:spTree>
  </p:cSld>
  <p:clrMapOvr>
    <a:masterClrMapping/>
  </p:clrMapOvr>
  <p:extLst>
    <p:ext uri="{DCECCB84-F9BA-43D5-87BE-67443E8EF086}">
      <p15:sldGuideLst>
        <p15:guide id="1" pos="1091">
          <p15:clr>
            <a:srgbClr val="FA7B17"/>
          </p15:clr>
        </p15:guide>
        <p15:guide id="2" orient="horz" pos="2907">
          <p15:clr>
            <a:srgbClr val="FA7B17"/>
          </p15:clr>
        </p15:guide>
        <p15:guide id="3" pos="24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4 - Sidebar &amp; Content">
  <p:cSld name="OBJECT_1">
    <p:bg>
      <p:bgPr>
        <a:solidFill>
          <a:srgbClr val="D6EF52"/>
        </a:solidFill>
      </p:bgPr>
    </p:bg>
    <p:spTree>
      <p:nvGrpSpPr>
        <p:cNvPr id="73" name="Shape 73"/>
        <p:cNvGrpSpPr/>
        <p:nvPr/>
      </p:nvGrpSpPr>
      <p:grpSpPr>
        <a:xfrm>
          <a:off x="0" y="0"/>
          <a:ext cx="0" cy="0"/>
          <a:chOff x="0" y="0"/>
          <a:chExt cx="0" cy="0"/>
        </a:xfrm>
      </p:grpSpPr>
      <p:sp>
        <p:nvSpPr>
          <p:cNvPr id="74" name="Google Shape;74;p16"/>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75" name="Google Shape;75;p16"/>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76" name="Google Shape;76;p16"/>
          <p:cNvSpPr txBox="1"/>
          <p:nvPr>
            <p:ph idx="1" type="subTitle"/>
          </p:nvPr>
        </p:nvSpPr>
        <p:spPr>
          <a:xfrm>
            <a:off x="2613375" y="219019"/>
            <a:ext cx="6300600" cy="2739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b="1" sz="1800">
                <a:solidFill>
                  <a:srgbClr val="00B14F"/>
                </a:solidFill>
              </a:defRPr>
            </a:lvl1pPr>
            <a:lvl2pPr lvl="1">
              <a:spcBef>
                <a:spcPts val="800"/>
              </a:spcBef>
              <a:spcAft>
                <a:spcPts val="0"/>
              </a:spcAft>
              <a:buNone/>
              <a:defRPr/>
            </a:lvl2pPr>
            <a:lvl3pPr lvl="2">
              <a:spcBef>
                <a:spcPts val="800"/>
              </a:spcBef>
              <a:spcAft>
                <a:spcPts val="0"/>
              </a:spcAft>
              <a:buNone/>
              <a:defRPr/>
            </a:lvl3pPr>
            <a:lvl4pPr lvl="3">
              <a:spcBef>
                <a:spcPts val="800"/>
              </a:spcBef>
              <a:spcAft>
                <a:spcPts val="0"/>
              </a:spcAft>
              <a:buNone/>
              <a:defRPr/>
            </a:lvl4pPr>
            <a:lvl5pPr lvl="4">
              <a:spcBef>
                <a:spcPts val="800"/>
              </a:spcBef>
              <a:spcAft>
                <a:spcPts val="0"/>
              </a:spcAft>
              <a:buNone/>
              <a:defRPr/>
            </a:lvl5pPr>
            <a:lvl6pPr lvl="5">
              <a:spcBef>
                <a:spcPts val="800"/>
              </a:spcBef>
              <a:spcAft>
                <a:spcPts val="0"/>
              </a:spcAft>
              <a:buNone/>
              <a:defRPr/>
            </a:lvl6pPr>
            <a:lvl7pPr lvl="6">
              <a:spcBef>
                <a:spcPts val="800"/>
              </a:spcBef>
              <a:spcAft>
                <a:spcPts val="0"/>
              </a:spcAft>
              <a:buNone/>
              <a:defRPr/>
            </a:lvl7pPr>
            <a:lvl8pPr lvl="7">
              <a:spcBef>
                <a:spcPts val="800"/>
              </a:spcBef>
              <a:spcAft>
                <a:spcPts val="0"/>
              </a:spcAft>
              <a:buNone/>
              <a:defRPr/>
            </a:lvl8pPr>
            <a:lvl9pPr lvl="8">
              <a:spcBef>
                <a:spcPts val="800"/>
              </a:spcBef>
              <a:spcAft>
                <a:spcPts val="0"/>
              </a:spcAft>
              <a:buNone/>
              <a:defRPr/>
            </a:lvl9pPr>
          </a:lstStyle>
          <a:p/>
        </p:txBody>
      </p:sp>
      <p:sp>
        <p:nvSpPr>
          <p:cNvPr id="77" name="Google Shape;77;p16"/>
          <p:cNvSpPr txBox="1"/>
          <p:nvPr>
            <p:ph idx="2" type="body"/>
          </p:nvPr>
        </p:nvSpPr>
        <p:spPr>
          <a:xfrm>
            <a:off x="2613375" y="586669"/>
            <a:ext cx="6300600" cy="32634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78" name="Google Shape;78;p16"/>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3 - Sidebar &amp; Content">
  <p:cSld name="OBJECT_1_3">
    <p:bg>
      <p:bgPr>
        <a:solidFill>
          <a:srgbClr val="95E662"/>
        </a:solidFill>
      </p:bgPr>
    </p:bg>
    <p:spTree>
      <p:nvGrpSpPr>
        <p:cNvPr id="79" name="Shape 79"/>
        <p:cNvGrpSpPr/>
        <p:nvPr/>
      </p:nvGrpSpPr>
      <p:grpSpPr>
        <a:xfrm>
          <a:off x="0" y="0"/>
          <a:ext cx="0" cy="0"/>
          <a:chOff x="0" y="0"/>
          <a:chExt cx="0" cy="0"/>
        </a:xfrm>
      </p:grpSpPr>
      <p:sp>
        <p:nvSpPr>
          <p:cNvPr id="80" name="Google Shape;80;p17"/>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81" name="Google Shape;81;p17"/>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006850"/>
                </a:solidFill>
              </a:defRPr>
            </a:lvl1pPr>
            <a:lvl2pPr lvl="1">
              <a:spcBef>
                <a:spcPts val="0"/>
              </a:spcBef>
              <a:spcAft>
                <a:spcPts val="0"/>
              </a:spcAft>
              <a:buNone/>
              <a:defRPr>
                <a:solidFill>
                  <a:srgbClr val="006850"/>
                </a:solidFill>
              </a:defRPr>
            </a:lvl2pPr>
            <a:lvl3pPr lvl="2">
              <a:spcBef>
                <a:spcPts val="0"/>
              </a:spcBef>
              <a:spcAft>
                <a:spcPts val="0"/>
              </a:spcAft>
              <a:buNone/>
              <a:defRPr>
                <a:solidFill>
                  <a:srgbClr val="006850"/>
                </a:solidFill>
              </a:defRPr>
            </a:lvl3pPr>
            <a:lvl4pPr lvl="3">
              <a:spcBef>
                <a:spcPts val="0"/>
              </a:spcBef>
              <a:spcAft>
                <a:spcPts val="0"/>
              </a:spcAft>
              <a:buNone/>
              <a:defRPr>
                <a:solidFill>
                  <a:srgbClr val="006850"/>
                </a:solidFill>
              </a:defRPr>
            </a:lvl4pPr>
            <a:lvl5pPr lvl="4">
              <a:spcBef>
                <a:spcPts val="0"/>
              </a:spcBef>
              <a:spcAft>
                <a:spcPts val="0"/>
              </a:spcAft>
              <a:buNone/>
              <a:defRPr>
                <a:solidFill>
                  <a:srgbClr val="006850"/>
                </a:solidFill>
              </a:defRPr>
            </a:lvl5pPr>
            <a:lvl6pPr lvl="5">
              <a:spcBef>
                <a:spcPts val="0"/>
              </a:spcBef>
              <a:spcAft>
                <a:spcPts val="0"/>
              </a:spcAft>
              <a:buNone/>
              <a:defRPr>
                <a:solidFill>
                  <a:srgbClr val="006850"/>
                </a:solidFill>
              </a:defRPr>
            </a:lvl6pPr>
            <a:lvl7pPr lvl="6">
              <a:spcBef>
                <a:spcPts val="0"/>
              </a:spcBef>
              <a:spcAft>
                <a:spcPts val="0"/>
              </a:spcAft>
              <a:buNone/>
              <a:defRPr>
                <a:solidFill>
                  <a:srgbClr val="006850"/>
                </a:solidFill>
              </a:defRPr>
            </a:lvl7pPr>
            <a:lvl8pPr lvl="7">
              <a:spcBef>
                <a:spcPts val="0"/>
              </a:spcBef>
              <a:spcAft>
                <a:spcPts val="0"/>
              </a:spcAft>
              <a:buNone/>
              <a:defRPr>
                <a:solidFill>
                  <a:srgbClr val="006850"/>
                </a:solidFill>
              </a:defRPr>
            </a:lvl8pPr>
            <a:lvl9pPr lvl="8">
              <a:spcBef>
                <a:spcPts val="0"/>
              </a:spcBef>
              <a:spcAft>
                <a:spcPts val="0"/>
              </a:spcAft>
              <a:buNone/>
              <a:defRPr>
                <a:solidFill>
                  <a:srgbClr val="006850"/>
                </a:solidFill>
              </a:defRPr>
            </a:lvl9pPr>
          </a:lstStyle>
          <a:p/>
        </p:txBody>
      </p:sp>
      <p:sp>
        <p:nvSpPr>
          <p:cNvPr id="82" name="Google Shape;82;p17"/>
          <p:cNvSpPr txBox="1"/>
          <p:nvPr>
            <p:ph idx="1" type="subTitle"/>
          </p:nvPr>
        </p:nvSpPr>
        <p:spPr>
          <a:xfrm>
            <a:off x="2613375" y="219019"/>
            <a:ext cx="6300600" cy="2739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b="1" sz="1800">
                <a:solidFill>
                  <a:srgbClr val="006850"/>
                </a:solidFill>
              </a:defRPr>
            </a:lvl1pPr>
            <a:lvl2pPr lvl="1">
              <a:spcBef>
                <a:spcPts val="800"/>
              </a:spcBef>
              <a:spcAft>
                <a:spcPts val="0"/>
              </a:spcAft>
              <a:buNone/>
              <a:defRPr/>
            </a:lvl2pPr>
            <a:lvl3pPr lvl="2">
              <a:spcBef>
                <a:spcPts val="800"/>
              </a:spcBef>
              <a:spcAft>
                <a:spcPts val="0"/>
              </a:spcAft>
              <a:buNone/>
              <a:defRPr/>
            </a:lvl3pPr>
            <a:lvl4pPr lvl="3">
              <a:spcBef>
                <a:spcPts val="800"/>
              </a:spcBef>
              <a:spcAft>
                <a:spcPts val="0"/>
              </a:spcAft>
              <a:buNone/>
              <a:defRPr/>
            </a:lvl4pPr>
            <a:lvl5pPr lvl="4">
              <a:spcBef>
                <a:spcPts val="800"/>
              </a:spcBef>
              <a:spcAft>
                <a:spcPts val="0"/>
              </a:spcAft>
              <a:buNone/>
              <a:defRPr/>
            </a:lvl5pPr>
            <a:lvl6pPr lvl="5">
              <a:spcBef>
                <a:spcPts val="800"/>
              </a:spcBef>
              <a:spcAft>
                <a:spcPts val="0"/>
              </a:spcAft>
              <a:buNone/>
              <a:defRPr/>
            </a:lvl6pPr>
            <a:lvl7pPr lvl="6">
              <a:spcBef>
                <a:spcPts val="800"/>
              </a:spcBef>
              <a:spcAft>
                <a:spcPts val="0"/>
              </a:spcAft>
              <a:buNone/>
              <a:defRPr/>
            </a:lvl7pPr>
            <a:lvl8pPr lvl="7">
              <a:spcBef>
                <a:spcPts val="800"/>
              </a:spcBef>
              <a:spcAft>
                <a:spcPts val="0"/>
              </a:spcAft>
              <a:buNone/>
              <a:defRPr/>
            </a:lvl8pPr>
            <a:lvl9pPr lvl="8">
              <a:spcBef>
                <a:spcPts val="800"/>
              </a:spcBef>
              <a:spcAft>
                <a:spcPts val="0"/>
              </a:spcAft>
              <a:buNone/>
              <a:defRPr/>
            </a:lvl9pPr>
          </a:lstStyle>
          <a:p/>
        </p:txBody>
      </p:sp>
      <p:sp>
        <p:nvSpPr>
          <p:cNvPr id="83" name="Google Shape;83;p17"/>
          <p:cNvSpPr txBox="1"/>
          <p:nvPr>
            <p:ph idx="2" type="body"/>
          </p:nvPr>
        </p:nvSpPr>
        <p:spPr>
          <a:xfrm>
            <a:off x="2613375" y="586669"/>
            <a:ext cx="6300600" cy="32634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84" name="Google Shape;84;p17"/>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Sidebar &amp; Content">
  <p:cSld name="OBJECT_1_2">
    <p:bg>
      <p:bgPr>
        <a:solidFill>
          <a:srgbClr val="00B14F"/>
        </a:solidFill>
      </p:bgPr>
    </p:bg>
    <p:spTree>
      <p:nvGrpSpPr>
        <p:cNvPr id="85" name="Shape 85"/>
        <p:cNvGrpSpPr/>
        <p:nvPr/>
      </p:nvGrpSpPr>
      <p:grpSpPr>
        <a:xfrm>
          <a:off x="0" y="0"/>
          <a:ext cx="0" cy="0"/>
          <a:chOff x="0" y="0"/>
          <a:chExt cx="0" cy="0"/>
        </a:xfrm>
      </p:grpSpPr>
      <p:sp>
        <p:nvSpPr>
          <p:cNvPr id="86" name="Google Shape;86;p18"/>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87" name="Google Shape;87;p18"/>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FFFFFF"/>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8" name="Google Shape;88;p18"/>
          <p:cNvSpPr txBox="1"/>
          <p:nvPr>
            <p:ph idx="1" type="subTitle"/>
          </p:nvPr>
        </p:nvSpPr>
        <p:spPr>
          <a:xfrm>
            <a:off x="2613375" y="219019"/>
            <a:ext cx="6300600" cy="2739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b="1" sz="1800">
                <a:solidFill>
                  <a:srgbClr val="00B14F"/>
                </a:solidFill>
              </a:defRPr>
            </a:lvl1pPr>
            <a:lvl2pPr lvl="1">
              <a:spcBef>
                <a:spcPts val="800"/>
              </a:spcBef>
              <a:spcAft>
                <a:spcPts val="0"/>
              </a:spcAft>
              <a:buNone/>
              <a:defRPr/>
            </a:lvl2pPr>
            <a:lvl3pPr lvl="2">
              <a:spcBef>
                <a:spcPts val="800"/>
              </a:spcBef>
              <a:spcAft>
                <a:spcPts val="0"/>
              </a:spcAft>
              <a:buNone/>
              <a:defRPr/>
            </a:lvl3pPr>
            <a:lvl4pPr lvl="3">
              <a:spcBef>
                <a:spcPts val="800"/>
              </a:spcBef>
              <a:spcAft>
                <a:spcPts val="0"/>
              </a:spcAft>
              <a:buNone/>
              <a:defRPr/>
            </a:lvl4pPr>
            <a:lvl5pPr lvl="4">
              <a:spcBef>
                <a:spcPts val="800"/>
              </a:spcBef>
              <a:spcAft>
                <a:spcPts val="0"/>
              </a:spcAft>
              <a:buNone/>
              <a:defRPr/>
            </a:lvl5pPr>
            <a:lvl6pPr lvl="5">
              <a:spcBef>
                <a:spcPts val="800"/>
              </a:spcBef>
              <a:spcAft>
                <a:spcPts val="0"/>
              </a:spcAft>
              <a:buNone/>
              <a:defRPr/>
            </a:lvl6pPr>
            <a:lvl7pPr lvl="6">
              <a:spcBef>
                <a:spcPts val="800"/>
              </a:spcBef>
              <a:spcAft>
                <a:spcPts val="0"/>
              </a:spcAft>
              <a:buNone/>
              <a:defRPr/>
            </a:lvl7pPr>
            <a:lvl8pPr lvl="7">
              <a:spcBef>
                <a:spcPts val="800"/>
              </a:spcBef>
              <a:spcAft>
                <a:spcPts val="0"/>
              </a:spcAft>
              <a:buNone/>
              <a:defRPr/>
            </a:lvl8pPr>
            <a:lvl9pPr lvl="8">
              <a:spcBef>
                <a:spcPts val="800"/>
              </a:spcBef>
              <a:spcAft>
                <a:spcPts val="0"/>
              </a:spcAft>
              <a:buNone/>
              <a:defRPr/>
            </a:lvl9pPr>
          </a:lstStyle>
          <a:p/>
        </p:txBody>
      </p:sp>
      <p:sp>
        <p:nvSpPr>
          <p:cNvPr id="89" name="Google Shape;89;p18"/>
          <p:cNvSpPr txBox="1"/>
          <p:nvPr>
            <p:ph idx="2" type="body"/>
          </p:nvPr>
        </p:nvSpPr>
        <p:spPr>
          <a:xfrm>
            <a:off x="2613375" y="586669"/>
            <a:ext cx="6300600" cy="32634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90" name="Google Shape;90;p18"/>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1 - Sidebar &amp; Content">
  <p:cSld name="OBJECT_1_1">
    <p:bg>
      <p:bgPr>
        <a:solidFill>
          <a:srgbClr val="006850"/>
        </a:solidFill>
      </p:bgPr>
    </p:bg>
    <p:spTree>
      <p:nvGrpSpPr>
        <p:cNvPr id="91" name="Shape 91"/>
        <p:cNvGrpSpPr/>
        <p:nvPr/>
      </p:nvGrpSpPr>
      <p:grpSpPr>
        <a:xfrm>
          <a:off x="0" y="0"/>
          <a:ext cx="0" cy="0"/>
          <a:chOff x="0" y="0"/>
          <a:chExt cx="0" cy="0"/>
        </a:xfrm>
      </p:grpSpPr>
      <p:sp>
        <p:nvSpPr>
          <p:cNvPr id="92" name="Google Shape;92;p19"/>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93" name="Google Shape;93;p19"/>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95E66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4" name="Google Shape;94;p19"/>
          <p:cNvSpPr txBox="1"/>
          <p:nvPr>
            <p:ph idx="1" type="subTitle"/>
          </p:nvPr>
        </p:nvSpPr>
        <p:spPr>
          <a:xfrm>
            <a:off x="2613375" y="219019"/>
            <a:ext cx="6300600" cy="2739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b="1" sz="1800">
                <a:solidFill>
                  <a:srgbClr val="006850"/>
                </a:solidFill>
              </a:defRPr>
            </a:lvl1pPr>
            <a:lvl2pPr lvl="1">
              <a:spcBef>
                <a:spcPts val="800"/>
              </a:spcBef>
              <a:spcAft>
                <a:spcPts val="0"/>
              </a:spcAft>
              <a:buNone/>
              <a:defRPr>
                <a:solidFill>
                  <a:srgbClr val="006850"/>
                </a:solidFill>
              </a:defRPr>
            </a:lvl2pPr>
            <a:lvl3pPr lvl="2">
              <a:spcBef>
                <a:spcPts val="800"/>
              </a:spcBef>
              <a:spcAft>
                <a:spcPts val="0"/>
              </a:spcAft>
              <a:buNone/>
              <a:defRPr>
                <a:solidFill>
                  <a:srgbClr val="006850"/>
                </a:solidFill>
              </a:defRPr>
            </a:lvl3pPr>
            <a:lvl4pPr lvl="3">
              <a:spcBef>
                <a:spcPts val="800"/>
              </a:spcBef>
              <a:spcAft>
                <a:spcPts val="0"/>
              </a:spcAft>
              <a:buNone/>
              <a:defRPr>
                <a:solidFill>
                  <a:srgbClr val="006850"/>
                </a:solidFill>
              </a:defRPr>
            </a:lvl4pPr>
            <a:lvl5pPr lvl="4">
              <a:spcBef>
                <a:spcPts val="800"/>
              </a:spcBef>
              <a:spcAft>
                <a:spcPts val="0"/>
              </a:spcAft>
              <a:buNone/>
              <a:defRPr>
                <a:solidFill>
                  <a:srgbClr val="006850"/>
                </a:solidFill>
              </a:defRPr>
            </a:lvl5pPr>
            <a:lvl6pPr lvl="5">
              <a:spcBef>
                <a:spcPts val="800"/>
              </a:spcBef>
              <a:spcAft>
                <a:spcPts val="0"/>
              </a:spcAft>
              <a:buNone/>
              <a:defRPr>
                <a:solidFill>
                  <a:srgbClr val="006850"/>
                </a:solidFill>
              </a:defRPr>
            </a:lvl6pPr>
            <a:lvl7pPr lvl="6">
              <a:spcBef>
                <a:spcPts val="800"/>
              </a:spcBef>
              <a:spcAft>
                <a:spcPts val="0"/>
              </a:spcAft>
              <a:buNone/>
              <a:defRPr>
                <a:solidFill>
                  <a:srgbClr val="006850"/>
                </a:solidFill>
              </a:defRPr>
            </a:lvl7pPr>
            <a:lvl8pPr lvl="7">
              <a:spcBef>
                <a:spcPts val="800"/>
              </a:spcBef>
              <a:spcAft>
                <a:spcPts val="0"/>
              </a:spcAft>
              <a:buNone/>
              <a:defRPr>
                <a:solidFill>
                  <a:srgbClr val="006850"/>
                </a:solidFill>
              </a:defRPr>
            </a:lvl8pPr>
            <a:lvl9pPr lvl="8">
              <a:spcBef>
                <a:spcPts val="800"/>
              </a:spcBef>
              <a:spcAft>
                <a:spcPts val="0"/>
              </a:spcAft>
              <a:buNone/>
              <a:defRPr>
                <a:solidFill>
                  <a:srgbClr val="006850"/>
                </a:solidFill>
              </a:defRPr>
            </a:lvl9pPr>
          </a:lstStyle>
          <a:p/>
        </p:txBody>
      </p:sp>
      <p:sp>
        <p:nvSpPr>
          <p:cNvPr id="95" name="Google Shape;95;p19"/>
          <p:cNvSpPr txBox="1"/>
          <p:nvPr>
            <p:ph idx="2" type="body"/>
          </p:nvPr>
        </p:nvSpPr>
        <p:spPr>
          <a:xfrm>
            <a:off x="2613375" y="586669"/>
            <a:ext cx="6300600" cy="32634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96" name="Google Shape;96;p19"/>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4 - Sidebar &amp; Content, No Subtitle">
  <p:cSld name="OBJECT_1_4">
    <p:bg>
      <p:bgPr>
        <a:solidFill>
          <a:srgbClr val="D6EF52"/>
        </a:solidFill>
      </p:bgPr>
    </p:bg>
    <p:spTree>
      <p:nvGrpSpPr>
        <p:cNvPr id="97" name="Shape 97"/>
        <p:cNvGrpSpPr/>
        <p:nvPr/>
      </p:nvGrpSpPr>
      <p:grpSpPr>
        <a:xfrm>
          <a:off x="0" y="0"/>
          <a:ext cx="0" cy="0"/>
          <a:chOff x="0" y="0"/>
          <a:chExt cx="0" cy="0"/>
        </a:xfrm>
      </p:grpSpPr>
      <p:sp>
        <p:nvSpPr>
          <p:cNvPr id="98" name="Google Shape;98;p20"/>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99" name="Google Shape;99;p20"/>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100" name="Google Shape;100;p20"/>
          <p:cNvSpPr txBox="1"/>
          <p:nvPr>
            <p:ph idx="1" type="body"/>
          </p:nvPr>
        </p:nvSpPr>
        <p:spPr>
          <a:xfrm>
            <a:off x="2613375" y="219019"/>
            <a:ext cx="6300600" cy="42921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101" name="Google Shape;101;p20"/>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D6EF5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3 - Sidebar &amp; Content, No Subtitle">
  <p:cSld name="OBJECT_1_3_1">
    <p:bg>
      <p:bgPr>
        <a:solidFill>
          <a:srgbClr val="95E662"/>
        </a:solidFill>
      </p:bgPr>
    </p:bg>
    <p:spTree>
      <p:nvGrpSpPr>
        <p:cNvPr id="102" name="Shape 102"/>
        <p:cNvGrpSpPr/>
        <p:nvPr/>
      </p:nvGrpSpPr>
      <p:grpSpPr>
        <a:xfrm>
          <a:off x="0" y="0"/>
          <a:ext cx="0" cy="0"/>
          <a:chOff x="0" y="0"/>
          <a:chExt cx="0" cy="0"/>
        </a:xfrm>
      </p:grpSpPr>
      <p:sp>
        <p:nvSpPr>
          <p:cNvPr id="103" name="Google Shape;103;p21"/>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04" name="Google Shape;104;p21"/>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006850"/>
                </a:solidFill>
              </a:defRPr>
            </a:lvl1pPr>
            <a:lvl2pPr lvl="1">
              <a:spcBef>
                <a:spcPts val="0"/>
              </a:spcBef>
              <a:spcAft>
                <a:spcPts val="0"/>
              </a:spcAft>
              <a:buNone/>
              <a:defRPr>
                <a:solidFill>
                  <a:srgbClr val="006850"/>
                </a:solidFill>
              </a:defRPr>
            </a:lvl2pPr>
            <a:lvl3pPr lvl="2">
              <a:spcBef>
                <a:spcPts val="0"/>
              </a:spcBef>
              <a:spcAft>
                <a:spcPts val="0"/>
              </a:spcAft>
              <a:buNone/>
              <a:defRPr>
                <a:solidFill>
                  <a:srgbClr val="006850"/>
                </a:solidFill>
              </a:defRPr>
            </a:lvl3pPr>
            <a:lvl4pPr lvl="3">
              <a:spcBef>
                <a:spcPts val="0"/>
              </a:spcBef>
              <a:spcAft>
                <a:spcPts val="0"/>
              </a:spcAft>
              <a:buNone/>
              <a:defRPr>
                <a:solidFill>
                  <a:srgbClr val="006850"/>
                </a:solidFill>
              </a:defRPr>
            </a:lvl4pPr>
            <a:lvl5pPr lvl="4">
              <a:spcBef>
                <a:spcPts val="0"/>
              </a:spcBef>
              <a:spcAft>
                <a:spcPts val="0"/>
              </a:spcAft>
              <a:buNone/>
              <a:defRPr>
                <a:solidFill>
                  <a:srgbClr val="006850"/>
                </a:solidFill>
              </a:defRPr>
            </a:lvl5pPr>
            <a:lvl6pPr lvl="5">
              <a:spcBef>
                <a:spcPts val="0"/>
              </a:spcBef>
              <a:spcAft>
                <a:spcPts val="0"/>
              </a:spcAft>
              <a:buNone/>
              <a:defRPr>
                <a:solidFill>
                  <a:srgbClr val="006850"/>
                </a:solidFill>
              </a:defRPr>
            </a:lvl6pPr>
            <a:lvl7pPr lvl="6">
              <a:spcBef>
                <a:spcPts val="0"/>
              </a:spcBef>
              <a:spcAft>
                <a:spcPts val="0"/>
              </a:spcAft>
              <a:buNone/>
              <a:defRPr>
                <a:solidFill>
                  <a:srgbClr val="006850"/>
                </a:solidFill>
              </a:defRPr>
            </a:lvl7pPr>
            <a:lvl8pPr lvl="7">
              <a:spcBef>
                <a:spcPts val="0"/>
              </a:spcBef>
              <a:spcAft>
                <a:spcPts val="0"/>
              </a:spcAft>
              <a:buNone/>
              <a:defRPr>
                <a:solidFill>
                  <a:srgbClr val="006850"/>
                </a:solidFill>
              </a:defRPr>
            </a:lvl8pPr>
            <a:lvl9pPr lvl="8">
              <a:spcBef>
                <a:spcPts val="0"/>
              </a:spcBef>
              <a:spcAft>
                <a:spcPts val="0"/>
              </a:spcAft>
              <a:buNone/>
              <a:defRPr>
                <a:solidFill>
                  <a:srgbClr val="006850"/>
                </a:solidFill>
              </a:defRPr>
            </a:lvl9pPr>
          </a:lstStyle>
          <a:p/>
        </p:txBody>
      </p:sp>
      <p:sp>
        <p:nvSpPr>
          <p:cNvPr id="105" name="Google Shape;105;p21"/>
          <p:cNvSpPr txBox="1"/>
          <p:nvPr>
            <p:ph idx="1" type="body"/>
          </p:nvPr>
        </p:nvSpPr>
        <p:spPr>
          <a:xfrm>
            <a:off x="2613375" y="219019"/>
            <a:ext cx="6300600" cy="42924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106" name="Google Shape;106;p21"/>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95E66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Sidebar &amp; Content, No Subtitle">
  <p:cSld name="OBJECT_1_2_1">
    <p:bg>
      <p:bgPr>
        <a:solidFill>
          <a:srgbClr val="00B14F"/>
        </a:solidFill>
      </p:bgPr>
    </p:bg>
    <p:spTree>
      <p:nvGrpSpPr>
        <p:cNvPr id="107" name="Shape 107"/>
        <p:cNvGrpSpPr/>
        <p:nvPr/>
      </p:nvGrpSpPr>
      <p:grpSpPr>
        <a:xfrm>
          <a:off x="0" y="0"/>
          <a:ext cx="0" cy="0"/>
          <a:chOff x="0" y="0"/>
          <a:chExt cx="0" cy="0"/>
        </a:xfrm>
      </p:grpSpPr>
      <p:sp>
        <p:nvSpPr>
          <p:cNvPr id="108" name="Google Shape;108;p22"/>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09" name="Google Shape;109;p22"/>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Clr>
                <a:srgbClr val="000000"/>
              </a:buClr>
              <a:buFont typeface="Arial"/>
              <a:buNone/>
              <a:defRPr sz="3200">
                <a:solidFill>
                  <a:srgbClr val="FFFFFF"/>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2"/>
          <p:cNvSpPr txBox="1"/>
          <p:nvPr>
            <p:ph idx="1" type="body"/>
          </p:nvPr>
        </p:nvSpPr>
        <p:spPr>
          <a:xfrm>
            <a:off x="2613375" y="219019"/>
            <a:ext cx="6300600" cy="42921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111" name="Google Shape;111;p22"/>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1 - Sidebar &amp; Content, No Subtitle">
  <p:cSld name="OBJECT_1_1_1">
    <p:bg>
      <p:bgPr>
        <a:solidFill>
          <a:srgbClr val="006850"/>
        </a:solidFill>
      </p:bgPr>
    </p:bg>
    <p:spTree>
      <p:nvGrpSpPr>
        <p:cNvPr id="112" name="Shape 112"/>
        <p:cNvGrpSpPr/>
        <p:nvPr/>
      </p:nvGrpSpPr>
      <p:grpSpPr>
        <a:xfrm>
          <a:off x="0" y="0"/>
          <a:ext cx="0" cy="0"/>
          <a:chOff x="0" y="0"/>
          <a:chExt cx="0" cy="0"/>
        </a:xfrm>
      </p:grpSpPr>
      <p:sp>
        <p:nvSpPr>
          <p:cNvPr id="113" name="Google Shape;113;p23"/>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14" name="Google Shape;114;p23"/>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95E66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5" name="Google Shape;115;p23"/>
          <p:cNvSpPr txBox="1"/>
          <p:nvPr>
            <p:ph idx="1" type="body"/>
          </p:nvPr>
        </p:nvSpPr>
        <p:spPr>
          <a:xfrm>
            <a:off x="2613375" y="219019"/>
            <a:ext cx="6300600" cy="4292100"/>
          </a:xfrm>
          <a:prstGeom prst="rect">
            <a:avLst/>
          </a:prstGeom>
          <a:noFill/>
          <a:ln>
            <a:noFill/>
          </a:ln>
        </p:spPr>
        <p:txBody>
          <a:bodyPr anchorCtr="0" anchor="t" bIns="0" lIns="0" spcFirstLastPara="1" rIns="0" wrap="square" tIns="0">
            <a:noAutofit/>
          </a:bodyPr>
          <a:lstStyle>
            <a:lvl1pPr indent="-323850" lvl="0" marL="457200" marR="0" algn="l">
              <a:lnSpc>
                <a:spcPct val="90000"/>
              </a:lnSpc>
              <a:spcBef>
                <a:spcPts val="0"/>
              </a:spcBef>
              <a:spcAft>
                <a:spcPts val="0"/>
              </a:spcAft>
              <a:buClr>
                <a:srgbClr val="3F3F3F"/>
              </a:buClr>
              <a:buSzPts val="1500"/>
              <a:buChar char="•"/>
              <a:defRPr i="0" sz="1500" u="none" cap="none" strike="noStrike">
                <a:solidFill>
                  <a:srgbClr val="3F3F3F"/>
                </a:solidFill>
              </a:defRPr>
            </a:lvl1pPr>
            <a:lvl2pPr indent="-317500" lvl="1" marL="914400" marR="0" algn="l">
              <a:lnSpc>
                <a:spcPct val="90000"/>
              </a:lnSpc>
              <a:spcBef>
                <a:spcPts val="400"/>
              </a:spcBef>
              <a:spcAft>
                <a:spcPts val="0"/>
              </a:spcAft>
              <a:buClr>
                <a:srgbClr val="3F3F3F"/>
              </a:buClr>
              <a:buSzPts val="1400"/>
              <a:buChar char="•"/>
              <a:defRPr i="0" sz="1400" u="none" cap="none" strike="noStrike">
                <a:solidFill>
                  <a:srgbClr val="3F3F3F"/>
                </a:solidFill>
              </a:defRPr>
            </a:lvl2pPr>
            <a:lvl3pPr indent="-304800" lvl="2" marL="1371600" marR="0" algn="l">
              <a:lnSpc>
                <a:spcPct val="90000"/>
              </a:lnSpc>
              <a:spcBef>
                <a:spcPts val="400"/>
              </a:spcBef>
              <a:spcAft>
                <a:spcPts val="0"/>
              </a:spcAft>
              <a:buClr>
                <a:srgbClr val="3F3F3F"/>
              </a:buClr>
              <a:buSzPts val="1200"/>
              <a:buChar char="•"/>
              <a:defRPr i="0" sz="1200" u="none" cap="none" strike="noStrike">
                <a:solidFill>
                  <a:srgbClr val="3F3F3F"/>
                </a:solidFill>
              </a:defRPr>
            </a:lvl3pPr>
            <a:lvl4pPr indent="-298450" lvl="3" marL="1828800" marR="0" algn="l">
              <a:lnSpc>
                <a:spcPct val="90000"/>
              </a:lnSpc>
              <a:spcBef>
                <a:spcPts val="400"/>
              </a:spcBef>
              <a:spcAft>
                <a:spcPts val="0"/>
              </a:spcAft>
              <a:buClr>
                <a:srgbClr val="3F3F3F"/>
              </a:buClr>
              <a:buSzPts val="1100"/>
              <a:buChar char="•"/>
              <a:defRPr i="0" sz="1100" u="none" cap="none" strike="noStrike">
                <a:solidFill>
                  <a:srgbClr val="3F3F3F"/>
                </a:solidFill>
              </a:defRPr>
            </a:lvl4pPr>
            <a:lvl5pPr indent="-285750" lvl="4" marL="2286000" marR="0" algn="l">
              <a:lnSpc>
                <a:spcPct val="90000"/>
              </a:lnSpc>
              <a:spcBef>
                <a:spcPts val="400"/>
              </a:spcBef>
              <a:spcAft>
                <a:spcPts val="0"/>
              </a:spcAft>
              <a:buClr>
                <a:srgbClr val="3F3F3F"/>
              </a:buClr>
              <a:buSzPts val="900"/>
              <a:buChar char="•"/>
              <a:defRPr i="0" sz="900" u="none" cap="none" strike="noStrike">
                <a:solidFill>
                  <a:srgbClr val="3F3F3F"/>
                </a:solidFill>
              </a:defRPr>
            </a:lvl5pPr>
            <a:lvl6pPr indent="-279400" lvl="5" marL="2743200" marR="0" algn="l">
              <a:lnSpc>
                <a:spcPct val="90000"/>
              </a:lnSpc>
              <a:spcBef>
                <a:spcPts val="400"/>
              </a:spcBef>
              <a:spcAft>
                <a:spcPts val="0"/>
              </a:spcAft>
              <a:buClr>
                <a:schemeClr val="dk1"/>
              </a:buClr>
              <a:buSzPts val="800"/>
              <a:buChar char="•"/>
              <a:defRPr i="0" sz="800" u="none" cap="none" strike="noStrike">
                <a:solidFill>
                  <a:schemeClr val="dk1"/>
                </a:solidFill>
              </a:defRPr>
            </a:lvl6pPr>
            <a:lvl7pPr indent="-279400" lvl="6" marL="3200400" marR="0" algn="l">
              <a:lnSpc>
                <a:spcPct val="90000"/>
              </a:lnSpc>
              <a:spcBef>
                <a:spcPts val="400"/>
              </a:spcBef>
              <a:spcAft>
                <a:spcPts val="0"/>
              </a:spcAft>
              <a:buClr>
                <a:schemeClr val="dk1"/>
              </a:buClr>
              <a:buSzPts val="800"/>
              <a:buChar char="•"/>
              <a:defRPr i="0" sz="800" u="none" cap="none" strike="noStrike">
                <a:solidFill>
                  <a:schemeClr val="dk1"/>
                </a:solidFill>
              </a:defRPr>
            </a:lvl7pPr>
            <a:lvl8pPr indent="-279400" lvl="7" marL="3657600" marR="0" algn="l">
              <a:lnSpc>
                <a:spcPct val="90000"/>
              </a:lnSpc>
              <a:spcBef>
                <a:spcPts val="400"/>
              </a:spcBef>
              <a:spcAft>
                <a:spcPts val="0"/>
              </a:spcAft>
              <a:buClr>
                <a:schemeClr val="dk1"/>
              </a:buClr>
              <a:buSzPts val="800"/>
              <a:buChar char="•"/>
              <a:defRPr i="0" sz="800" u="none" cap="none" strike="noStrike">
                <a:solidFill>
                  <a:schemeClr val="dk1"/>
                </a:solidFill>
              </a:defRPr>
            </a:lvl8pPr>
            <a:lvl9pPr indent="-279400" lvl="8" marL="4114800" marR="0" algn="l">
              <a:lnSpc>
                <a:spcPct val="90000"/>
              </a:lnSpc>
              <a:spcBef>
                <a:spcPts val="400"/>
              </a:spcBef>
              <a:spcAft>
                <a:spcPts val="0"/>
              </a:spcAft>
              <a:buClr>
                <a:schemeClr val="dk1"/>
              </a:buClr>
              <a:buSzPts val="800"/>
              <a:buChar char="•"/>
              <a:defRPr i="0" sz="800" u="none" cap="none" strike="noStrike">
                <a:solidFill>
                  <a:schemeClr val="dk1"/>
                </a:solidFill>
              </a:defRPr>
            </a:lvl9pPr>
          </a:lstStyle>
          <a:p/>
        </p:txBody>
      </p:sp>
      <p:sp>
        <p:nvSpPr>
          <p:cNvPr id="116" name="Google Shape;116;p23"/>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Green - Section Header" type="title">
  <p:cSld name="TITLE">
    <p:bg>
      <p:bgPr>
        <a:solidFill>
          <a:srgbClr val="D6EF52"/>
        </a:solidFill>
      </p:bgPr>
    </p:bg>
    <p:spTree>
      <p:nvGrpSpPr>
        <p:cNvPr id="117" name="Shape 117"/>
        <p:cNvGrpSpPr/>
        <p:nvPr/>
      </p:nvGrpSpPr>
      <p:grpSpPr>
        <a:xfrm>
          <a:off x="0" y="0"/>
          <a:ext cx="0" cy="0"/>
          <a:chOff x="0" y="0"/>
          <a:chExt cx="0" cy="0"/>
        </a:xfrm>
      </p:grpSpPr>
      <p:sp>
        <p:nvSpPr>
          <p:cNvPr id="118" name="Google Shape;118;p24"/>
          <p:cNvSpPr txBox="1"/>
          <p:nvPr>
            <p:ph type="ctrTitle"/>
          </p:nvPr>
        </p:nvSpPr>
        <p:spPr>
          <a:xfrm>
            <a:off x="233925" y="1592128"/>
            <a:ext cx="6858000" cy="1790700"/>
          </a:xfrm>
          <a:prstGeom prst="rect">
            <a:avLst/>
          </a:prstGeom>
          <a:noFill/>
          <a:ln>
            <a:noFill/>
          </a:ln>
        </p:spPr>
        <p:txBody>
          <a:bodyPr anchorCtr="0" anchor="ctr" bIns="0" lIns="0" spcFirstLastPara="1" rIns="0" wrap="square" tIns="0">
            <a:noAutofit/>
          </a:bodyPr>
          <a:lstStyle>
            <a:lvl1pPr indent="0" lvl="0" marL="0" marR="0" algn="l">
              <a:lnSpc>
                <a:spcPct val="90000"/>
              </a:lnSpc>
              <a:spcBef>
                <a:spcPts val="0"/>
              </a:spcBef>
              <a:spcAft>
                <a:spcPts val="0"/>
              </a:spcAft>
              <a:buNone/>
              <a:defRPr sz="6600">
                <a:solidFill>
                  <a:srgbClr val="00B14F"/>
                </a:solidFill>
              </a:defRPr>
            </a:lvl1pPr>
            <a:lvl2pPr lvl="1">
              <a:spcBef>
                <a:spcPts val="0"/>
              </a:spcBef>
              <a:spcAft>
                <a:spcPts val="0"/>
              </a:spcAft>
              <a:buClr>
                <a:srgbClr val="00B14F"/>
              </a:buClr>
              <a:buSzPts val="1100"/>
              <a:buNone/>
              <a:defRPr sz="1400">
                <a:solidFill>
                  <a:srgbClr val="00B14F"/>
                </a:solidFill>
              </a:defRPr>
            </a:lvl2pPr>
            <a:lvl3pPr lvl="2">
              <a:spcBef>
                <a:spcPts val="0"/>
              </a:spcBef>
              <a:spcAft>
                <a:spcPts val="0"/>
              </a:spcAft>
              <a:buClr>
                <a:srgbClr val="00B14F"/>
              </a:buClr>
              <a:buSzPts val="1100"/>
              <a:buNone/>
              <a:defRPr sz="1400">
                <a:solidFill>
                  <a:srgbClr val="00B14F"/>
                </a:solidFill>
              </a:defRPr>
            </a:lvl3pPr>
            <a:lvl4pPr lvl="3">
              <a:spcBef>
                <a:spcPts val="0"/>
              </a:spcBef>
              <a:spcAft>
                <a:spcPts val="0"/>
              </a:spcAft>
              <a:buClr>
                <a:srgbClr val="00B14F"/>
              </a:buClr>
              <a:buSzPts val="1100"/>
              <a:buNone/>
              <a:defRPr sz="1400">
                <a:solidFill>
                  <a:srgbClr val="00B14F"/>
                </a:solidFill>
              </a:defRPr>
            </a:lvl4pPr>
            <a:lvl5pPr lvl="4">
              <a:spcBef>
                <a:spcPts val="0"/>
              </a:spcBef>
              <a:spcAft>
                <a:spcPts val="0"/>
              </a:spcAft>
              <a:buClr>
                <a:srgbClr val="00B14F"/>
              </a:buClr>
              <a:buSzPts val="1100"/>
              <a:buNone/>
              <a:defRPr sz="1400">
                <a:solidFill>
                  <a:srgbClr val="00B14F"/>
                </a:solidFill>
              </a:defRPr>
            </a:lvl5pPr>
            <a:lvl6pPr lvl="5">
              <a:spcBef>
                <a:spcPts val="0"/>
              </a:spcBef>
              <a:spcAft>
                <a:spcPts val="0"/>
              </a:spcAft>
              <a:buClr>
                <a:srgbClr val="00B14F"/>
              </a:buClr>
              <a:buSzPts val="1100"/>
              <a:buNone/>
              <a:defRPr sz="1400">
                <a:solidFill>
                  <a:srgbClr val="00B14F"/>
                </a:solidFill>
              </a:defRPr>
            </a:lvl6pPr>
            <a:lvl7pPr lvl="6">
              <a:spcBef>
                <a:spcPts val="0"/>
              </a:spcBef>
              <a:spcAft>
                <a:spcPts val="0"/>
              </a:spcAft>
              <a:buClr>
                <a:srgbClr val="00B14F"/>
              </a:buClr>
              <a:buSzPts val="1100"/>
              <a:buNone/>
              <a:defRPr sz="1400">
                <a:solidFill>
                  <a:srgbClr val="00B14F"/>
                </a:solidFill>
              </a:defRPr>
            </a:lvl7pPr>
            <a:lvl8pPr lvl="7">
              <a:spcBef>
                <a:spcPts val="0"/>
              </a:spcBef>
              <a:spcAft>
                <a:spcPts val="0"/>
              </a:spcAft>
              <a:buClr>
                <a:srgbClr val="00B14F"/>
              </a:buClr>
              <a:buSzPts val="1100"/>
              <a:buNone/>
              <a:defRPr sz="1400">
                <a:solidFill>
                  <a:srgbClr val="00B14F"/>
                </a:solidFill>
              </a:defRPr>
            </a:lvl8pPr>
            <a:lvl9pPr lvl="8">
              <a:spcBef>
                <a:spcPts val="0"/>
              </a:spcBef>
              <a:spcAft>
                <a:spcPts val="0"/>
              </a:spcAft>
              <a:buClr>
                <a:srgbClr val="00B14F"/>
              </a:buClr>
              <a:buSzPts val="1100"/>
              <a:buNone/>
              <a:defRPr sz="1400">
                <a:solidFill>
                  <a:srgbClr val="00B14F"/>
                </a:solidFill>
              </a:defRPr>
            </a:lvl9pPr>
          </a:lstStyle>
          <a:p/>
        </p:txBody>
      </p:sp>
      <p:sp>
        <p:nvSpPr>
          <p:cNvPr id="119" name="Google Shape;119;p24"/>
          <p:cNvSpPr txBox="1"/>
          <p:nvPr>
            <p:ph idx="12" type="sldNum"/>
          </p:nvPr>
        </p:nvSpPr>
        <p:spPr>
          <a:xfrm>
            <a:off x="8472075" y="4813313"/>
            <a:ext cx="421500" cy="139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47">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Green - Section Header 1">
  <p:cSld name="TITLE_2">
    <p:bg>
      <p:bgPr>
        <a:solidFill>
          <a:srgbClr val="95E662"/>
        </a:solidFill>
      </p:bgPr>
    </p:bg>
    <p:spTree>
      <p:nvGrpSpPr>
        <p:cNvPr id="120" name="Shape 120"/>
        <p:cNvGrpSpPr/>
        <p:nvPr/>
      </p:nvGrpSpPr>
      <p:grpSpPr>
        <a:xfrm>
          <a:off x="0" y="0"/>
          <a:ext cx="0" cy="0"/>
          <a:chOff x="0" y="0"/>
          <a:chExt cx="0" cy="0"/>
        </a:xfrm>
      </p:grpSpPr>
      <p:sp>
        <p:nvSpPr>
          <p:cNvPr id="121" name="Google Shape;121;p25"/>
          <p:cNvSpPr txBox="1"/>
          <p:nvPr>
            <p:ph type="ctrTitle"/>
          </p:nvPr>
        </p:nvSpPr>
        <p:spPr>
          <a:xfrm>
            <a:off x="233925" y="1592138"/>
            <a:ext cx="7066200" cy="1790700"/>
          </a:xfrm>
          <a:prstGeom prst="rect">
            <a:avLst/>
          </a:prstGeom>
          <a:noFill/>
          <a:ln>
            <a:noFill/>
          </a:ln>
        </p:spPr>
        <p:txBody>
          <a:bodyPr anchorCtr="0" anchor="ctr" bIns="0" lIns="0" spcFirstLastPara="1" rIns="0" wrap="square" tIns="0">
            <a:noAutofit/>
          </a:bodyPr>
          <a:lstStyle>
            <a:lvl1pPr indent="0" lvl="0" marL="0" marR="0" algn="l">
              <a:lnSpc>
                <a:spcPct val="90000"/>
              </a:lnSpc>
              <a:spcBef>
                <a:spcPts val="0"/>
              </a:spcBef>
              <a:spcAft>
                <a:spcPts val="0"/>
              </a:spcAft>
              <a:buNone/>
              <a:defRPr sz="6600">
                <a:solidFill>
                  <a:srgbClr val="006850"/>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22" name="Google Shape;122;p25"/>
          <p:cNvSpPr txBox="1"/>
          <p:nvPr>
            <p:ph idx="12" type="sldNum"/>
          </p:nvPr>
        </p:nvSpPr>
        <p:spPr>
          <a:xfrm>
            <a:off x="8472075" y="4813313"/>
            <a:ext cx="421500" cy="139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47">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Green - Section Header 1">
  <p:cSld name="TITLE_1">
    <p:bg>
      <p:bgPr>
        <a:solidFill>
          <a:srgbClr val="00B14F"/>
        </a:solidFill>
      </p:bgPr>
    </p:bg>
    <p:spTree>
      <p:nvGrpSpPr>
        <p:cNvPr id="123" name="Shape 123"/>
        <p:cNvGrpSpPr/>
        <p:nvPr/>
      </p:nvGrpSpPr>
      <p:grpSpPr>
        <a:xfrm>
          <a:off x="0" y="0"/>
          <a:ext cx="0" cy="0"/>
          <a:chOff x="0" y="0"/>
          <a:chExt cx="0" cy="0"/>
        </a:xfrm>
      </p:grpSpPr>
      <p:sp>
        <p:nvSpPr>
          <p:cNvPr id="124" name="Google Shape;124;p26"/>
          <p:cNvSpPr txBox="1"/>
          <p:nvPr>
            <p:ph type="ctrTitle"/>
          </p:nvPr>
        </p:nvSpPr>
        <p:spPr>
          <a:xfrm>
            <a:off x="233925" y="1592138"/>
            <a:ext cx="7066200" cy="1790700"/>
          </a:xfrm>
          <a:prstGeom prst="rect">
            <a:avLst/>
          </a:prstGeom>
          <a:noFill/>
          <a:ln>
            <a:noFill/>
          </a:ln>
        </p:spPr>
        <p:txBody>
          <a:bodyPr anchorCtr="0" anchor="ctr" bIns="0" lIns="0" spcFirstLastPara="1" rIns="0" wrap="square" tIns="0">
            <a:noAutofit/>
          </a:bodyPr>
          <a:lstStyle>
            <a:lvl1pPr indent="0" lvl="0" marL="0" marR="0" algn="l">
              <a:lnSpc>
                <a:spcPct val="90000"/>
              </a:lnSpc>
              <a:spcBef>
                <a:spcPts val="0"/>
              </a:spcBef>
              <a:spcAft>
                <a:spcPts val="0"/>
              </a:spcAft>
              <a:buNone/>
              <a:defRPr sz="6600">
                <a:solidFill>
                  <a:srgbClr val="FFFFFF"/>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25" name="Google Shape;125;p26"/>
          <p:cNvSpPr txBox="1"/>
          <p:nvPr>
            <p:ph idx="12" type="sldNum"/>
          </p:nvPr>
        </p:nvSpPr>
        <p:spPr>
          <a:xfrm>
            <a:off x="8472075" y="4813313"/>
            <a:ext cx="421500" cy="139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47">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Green - Section Header" type="secHead">
  <p:cSld name="SECTION_HEADER">
    <p:bg>
      <p:bgPr>
        <a:solidFill>
          <a:srgbClr val="006850"/>
        </a:solidFill>
      </p:bgPr>
    </p:bg>
    <p:spTree>
      <p:nvGrpSpPr>
        <p:cNvPr id="126" name="Shape 126"/>
        <p:cNvGrpSpPr/>
        <p:nvPr/>
      </p:nvGrpSpPr>
      <p:grpSpPr>
        <a:xfrm>
          <a:off x="0" y="0"/>
          <a:ext cx="0" cy="0"/>
          <a:chOff x="0" y="0"/>
          <a:chExt cx="0" cy="0"/>
        </a:xfrm>
      </p:grpSpPr>
      <p:sp>
        <p:nvSpPr>
          <p:cNvPr id="127" name="Google Shape;127;p27"/>
          <p:cNvSpPr txBox="1"/>
          <p:nvPr>
            <p:ph type="ctrTitle"/>
          </p:nvPr>
        </p:nvSpPr>
        <p:spPr>
          <a:xfrm>
            <a:off x="233925" y="1592138"/>
            <a:ext cx="7066200" cy="1790700"/>
          </a:xfrm>
          <a:prstGeom prst="rect">
            <a:avLst/>
          </a:prstGeom>
          <a:noFill/>
          <a:ln>
            <a:noFill/>
          </a:ln>
        </p:spPr>
        <p:txBody>
          <a:bodyPr anchorCtr="0" anchor="ctr" bIns="0" lIns="0" spcFirstLastPara="1" rIns="0" wrap="square" tIns="0">
            <a:noAutofit/>
          </a:bodyPr>
          <a:lstStyle>
            <a:lvl1pPr indent="0" lvl="0" marL="0" marR="0" algn="l">
              <a:lnSpc>
                <a:spcPct val="90000"/>
              </a:lnSpc>
              <a:spcBef>
                <a:spcPts val="0"/>
              </a:spcBef>
              <a:spcAft>
                <a:spcPts val="0"/>
              </a:spcAft>
              <a:buNone/>
              <a:defRPr sz="6600">
                <a:solidFill>
                  <a:srgbClr val="95E662"/>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28" name="Google Shape;128;p27"/>
          <p:cNvSpPr txBox="1"/>
          <p:nvPr>
            <p:ph idx="12" type="sldNum"/>
          </p:nvPr>
        </p:nvSpPr>
        <p:spPr>
          <a:xfrm>
            <a:off x="8472075" y="4813313"/>
            <a:ext cx="421500" cy="139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FFFFF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47">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4 - Title Only" type="titleOnly">
  <p:cSld name="TITLE_ONLY">
    <p:bg>
      <p:bgPr>
        <a:solidFill>
          <a:srgbClr val="D6EF52"/>
        </a:solidFill>
      </p:bgPr>
    </p:bg>
    <p:spTree>
      <p:nvGrpSpPr>
        <p:cNvPr id="129" name="Shape 129"/>
        <p:cNvGrpSpPr/>
        <p:nvPr/>
      </p:nvGrpSpPr>
      <p:grpSpPr>
        <a:xfrm>
          <a:off x="0" y="0"/>
          <a:ext cx="0" cy="0"/>
          <a:chOff x="0" y="0"/>
          <a:chExt cx="0" cy="0"/>
        </a:xfrm>
      </p:grpSpPr>
      <p:sp>
        <p:nvSpPr>
          <p:cNvPr id="130" name="Google Shape;130;p28"/>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31" name="Google Shape;131;p28"/>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132" name="Google Shape;132;p28"/>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3 - Title Only">
  <p:cSld name="TITLE_ONLY_3">
    <p:bg>
      <p:bgPr>
        <a:solidFill>
          <a:srgbClr val="95E662"/>
        </a:solidFill>
      </p:bgPr>
    </p:bg>
    <p:spTree>
      <p:nvGrpSpPr>
        <p:cNvPr id="133" name="Shape 133"/>
        <p:cNvGrpSpPr/>
        <p:nvPr/>
      </p:nvGrpSpPr>
      <p:grpSpPr>
        <a:xfrm>
          <a:off x="0" y="0"/>
          <a:ext cx="0" cy="0"/>
          <a:chOff x="0" y="0"/>
          <a:chExt cx="0" cy="0"/>
        </a:xfrm>
      </p:grpSpPr>
      <p:sp>
        <p:nvSpPr>
          <p:cNvPr id="134" name="Google Shape;134;p29"/>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35" name="Google Shape;135;p29"/>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006850"/>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6" name="Google Shape;136;p29"/>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Title Only">
  <p:cSld name="TITLE_ONLY_2">
    <p:bg>
      <p:bgPr>
        <a:solidFill>
          <a:srgbClr val="00B14F"/>
        </a:solidFill>
      </p:bgPr>
    </p:bg>
    <p:spTree>
      <p:nvGrpSpPr>
        <p:cNvPr id="137" name="Shape 137"/>
        <p:cNvGrpSpPr/>
        <p:nvPr/>
      </p:nvGrpSpPr>
      <p:grpSpPr>
        <a:xfrm>
          <a:off x="0" y="0"/>
          <a:ext cx="0" cy="0"/>
          <a:chOff x="0" y="0"/>
          <a:chExt cx="0" cy="0"/>
        </a:xfrm>
      </p:grpSpPr>
      <p:sp>
        <p:nvSpPr>
          <p:cNvPr id="138" name="Google Shape;138;p30"/>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39" name="Google Shape;139;p30"/>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FFFFFF"/>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40" name="Google Shape;140;p30"/>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1 - Title Only">
  <p:cSld name="TITLE_ONLY_1">
    <p:bg>
      <p:bgPr>
        <a:solidFill>
          <a:srgbClr val="006850"/>
        </a:solidFill>
      </p:bgPr>
    </p:bg>
    <p:spTree>
      <p:nvGrpSpPr>
        <p:cNvPr id="141" name="Shape 141"/>
        <p:cNvGrpSpPr/>
        <p:nvPr/>
      </p:nvGrpSpPr>
      <p:grpSpPr>
        <a:xfrm>
          <a:off x="0" y="0"/>
          <a:ext cx="0" cy="0"/>
          <a:chOff x="0" y="0"/>
          <a:chExt cx="0" cy="0"/>
        </a:xfrm>
      </p:grpSpPr>
      <p:sp>
        <p:nvSpPr>
          <p:cNvPr id="142" name="Google Shape;142;p31"/>
          <p:cNvSpPr/>
          <p:nvPr/>
        </p:nvSpPr>
        <p:spPr>
          <a:xfrm flipH="1">
            <a:off x="2384700" y="0"/>
            <a:ext cx="67593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Source Sans Pro"/>
              <a:ea typeface="Source Sans Pro"/>
              <a:cs typeface="Source Sans Pro"/>
              <a:sym typeface="Source Sans Pro"/>
            </a:endParaRPr>
          </a:p>
        </p:txBody>
      </p:sp>
      <p:sp>
        <p:nvSpPr>
          <p:cNvPr id="143" name="Google Shape;143;p31"/>
          <p:cNvSpPr txBox="1"/>
          <p:nvPr>
            <p:ph type="title"/>
          </p:nvPr>
        </p:nvSpPr>
        <p:spPr>
          <a:xfrm>
            <a:off x="213488" y="529519"/>
            <a:ext cx="1971600" cy="7638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sz="3200">
                <a:solidFill>
                  <a:srgbClr val="95E66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44" name="Google Shape;144;p31"/>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6850"/>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502">
          <p15:clr>
            <a:srgbClr val="FA7B17"/>
          </p15:clr>
        </p15:guide>
        <p15:guide id="2" pos="5615">
          <p15:clr>
            <a:srgbClr val="FA7B17"/>
          </p15:clr>
        </p15:guide>
        <p15:guide id="3" pos="1646">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Blank Header" type="blank">
  <p:cSld name="BLANK">
    <p:bg>
      <p:bgPr>
        <a:solidFill>
          <a:srgbClr val="FFFFFF"/>
        </a:solidFill>
      </p:bgPr>
    </p:bg>
    <p:spTree>
      <p:nvGrpSpPr>
        <p:cNvPr id="145" name="Shape 145"/>
        <p:cNvGrpSpPr/>
        <p:nvPr/>
      </p:nvGrpSpPr>
      <p:grpSpPr>
        <a:xfrm>
          <a:off x="0" y="0"/>
          <a:ext cx="0" cy="0"/>
          <a:chOff x="0" y="0"/>
          <a:chExt cx="0" cy="0"/>
        </a:xfrm>
      </p:grpSpPr>
      <p:sp>
        <p:nvSpPr>
          <p:cNvPr id="146" name="Google Shape;146;p32"/>
          <p:cNvSpPr txBox="1"/>
          <p:nvPr/>
        </p:nvSpPr>
        <p:spPr>
          <a:xfrm>
            <a:off x="229989" y="4813313"/>
            <a:ext cx="1551300" cy="13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800">
                <a:solidFill>
                  <a:srgbClr val="00B14F"/>
                </a:solidFill>
                <a:latin typeface="Source Sans Pro"/>
                <a:ea typeface="Source Sans Pro"/>
                <a:cs typeface="Source Sans Pro"/>
                <a:sym typeface="Source Sans Pro"/>
              </a:rPr>
              <a:t>Confidential  |  For Internal Use Only</a:t>
            </a:r>
            <a:endParaRPr sz="800">
              <a:solidFill>
                <a:srgbClr val="00B14F"/>
              </a:solidFill>
              <a:latin typeface="Source Sans Pro"/>
              <a:ea typeface="Source Sans Pro"/>
              <a:cs typeface="Source Sans Pro"/>
              <a:sym typeface="Source Sans Pro"/>
            </a:endParaRPr>
          </a:p>
        </p:txBody>
      </p:sp>
      <p:sp>
        <p:nvSpPr>
          <p:cNvPr id="147" name="Google Shape;147;p32"/>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pic>
        <p:nvPicPr>
          <p:cNvPr id="148" name="Google Shape;148;p32"/>
          <p:cNvPicPr preferRelativeResize="0"/>
          <p:nvPr/>
        </p:nvPicPr>
        <p:blipFill rotWithShape="1">
          <a:blip r:embed="rId2">
            <a:alphaModFix/>
          </a:blip>
          <a:srcRect b="0" l="1957" r="1620" t="0"/>
          <a:stretch/>
        </p:blipFill>
        <p:spPr>
          <a:xfrm>
            <a:off x="229988" y="4511231"/>
            <a:ext cx="568765" cy="235930"/>
          </a:xfrm>
          <a:prstGeom prst="rect">
            <a:avLst/>
          </a:prstGeom>
          <a:noFill/>
          <a:ln>
            <a:noFill/>
          </a:ln>
        </p:spPr>
      </p:pic>
      <p:sp>
        <p:nvSpPr>
          <p:cNvPr id="149" name="Google Shape;149;p32"/>
          <p:cNvSpPr/>
          <p:nvPr/>
        </p:nvSpPr>
        <p:spPr>
          <a:xfrm>
            <a:off x="232031" y="219019"/>
            <a:ext cx="8684100" cy="5784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latin typeface="Source Sans Pro"/>
              <a:ea typeface="Source Sans Pro"/>
              <a:cs typeface="Source Sans Pro"/>
              <a:sym typeface="Source Sans Pro"/>
            </a:endParaRPr>
          </a:p>
        </p:txBody>
      </p:sp>
      <p:sp>
        <p:nvSpPr>
          <p:cNvPr id="150" name="Google Shape;150;p32"/>
          <p:cNvSpPr txBox="1"/>
          <p:nvPr>
            <p:ph type="title"/>
          </p:nvPr>
        </p:nvSpPr>
        <p:spPr>
          <a:xfrm>
            <a:off x="229988" y="415219"/>
            <a:ext cx="8684100" cy="3819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151" name="Google Shape;151;p32"/>
          <p:cNvSpPr txBox="1"/>
          <p:nvPr>
            <p:ph idx="1" type="subTitle"/>
          </p:nvPr>
        </p:nvSpPr>
        <p:spPr>
          <a:xfrm>
            <a:off x="229988" y="219019"/>
            <a:ext cx="1551300" cy="139200"/>
          </a:xfrm>
          <a:prstGeom prst="rect">
            <a:avLst/>
          </a:prstGeom>
        </p:spPr>
        <p:txBody>
          <a:bodyPr anchorCtr="0" anchor="ctr" bIns="0" lIns="0" spcFirstLastPara="1" rIns="68575" wrap="square" tIns="0">
            <a:noAutofit/>
          </a:bodyPr>
          <a:lstStyle>
            <a:lvl1pPr indent="0" lvl="0" marL="0" marR="0" algn="l">
              <a:lnSpc>
                <a:spcPct val="100000"/>
              </a:lnSpc>
              <a:spcBef>
                <a:spcPts val="0"/>
              </a:spcBef>
              <a:spcAft>
                <a:spcPts val="0"/>
              </a:spcAft>
              <a:buNone/>
              <a:defRPr sz="800">
                <a:solidFill>
                  <a:srgbClr val="00B14F"/>
                </a:solidFill>
                <a:latin typeface="Source Sans Pro"/>
                <a:ea typeface="Source Sans Pro"/>
                <a:cs typeface="Source Sans Pro"/>
                <a:sym typeface="Source Sans Pro"/>
              </a:defRPr>
            </a:lvl1pPr>
            <a:lvl2pPr lvl="1">
              <a:spcBef>
                <a:spcPts val="800"/>
              </a:spcBef>
              <a:spcAft>
                <a:spcPts val="0"/>
              </a:spcAft>
              <a:buNone/>
              <a:defRPr/>
            </a:lvl2pPr>
            <a:lvl3pPr lvl="2">
              <a:spcBef>
                <a:spcPts val="800"/>
              </a:spcBef>
              <a:spcAft>
                <a:spcPts val="0"/>
              </a:spcAft>
              <a:buNone/>
              <a:defRPr/>
            </a:lvl3pPr>
            <a:lvl4pPr lvl="3">
              <a:spcBef>
                <a:spcPts val="800"/>
              </a:spcBef>
              <a:spcAft>
                <a:spcPts val="0"/>
              </a:spcAft>
              <a:buNone/>
              <a:defRPr/>
            </a:lvl4pPr>
            <a:lvl5pPr lvl="4">
              <a:spcBef>
                <a:spcPts val="800"/>
              </a:spcBef>
              <a:spcAft>
                <a:spcPts val="0"/>
              </a:spcAft>
              <a:buNone/>
              <a:defRPr/>
            </a:lvl5pPr>
            <a:lvl6pPr lvl="5">
              <a:spcBef>
                <a:spcPts val="800"/>
              </a:spcBef>
              <a:spcAft>
                <a:spcPts val="0"/>
              </a:spcAft>
              <a:buNone/>
              <a:defRPr/>
            </a:lvl6pPr>
            <a:lvl7pPr lvl="6">
              <a:spcBef>
                <a:spcPts val="800"/>
              </a:spcBef>
              <a:spcAft>
                <a:spcPts val="0"/>
              </a:spcAft>
              <a:buNone/>
              <a:defRPr/>
            </a:lvl7pPr>
            <a:lvl8pPr lvl="7">
              <a:spcBef>
                <a:spcPts val="800"/>
              </a:spcBef>
              <a:spcAft>
                <a:spcPts val="0"/>
              </a:spcAft>
              <a:buNone/>
              <a:defRPr/>
            </a:lvl8pPr>
            <a:lvl9pPr lvl="8">
              <a:spcBef>
                <a:spcPts val="800"/>
              </a:spcBef>
              <a:spcAft>
                <a:spcPts val="0"/>
              </a:spcAft>
              <a:buNone/>
              <a:defRPr/>
            </a:lvl9pPr>
          </a:lstStyle>
          <a:p/>
        </p:txBody>
      </p:sp>
    </p:spTree>
  </p:cSld>
  <p:clrMapOvr>
    <a:masterClrMapping/>
  </p:clrMapOvr>
  <p:extLst>
    <p:ext uri="{DCECCB84-F9BA-43D5-87BE-67443E8EF086}">
      <p15:sldGuideLst>
        <p15:guide id="1" orient="horz" pos="502">
          <p15:clr>
            <a:srgbClr val="FA7B17"/>
          </p15:clr>
        </p15:guide>
        <p15:guide id="2" pos="145">
          <p15:clr>
            <a:srgbClr val="FA7B17"/>
          </p15:clr>
        </p15:guide>
        <p15:guide id="3" pos="5615">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 Blank Header 1">
  <p:cSld name="BLANK_2">
    <p:bg>
      <p:bgPr>
        <a:solidFill>
          <a:srgbClr val="F3F3F3"/>
        </a:solidFill>
      </p:bgPr>
    </p:bg>
    <p:spTree>
      <p:nvGrpSpPr>
        <p:cNvPr id="152" name="Shape 152"/>
        <p:cNvGrpSpPr/>
        <p:nvPr/>
      </p:nvGrpSpPr>
      <p:grpSpPr>
        <a:xfrm>
          <a:off x="0" y="0"/>
          <a:ext cx="0" cy="0"/>
          <a:chOff x="0" y="0"/>
          <a:chExt cx="0" cy="0"/>
        </a:xfrm>
      </p:grpSpPr>
      <p:sp>
        <p:nvSpPr>
          <p:cNvPr id="153" name="Google Shape;153;p33"/>
          <p:cNvSpPr txBox="1"/>
          <p:nvPr/>
        </p:nvSpPr>
        <p:spPr>
          <a:xfrm>
            <a:off x="229989" y="4813313"/>
            <a:ext cx="1551300" cy="13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800">
                <a:solidFill>
                  <a:srgbClr val="00B14F"/>
                </a:solidFill>
                <a:latin typeface="Source Sans Pro"/>
                <a:ea typeface="Source Sans Pro"/>
                <a:cs typeface="Source Sans Pro"/>
                <a:sym typeface="Source Sans Pro"/>
              </a:rPr>
              <a:t>Confidential  |  For Internal Use Only</a:t>
            </a:r>
            <a:endParaRPr sz="800">
              <a:solidFill>
                <a:srgbClr val="00B14F"/>
              </a:solidFill>
              <a:latin typeface="Source Sans Pro"/>
              <a:ea typeface="Source Sans Pro"/>
              <a:cs typeface="Source Sans Pro"/>
              <a:sym typeface="Source Sans Pro"/>
            </a:endParaRPr>
          </a:p>
        </p:txBody>
      </p:sp>
      <p:sp>
        <p:nvSpPr>
          <p:cNvPr id="154" name="Google Shape;154;p33"/>
          <p:cNvSpPr txBox="1"/>
          <p:nvPr>
            <p:ph idx="12" type="sldNum"/>
          </p:nvPr>
        </p:nvSpPr>
        <p:spPr>
          <a:xfrm>
            <a:off x="8740088" y="4767263"/>
            <a:ext cx="174000" cy="1281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1100">
                <a:solidFill>
                  <a:srgbClr val="00B14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pic>
        <p:nvPicPr>
          <p:cNvPr id="155" name="Google Shape;155;p33"/>
          <p:cNvPicPr preferRelativeResize="0"/>
          <p:nvPr/>
        </p:nvPicPr>
        <p:blipFill rotWithShape="1">
          <a:blip r:embed="rId2">
            <a:alphaModFix/>
          </a:blip>
          <a:srcRect b="0" l="1957" r="1620" t="0"/>
          <a:stretch/>
        </p:blipFill>
        <p:spPr>
          <a:xfrm>
            <a:off x="229988" y="4511231"/>
            <a:ext cx="568765" cy="235930"/>
          </a:xfrm>
          <a:prstGeom prst="rect">
            <a:avLst/>
          </a:prstGeom>
          <a:noFill/>
          <a:ln>
            <a:noFill/>
          </a:ln>
        </p:spPr>
      </p:pic>
      <p:sp>
        <p:nvSpPr>
          <p:cNvPr id="156" name="Google Shape;156;p33"/>
          <p:cNvSpPr/>
          <p:nvPr/>
        </p:nvSpPr>
        <p:spPr>
          <a:xfrm>
            <a:off x="232031" y="219019"/>
            <a:ext cx="8684100" cy="578400"/>
          </a:xfrm>
          <a:prstGeom prst="rect">
            <a:avLst/>
          </a:prstGeom>
          <a:solidFill>
            <a:srgbClr val="F3F3F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latin typeface="Source Sans Pro"/>
              <a:ea typeface="Source Sans Pro"/>
              <a:cs typeface="Source Sans Pro"/>
              <a:sym typeface="Source Sans Pro"/>
            </a:endParaRPr>
          </a:p>
        </p:txBody>
      </p:sp>
      <p:sp>
        <p:nvSpPr>
          <p:cNvPr id="157" name="Google Shape;157;p33"/>
          <p:cNvSpPr txBox="1"/>
          <p:nvPr>
            <p:ph type="title"/>
          </p:nvPr>
        </p:nvSpPr>
        <p:spPr>
          <a:xfrm>
            <a:off x="229988" y="415219"/>
            <a:ext cx="8684100" cy="3822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a:solidFill>
                  <a:srgbClr val="00B14F"/>
                </a:solidFill>
              </a:defRPr>
            </a:lvl1pPr>
            <a:lvl2pPr lvl="1">
              <a:spcBef>
                <a:spcPts val="0"/>
              </a:spcBef>
              <a:spcAft>
                <a:spcPts val="0"/>
              </a:spcAft>
              <a:buNone/>
              <a:defRPr>
                <a:solidFill>
                  <a:srgbClr val="00B14F"/>
                </a:solidFill>
              </a:defRPr>
            </a:lvl2pPr>
            <a:lvl3pPr lvl="2">
              <a:spcBef>
                <a:spcPts val="0"/>
              </a:spcBef>
              <a:spcAft>
                <a:spcPts val="0"/>
              </a:spcAft>
              <a:buNone/>
              <a:defRPr>
                <a:solidFill>
                  <a:srgbClr val="00B14F"/>
                </a:solidFill>
              </a:defRPr>
            </a:lvl3pPr>
            <a:lvl4pPr lvl="3">
              <a:spcBef>
                <a:spcPts val="0"/>
              </a:spcBef>
              <a:spcAft>
                <a:spcPts val="0"/>
              </a:spcAft>
              <a:buNone/>
              <a:defRPr>
                <a:solidFill>
                  <a:srgbClr val="00B14F"/>
                </a:solidFill>
              </a:defRPr>
            </a:lvl4pPr>
            <a:lvl5pPr lvl="4">
              <a:spcBef>
                <a:spcPts val="0"/>
              </a:spcBef>
              <a:spcAft>
                <a:spcPts val="0"/>
              </a:spcAft>
              <a:buNone/>
              <a:defRPr>
                <a:solidFill>
                  <a:srgbClr val="00B14F"/>
                </a:solidFill>
              </a:defRPr>
            </a:lvl5pPr>
            <a:lvl6pPr lvl="5">
              <a:spcBef>
                <a:spcPts val="0"/>
              </a:spcBef>
              <a:spcAft>
                <a:spcPts val="0"/>
              </a:spcAft>
              <a:buNone/>
              <a:defRPr>
                <a:solidFill>
                  <a:srgbClr val="00B14F"/>
                </a:solidFill>
              </a:defRPr>
            </a:lvl6pPr>
            <a:lvl7pPr lvl="6">
              <a:spcBef>
                <a:spcPts val="0"/>
              </a:spcBef>
              <a:spcAft>
                <a:spcPts val="0"/>
              </a:spcAft>
              <a:buNone/>
              <a:defRPr>
                <a:solidFill>
                  <a:srgbClr val="00B14F"/>
                </a:solidFill>
              </a:defRPr>
            </a:lvl7pPr>
            <a:lvl8pPr lvl="7">
              <a:spcBef>
                <a:spcPts val="0"/>
              </a:spcBef>
              <a:spcAft>
                <a:spcPts val="0"/>
              </a:spcAft>
              <a:buNone/>
              <a:defRPr>
                <a:solidFill>
                  <a:srgbClr val="00B14F"/>
                </a:solidFill>
              </a:defRPr>
            </a:lvl8pPr>
            <a:lvl9pPr lvl="8">
              <a:spcBef>
                <a:spcPts val="0"/>
              </a:spcBef>
              <a:spcAft>
                <a:spcPts val="0"/>
              </a:spcAft>
              <a:buNone/>
              <a:defRPr>
                <a:solidFill>
                  <a:srgbClr val="00B14F"/>
                </a:solidFill>
              </a:defRPr>
            </a:lvl9pPr>
          </a:lstStyle>
          <a:p/>
        </p:txBody>
      </p:sp>
      <p:sp>
        <p:nvSpPr>
          <p:cNvPr id="158" name="Google Shape;158;p33"/>
          <p:cNvSpPr txBox="1"/>
          <p:nvPr>
            <p:ph idx="1" type="subTitle"/>
          </p:nvPr>
        </p:nvSpPr>
        <p:spPr>
          <a:xfrm>
            <a:off x="229988" y="219019"/>
            <a:ext cx="1551300" cy="139200"/>
          </a:xfrm>
          <a:prstGeom prst="rect">
            <a:avLst/>
          </a:prstGeom>
        </p:spPr>
        <p:txBody>
          <a:bodyPr anchorCtr="0" anchor="ctr" bIns="0" lIns="0" spcFirstLastPara="1" rIns="68575" wrap="square" tIns="0">
            <a:noAutofit/>
          </a:bodyPr>
          <a:lstStyle>
            <a:lvl1pPr indent="0" lvl="0" marL="0" marR="0" algn="l">
              <a:lnSpc>
                <a:spcPct val="100000"/>
              </a:lnSpc>
              <a:spcBef>
                <a:spcPts val="0"/>
              </a:spcBef>
              <a:spcAft>
                <a:spcPts val="0"/>
              </a:spcAft>
              <a:buNone/>
              <a:defRPr sz="800">
                <a:solidFill>
                  <a:srgbClr val="00B14F"/>
                </a:solidFill>
                <a:latin typeface="Source Sans Pro"/>
                <a:ea typeface="Source Sans Pro"/>
                <a:cs typeface="Source Sans Pro"/>
                <a:sym typeface="Source Sans Pro"/>
              </a:defRPr>
            </a:lvl1pPr>
            <a:lvl2pPr lvl="1">
              <a:spcBef>
                <a:spcPts val="800"/>
              </a:spcBef>
              <a:spcAft>
                <a:spcPts val="0"/>
              </a:spcAft>
              <a:buNone/>
              <a:defRPr/>
            </a:lvl2pPr>
            <a:lvl3pPr lvl="2">
              <a:spcBef>
                <a:spcPts val="800"/>
              </a:spcBef>
              <a:spcAft>
                <a:spcPts val="0"/>
              </a:spcAft>
              <a:buNone/>
              <a:defRPr/>
            </a:lvl3pPr>
            <a:lvl4pPr lvl="3">
              <a:spcBef>
                <a:spcPts val="800"/>
              </a:spcBef>
              <a:spcAft>
                <a:spcPts val="0"/>
              </a:spcAft>
              <a:buNone/>
              <a:defRPr/>
            </a:lvl4pPr>
            <a:lvl5pPr lvl="4">
              <a:spcBef>
                <a:spcPts val="800"/>
              </a:spcBef>
              <a:spcAft>
                <a:spcPts val="0"/>
              </a:spcAft>
              <a:buNone/>
              <a:defRPr/>
            </a:lvl5pPr>
            <a:lvl6pPr lvl="5">
              <a:spcBef>
                <a:spcPts val="800"/>
              </a:spcBef>
              <a:spcAft>
                <a:spcPts val="0"/>
              </a:spcAft>
              <a:buNone/>
              <a:defRPr/>
            </a:lvl6pPr>
            <a:lvl7pPr lvl="6">
              <a:spcBef>
                <a:spcPts val="800"/>
              </a:spcBef>
              <a:spcAft>
                <a:spcPts val="0"/>
              </a:spcAft>
              <a:buNone/>
              <a:defRPr/>
            </a:lvl7pPr>
            <a:lvl8pPr lvl="7">
              <a:spcBef>
                <a:spcPts val="800"/>
              </a:spcBef>
              <a:spcAft>
                <a:spcPts val="0"/>
              </a:spcAft>
              <a:buNone/>
              <a:defRPr/>
            </a:lvl8pPr>
            <a:lvl9pPr lvl="8">
              <a:spcBef>
                <a:spcPts val="800"/>
              </a:spcBef>
              <a:spcAft>
                <a:spcPts val="0"/>
              </a:spcAft>
              <a:buNone/>
              <a:defRPr/>
            </a:lvl9pPr>
          </a:lstStyle>
          <a:p/>
        </p:txBody>
      </p:sp>
    </p:spTree>
  </p:cSld>
  <p:clrMapOvr>
    <a:masterClrMapping/>
  </p:clrMapOvr>
  <p:extLst>
    <p:ext uri="{DCECCB84-F9BA-43D5-87BE-67443E8EF086}">
      <p15:sldGuideLst>
        <p15:guide id="1" orient="horz" pos="502">
          <p15:clr>
            <a:srgbClr val="FA7B17"/>
          </p15:clr>
        </p15:guide>
        <p15:guide id="2" pos="145">
          <p15:clr>
            <a:srgbClr val="FA7B17"/>
          </p15:clr>
        </p15:guide>
        <p15:guide id="3" pos="5615">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1 - Blank Header">
  <p:cSld name="BLANK_1">
    <p:bg>
      <p:bgPr>
        <a:solidFill>
          <a:srgbClr val="006850"/>
        </a:solidFill>
      </p:bgPr>
    </p:bg>
    <p:spTree>
      <p:nvGrpSpPr>
        <p:cNvPr id="159" name="Shape 159"/>
        <p:cNvGrpSpPr/>
        <p:nvPr/>
      </p:nvGrpSpPr>
      <p:grpSpPr>
        <a:xfrm>
          <a:off x="0" y="0"/>
          <a:ext cx="0" cy="0"/>
          <a:chOff x="0" y="0"/>
          <a:chExt cx="0" cy="0"/>
        </a:xfrm>
      </p:grpSpPr>
      <p:sp>
        <p:nvSpPr>
          <p:cNvPr id="160" name="Google Shape;160;p34"/>
          <p:cNvSpPr txBox="1"/>
          <p:nvPr>
            <p:ph type="title"/>
          </p:nvPr>
        </p:nvSpPr>
        <p:spPr>
          <a:xfrm>
            <a:off x="233925" y="415219"/>
            <a:ext cx="8659800" cy="382200"/>
          </a:xfrm>
          <a:prstGeom prst="rect">
            <a:avLst/>
          </a:prstGeom>
        </p:spPr>
        <p:txBody>
          <a:bodyPr anchorCtr="0" anchor="t" bIns="0" lIns="0" spcFirstLastPara="1" rIns="0" wrap="square" tIns="0">
            <a:noAutofit/>
          </a:bodyPr>
          <a:lstStyle>
            <a:lvl1pPr indent="0" lvl="0" marL="0" marR="0" algn="l">
              <a:lnSpc>
                <a:spcPct val="90000"/>
              </a:lnSpc>
              <a:spcBef>
                <a:spcPts val="0"/>
              </a:spcBef>
              <a:spcAft>
                <a:spcPts val="0"/>
              </a:spcAft>
              <a:buNone/>
              <a:defRPr>
                <a:solidFill>
                  <a:srgbClr val="FFFFFF"/>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161" name="Google Shape;161;p34"/>
          <p:cNvSpPr txBox="1"/>
          <p:nvPr>
            <p:ph idx="12" type="sldNum"/>
          </p:nvPr>
        </p:nvSpPr>
        <p:spPr>
          <a:xfrm>
            <a:off x="8740088" y="4813313"/>
            <a:ext cx="174000" cy="139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1pPr>
            <a:lvl2pPr indent="0" lvl="1"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2pPr>
            <a:lvl3pPr indent="0" lvl="2"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3pPr>
            <a:lvl4pPr indent="0" lvl="3"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4pPr>
            <a:lvl5pPr indent="0" lvl="4"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5pPr>
            <a:lvl6pPr indent="0" lvl="5"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6pPr>
            <a:lvl7pPr indent="0" lvl="6"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7pPr>
            <a:lvl8pPr indent="0" lvl="7"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8pPr>
            <a:lvl9pPr indent="0" lvl="8" marL="0" marR="0" algn="r">
              <a:lnSpc>
                <a:spcPct val="100000"/>
              </a:lnSpc>
              <a:spcBef>
                <a:spcPts val="0"/>
              </a:spcBef>
              <a:spcAft>
                <a:spcPts val="0"/>
              </a:spcAft>
              <a:buNone/>
              <a:defRPr sz="800">
                <a:solidFill>
                  <a:srgbClr val="FFFFFF"/>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47">
          <p15:clr>
            <a:srgbClr val="FA7B17"/>
          </p15:clr>
        </p15:guide>
        <p15:guide id="2" pos="5615">
          <p15:clr>
            <a:srgbClr val="FA7B17"/>
          </p15:clr>
        </p15:guide>
        <p15:guide id="3" orient="horz" pos="502">
          <p15:clr>
            <a:srgbClr val="FA7B17"/>
          </p15:clr>
        </p15:guide>
        <p15:guide id="4" orient="horz" pos="2838">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62" name="Shape 162"/>
        <p:cNvGrpSpPr/>
        <p:nvPr/>
      </p:nvGrpSpPr>
      <p:grpSpPr>
        <a:xfrm>
          <a:off x="0" y="0"/>
          <a:ext cx="0" cy="0"/>
          <a:chOff x="0" y="0"/>
          <a:chExt cx="0" cy="0"/>
        </a:xfrm>
      </p:grpSpPr>
      <p:sp>
        <p:nvSpPr>
          <p:cNvPr id="163" name="Google Shape;163;p35"/>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4" name="Google Shape;164;p35"/>
          <p:cNvSpPr txBox="1"/>
          <p:nvPr>
            <p:ph idx="1" type="subTitle"/>
          </p:nvPr>
        </p:nvSpPr>
        <p:spPr>
          <a:xfrm>
            <a:off x="311700" y="2834125"/>
            <a:ext cx="8520600" cy="792600"/>
          </a:xfrm>
          <a:prstGeom prst="rect">
            <a:avLst/>
          </a:prstGeom>
        </p:spPr>
        <p:txBody>
          <a:bodyPr anchorCtr="0" anchor="t" bIns="0" lIns="0" spcFirstLastPara="1" rIns="68575" wrap="square" tIns="0">
            <a:no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Freedom Lines">
  <p:cSld name="TITLE_1_1">
    <p:spTree>
      <p:nvGrpSpPr>
        <p:cNvPr id="166" name="Shape 166"/>
        <p:cNvGrpSpPr/>
        <p:nvPr/>
      </p:nvGrpSpPr>
      <p:grpSpPr>
        <a:xfrm>
          <a:off x="0" y="0"/>
          <a:ext cx="0" cy="0"/>
          <a:chOff x="0" y="0"/>
          <a:chExt cx="0" cy="0"/>
        </a:xfrm>
      </p:grpSpPr>
      <p:sp>
        <p:nvSpPr>
          <p:cNvPr id="167" name="Google Shape;167;p36"/>
          <p:cNvSpPr txBox="1"/>
          <p:nvPr>
            <p:ph idx="12" type="sldNum"/>
          </p:nvPr>
        </p:nvSpPr>
        <p:spPr>
          <a:xfrm>
            <a:off x="7427400" y="4879307"/>
            <a:ext cx="1437900" cy="78600"/>
          </a:xfrm>
          <a:prstGeom prst="rect">
            <a:avLst/>
          </a:prstGeom>
          <a:noFill/>
          <a:ln>
            <a:noFill/>
          </a:ln>
        </p:spPr>
        <p:txBody>
          <a:bodyPr anchorCtr="0" anchor="t" bIns="68575" lIns="68575" spcFirstLastPara="1" rIns="68575" wrap="square" tIns="68575">
            <a:noAutofit/>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indent="0" lvl="0" marL="0" rtl="0" algn="l">
              <a:spcBef>
                <a:spcPts val="0"/>
              </a:spcBef>
              <a:spcAft>
                <a:spcPts val="0"/>
              </a:spcAft>
              <a:buNone/>
            </a:pPr>
            <a:fld id="{00000000-1234-1234-1234-123412341234}" type="slidenum">
              <a:rPr lang="en"/>
              <a:t>‹#›</a:t>
            </a:fld>
            <a:endParaRPr/>
          </a:p>
        </p:txBody>
      </p:sp>
      <p:grpSp>
        <p:nvGrpSpPr>
          <p:cNvPr id="168" name="Google Shape;168;p36"/>
          <p:cNvGrpSpPr/>
          <p:nvPr/>
        </p:nvGrpSpPr>
        <p:grpSpPr>
          <a:xfrm>
            <a:off x="7172574" y="19"/>
            <a:ext cx="1971580" cy="1038923"/>
            <a:chOff x="238125" y="964250"/>
            <a:chExt cx="7135650" cy="3760125"/>
          </a:xfrm>
        </p:grpSpPr>
        <p:sp>
          <p:nvSpPr>
            <p:cNvPr id="169" name="Google Shape;169;p36"/>
            <p:cNvSpPr/>
            <p:nvPr/>
          </p:nvSpPr>
          <p:spPr>
            <a:xfrm>
              <a:off x="238125" y="964250"/>
              <a:ext cx="1791275" cy="1316300"/>
            </a:xfrm>
            <a:custGeom>
              <a:rect b="b" l="l" r="r" t="t"/>
              <a:pathLst>
                <a:path extrusionOk="0" h="52652" w="71651">
                  <a:moveTo>
                    <a:pt x="0" y="0"/>
                  </a:moveTo>
                  <a:cubicBezTo>
                    <a:pt x="20663" y="20906"/>
                    <a:pt x="38119" y="38484"/>
                    <a:pt x="39215" y="39621"/>
                  </a:cubicBezTo>
                  <a:cubicBezTo>
                    <a:pt x="47456" y="47862"/>
                    <a:pt x="58944" y="52449"/>
                    <a:pt x="71651" y="52652"/>
                  </a:cubicBezTo>
                  <a:cubicBezTo>
                    <a:pt x="65886" y="46806"/>
                    <a:pt x="49770" y="30974"/>
                    <a:pt x="48795" y="30000"/>
                  </a:cubicBezTo>
                  <a:cubicBezTo>
                    <a:pt x="47902" y="29107"/>
                    <a:pt x="35399" y="16441"/>
                    <a:pt x="19080" y="0"/>
                  </a:cubicBezTo>
                  <a:close/>
                </a:path>
              </a:pathLst>
            </a:custGeom>
            <a:solidFill>
              <a:srgbClr val="00B1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36"/>
            <p:cNvSpPr/>
            <p:nvPr/>
          </p:nvSpPr>
          <p:spPr>
            <a:xfrm>
              <a:off x="1067275" y="964250"/>
              <a:ext cx="4119425" cy="1901900"/>
            </a:xfrm>
            <a:custGeom>
              <a:rect b="b" l="l" r="r" t="t"/>
              <a:pathLst>
                <a:path extrusionOk="0" h="76076" w="164777">
                  <a:moveTo>
                    <a:pt x="0" y="0"/>
                  </a:moveTo>
                  <a:cubicBezTo>
                    <a:pt x="10880" y="10961"/>
                    <a:pt x="19080" y="19161"/>
                    <a:pt x="21435" y="21556"/>
                  </a:cubicBezTo>
                  <a:cubicBezTo>
                    <a:pt x="41286" y="41366"/>
                    <a:pt x="59757" y="60324"/>
                    <a:pt x="62395" y="63003"/>
                  </a:cubicBezTo>
                  <a:cubicBezTo>
                    <a:pt x="70839" y="71407"/>
                    <a:pt x="82652" y="76075"/>
                    <a:pt x="95683" y="76075"/>
                  </a:cubicBezTo>
                  <a:lnTo>
                    <a:pt x="164776" y="76075"/>
                  </a:lnTo>
                  <a:cubicBezTo>
                    <a:pt x="160352" y="71610"/>
                    <a:pt x="157348" y="68565"/>
                    <a:pt x="156536" y="67753"/>
                  </a:cubicBezTo>
                  <a:cubicBezTo>
                    <a:pt x="153694" y="64952"/>
                    <a:pt x="148295" y="62882"/>
                    <a:pt x="142936" y="62516"/>
                  </a:cubicBezTo>
                  <a:lnTo>
                    <a:pt x="95683" y="62516"/>
                  </a:lnTo>
                  <a:cubicBezTo>
                    <a:pt x="86265" y="62516"/>
                    <a:pt x="77862" y="59269"/>
                    <a:pt x="72016" y="53423"/>
                  </a:cubicBezTo>
                  <a:cubicBezTo>
                    <a:pt x="69378" y="50784"/>
                    <a:pt x="50907" y="31826"/>
                    <a:pt x="31096" y="12016"/>
                  </a:cubicBezTo>
                  <a:cubicBezTo>
                    <a:pt x="29026" y="9946"/>
                    <a:pt x="24804" y="5683"/>
                    <a:pt x="19121" y="0"/>
                  </a:cubicBezTo>
                  <a:close/>
                </a:path>
              </a:pathLst>
            </a:custGeom>
            <a:solidFill>
              <a:srgbClr val="00B1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36"/>
            <p:cNvSpPr/>
            <p:nvPr/>
          </p:nvSpPr>
          <p:spPr>
            <a:xfrm>
              <a:off x="6014825" y="2527150"/>
              <a:ext cx="1358950" cy="1364025"/>
            </a:xfrm>
            <a:custGeom>
              <a:rect b="b" l="l" r="r" t="t"/>
              <a:pathLst>
                <a:path extrusionOk="0" h="54561" w="54358">
                  <a:moveTo>
                    <a:pt x="0" y="0"/>
                  </a:moveTo>
                  <a:lnTo>
                    <a:pt x="0" y="0"/>
                  </a:lnTo>
                  <a:cubicBezTo>
                    <a:pt x="5724" y="5805"/>
                    <a:pt x="21150" y="20988"/>
                    <a:pt x="21840" y="21719"/>
                  </a:cubicBezTo>
                  <a:cubicBezTo>
                    <a:pt x="22977" y="22815"/>
                    <a:pt x="37145" y="37145"/>
                    <a:pt x="54357" y="54560"/>
                  </a:cubicBezTo>
                  <a:lnTo>
                    <a:pt x="54357" y="35277"/>
                  </a:lnTo>
                  <a:cubicBezTo>
                    <a:pt x="41732" y="22490"/>
                    <a:pt x="32355" y="12991"/>
                    <a:pt x="31421" y="12098"/>
                  </a:cubicBezTo>
                  <a:cubicBezTo>
                    <a:pt x="23992" y="4709"/>
                    <a:pt x="12016" y="122"/>
                    <a:pt x="0" y="0"/>
                  </a:cubicBezTo>
                  <a:close/>
                </a:path>
              </a:pathLst>
            </a:custGeom>
            <a:solidFill>
              <a:srgbClr val="00B1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36"/>
            <p:cNvSpPr/>
            <p:nvPr/>
          </p:nvSpPr>
          <p:spPr>
            <a:xfrm>
              <a:off x="2856500" y="1941575"/>
              <a:ext cx="4517275" cy="2782800"/>
            </a:xfrm>
            <a:custGeom>
              <a:rect b="b" l="l" r="r" t="t"/>
              <a:pathLst>
                <a:path extrusionOk="0" h="111312" w="180691">
                  <a:moveTo>
                    <a:pt x="1" y="0"/>
                  </a:moveTo>
                  <a:lnTo>
                    <a:pt x="1" y="0"/>
                  </a:lnTo>
                  <a:cubicBezTo>
                    <a:pt x="3817" y="3897"/>
                    <a:pt x="6455" y="6536"/>
                    <a:pt x="7308" y="7429"/>
                  </a:cubicBezTo>
                  <a:cubicBezTo>
                    <a:pt x="11002" y="11082"/>
                    <a:pt x="16279" y="13234"/>
                    <a:pt x="22328" y="13599"/>
                  </a:cubicBezTo>
                  <a:lnTo>
                    <a:pt x="69500" y="13599"/>
                  </a:lnTo>
                  <a:cubicBezTo>
                    <a:pt x="70231" y="13599"/>
                    <a:pt x="70921" y="13640"/>
                    <a:pt x="71651" y="13681"/>
                  </a:cubicBezTo>
                  <a:cubicBezTo>
                    <a:pt x="79527" y="14127"/>
                    <a:pt x="87240" y="17212"/>
                    <a:pt x="91827" y="21718"/>
                  </a:cubicBezTo>
                  <a:cubicBezTo>
                    <a:pt x="93654" y="23545"/>
                    <a:pt x="141759" y="72056"/>
                    <a:pt x="180690" y="111312"/>
                  </a:cubicBezTo>
                  <a:lnTo>
                    <a:pt x="180690" y="92029"/>
                  </a:lnTo>
                  <a:cubicBezTo>
                    <a:pt x="145535" y="56589"/>
                    <a:pt x="106929" y="17659"/>
                    <a:pt x="102950" y="13681"/>
                  </a:cubicBezTo>
                  <a:cubicBezTo>
                    <a:pt x="102179" y="12909"/>
                    <a:pt x="101651" y="12381"/>
                    <a:pt x="101367" y="12097"/>
                  </a:cubicBezTo>
                  <a:cubicBezTo>
                    <a:pt x="93898" y="4668"/>
                    <a:pt x="81678" y="41"/>
                    <a:pt x="69540" y="41"/>
                  </a:cubicBezTo>
                  <a:lnTo>
                    <a:pt x="1" y="0"/>
                  </a:lnTo>
                  <a:close/>
                </a:path>
              </a:pathLst>
            </a:custGeom>
            <a:solidFill>
              <a:srgbClr val="00B1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73" name="Google Shape;173;p36"/>
          <p:cNvSpPr txBox="1"/>
          <p:nvPr>
            <p:ph type="title"/>
          </p:nvPr>
        </p:nvSpPr>
        <p:spPr>
          <a:xfrm>
            <a:off x="270000" y="535200"/>
            <a:ext cx="6598800" cy="274800"/>
          </a:xfrm>
          <a:prstGeom prst="rect">
            <a:avLst/>
          </a:prstGeom>
        </p:spPr>
        <p:txBody>
          <a:bodyPr anchorCtr="0" anchor="t" bIns="0" lIns="0" spcFirstLastPara="1" rIns="0" wrap="square" tIns="0">
            <a:noAutofit/>
          </a:bodyPr>
          <a:lstStyle>
            <a:lvl1pPr lvl="0">
              <a:spcBef>
                <a:spcPts val="0"/>
              </a:spcBef>
              <a:spcAft>
                <a:spcPts val="0"/>
              </a:spcAft>
              <a:buNone/>
              <a:defRPr sz="2300">
                <a:solidFill>
                  <a:schemeClr val="accent2"/>
                </a:solidFill>
                <a:latin typeface="Proxima Nova Extrabold"/>
                <a:ea typeface="Proxima Nova Extrabold"/>
                <a:cs typeface="Proxima Nova Extrabold"/>
                <a:sym typeface="Proxima Nova Extrabold"/>
              </a:defRPr>
            </a:lvl1pPr>
            <a:lvl2pPr lvl="1">
              <a:spcBef>
                <a:spcPts val="0"/>
              </a:spcBef>
              <a:spcAft>
                <a:spcPts val="0"/>
              </a:spcAft>
              <a:buNone/>
              <a:defRPr b="1" sz="3600">
                <a:solidFill>
                  <a:schemeClr val="accent2"/>
                </a:solidFill>
                <a:latin typeface="Proxima Nova"/>
                <a:ea typeface="Proxima Nova"/>
                <a:cs typeface="Proxima Nova"/>
                <a:sym typeface="Proxima Nova"/>
              </a:defRPr>
            </a:lvl2pPr>
            <a:lvl3pPr lvl="2">
              <a:spcBef>
                <a:spcPts val="0"/>
              </a:spcBef>
              <a:spcAft>
                <a:spcPts val="0"/>
              </a:spcAft>
              <a:buNone/>
              <a:defRPr b="1" sz="3600">
                <a:solidFill>
                  <a:schemeClr val="accent2"/>
                </a:solidFill>
                <a:latin typeface="Proxima Nova"/>
                <a:ea typeface="Proxima Nova"/>
                <a:cs typeface="Proxima Nova"/>
                <a:sym typeface="Proxima Nova"/>
              </a:defRPr>
            </a:lvl3pPr>
            <a:lvl4pPr lvl="3">
              <a:spcBef>
                <a:spcPts val="0"/>
              </a:spcBef>
              <a:spcAft>
                <a:spcPts val="0"/>
              </a:spcAft>
              <a:buNone/>
              <a:defRPr b="1" sz="3600">
                <a:solidFill>
                  <a:schemeClr val="accent2"/>
                </a:solidFill>
                <a:latin typeface="Proxima Nova"/>
                <a:ea typeface="Proxima Nova"/>
                <a:cs typeface="Proxima Nova"/>
                <a:sym typeface="Proxima Nova"/>
              </a:defRPr>
            </a:lvl4pPr>
            <a:lvl5pPr lvl="4">
              <a:spcBef>
                <a:spcPts val="0"/>
              </a:spcBef>
              <a:spcAft>
                <a:spcPts val="0"/>
              </a:spcAft>
              <a:buNone/>
              <a:defRPr b="1" sz="3600">
                <a:solidFill>
                  <a:schemeClr val="accent2"/>
                </a:solidFill>
                <a:latin typeface="Proxima Nova"/>
                <a:ea typeface="Proxima Nova"/>
                <a:cs typeface="Proxima Nova"/>
                <a:sym typeface="Proxima Nova"/>
              </a:defRPr>
            </a:lvl5pPr>
            <a:lvl6pPr lvl="5">
              <a:spcBef>
                <a:spcPts val="0"/>
              </a:spcBef>
              <a:spcAft>
                <a:spcPts val="0"/>
              </a:spcAft>
              <a:buNone/>
              <a:defRPr b="1" sz="3600">
                <a:solidFill>
                  <a:schemeClr val="accent2"/>
                </a:solidFill>
                <a:latin typeface="Proxima Nova"/>
                <a:ea typeface="Proxima Nova"/>
                <a:cs typeface="Proxima Nova"/>
                <a:sym typeface="Proxima Nova"/>
              </a:defRPr>
            </a:lvl6pPr>
            <a:lvl7pPr lvl="6">
              <a:spcBef>
                <a:spcPts val="0"/>
              </a:spcBef>
              <a:spcAft>
                <a:spcPts val="0"/>
              </a:spcAft>
              <a:buNone/>
              <a:defRPr b="1" sz="3600">
                <a:solidFill>
                  <a:schemeClr val="accent2"/>
                </a:solidFill>
                <a:latin typeface="Proxima Nova"/>
                <a:ea typeface="Proxima Nova"/>
                <a:cs typeface="Proxima Nova"/>
                <a:sym typeface="Proxima Nova"/>
              </a:defRPr>
            </a:lvl7pPr>
            <a:lvl8pPr lvl="7">
              <a:spcBef>
                <a:spcPts val="0"/>
              </a:spcBef>
              <a:spcAft>
                <a:spcPts val="0"/>
              </a:spcAft>
              <a:buNone/>
              <a:defRPr b="1" sz="3600">
                <a:solidFill>
                  <a:schemeClr val="accent2"/>
                </a:solidFill>
                <a:latin typeface="Proxima Nova"/>
                <a:ea typeface="Proxima Nova"/>
                <a:cs typeface="Proxima Nova"/>
                <a:sym typeface="Proxima Nova"/>
              </a:defRPr>
            </a:lvl8pPr>
            <a:lvl9pPr lvl="8">
              <a:spcBef>
                <a:spcPts val="0"/>
              </a:spcBef>
              <a:spcAft>
                <a:spcPts val="0"/>
              </a:spcAft>
              <a:buNone/>
              <a:defRPr b="1" sz="3600">
                <a:solidFill>
                  <a:schemeClr val="accent2"/>
                </a:solidFill>
                <a:latin typeface="Proxima Nova"/>
                <a:ea typeface="Proxima Nova"/>
                <a:cs typeface="Proxima Nova"/>
                <a:sym typeface="Proxima Nova"/>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3">
  <p:cSld name="BLANK_3">
    <p:spTree>
      <p:nvGrpSpPr>
        <p:cNvPr id="174" name="Shape 174"/>
        <p:cNvGrpSpPr/>
        <p:nvPr/>
      </p:nvGrpSpPr>
      <p:grpSpPr>
        <a:xfrm>
          <a:off x="0" y="0"/>
          <a:ext cx="0" cy="0"/>
          <a:chOff x="0" y="0"/>
          <a:chExt cx="0" cy="0"/>
        </a:xfrm>
      </p:grpSpPr>
      <p:sp>
        <p:nvSpPr>
          <p:cNvPr id="175" name="Google Shape;17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4">
  <p:cSld name="BLANK_4">
    <p:spTree>
      <p:nvGrpSpPr>
        <p:cNvPr id="176" name="Shape 176"/>
        <p:cNvGrpSpPr/>
        <p:nvPr/>
      </p:nvGrpSpPr>
      <p:grpSpPr>
        <a:xfrm>
          <a:off x="0" y="0"/>
          <a:ext cx="0" cy="0"/>
          <a:chOff x="0" y="0"/>
          <a:chExt cx="0" cy="0"/>
        </a:xfrm>
      </p:grpSpPr>
      <p:sp>
        <p:nvSpPr>
          <p:cNvPr id="177" name="Google Shape;17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178" name="Shape 178"/>
        <p:cNvGrpSpPr/>
        <p:nvPr/>
      </p:nvGrpSpPr>
      <p:grpSpPr>
        <a:xfrm>
          <a:off x="0" y="0"/>
          <a:ext cx="0" cy="0"/>
          <a:chOff x="0" y="0"/>
          <a:chExt cx="0" cy="0"/>
        </a:xfrm>
      </p:grpSpPr>
      <p:sp>
        <p:nvSpPr>
          <p:cNvPr id="179" name="Google Shape;179;p39"/>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80" name="Google Shape;180;p39"/>
          <p:cNvSpPr txBox="1"/>
          <p:nvPr>
            <p:ph idx="1" type="subTitle"/>
          </p:nvPr>
        </p:nvSpPr>
        <p:spPr>
          <a:xfrm>
            <a:off x="311700" y="2834125"/>
            <a:ext cx="8520600" cy="792600"/>
          </a:xfrm>
          <a:prstGeom prst="rect">
            <a:avLst/>
          </a:prstGeom>
        </p:spPr>
        <p:txBody>
          <a:bodyPr anchorCtr="0" anchor="t" bIns="0" lIns="0" spcFirstLastPara="1" rIns="68575" wrap="square" tIns="0">
            <a:no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81" name="Google Shape;18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Default Slide">
  <p:cSld name="01-Default Slide">
    <p:spTree>
      <p:nvGrpSpPr>
        <p:cNvPr id="182" name="Shape 182"/>
        <p:cNvGrpSpPr/>
        <p:nvPr/>
      </p:nvGrpSpPr>
      <p:grpSpPr>
        <a:xfrm>
          <a:off x="0" y="0"/>
          <a:ext cx="0" cy="0"/>
          <a:chOff x="0" y="0"/>
          <a:chExt cx="0" cy="0"/>
        </a:xfrm>
      </p:grpSpPr>
      <p:sp>
        <p:nvSpPr>
          <p:cNvPr id="183" name="Google Shape;183;p40"/>
          <p:cNvSpPr txBox="1"/>
          <p:nvPr>
            <p:ph type="title"/>
          </p:nvPr>
        </p:nvSpPr>
        <p:spPr>
          <a:xfrm>
            <a:off x="480047" y="328811"/>
            <a:ext cx="7620900" cy="297000"/>
          </a:xfrm>
          <a:prstGeom prst="rect">
            <a:avLst/>
          </a:prstGeom>
          <a:noFill/>
          <a:ln>
            <a:noFill/>
          </a:ln>
        </p:spPr>
        <p:txBody>
          <a:bodyPr anchorCtr="0" anchor="t" bIns="91425" lIns="91425" spcFirstLastPara="1" rIns="91425" wrap="square" tIns="91425">
            <a:noAutofit/>
          </a:bodyPr>
          <a:lstStyle>
            <a:lvl1pPr lvl="0" marR="0" algn="l">
              <a:lnSpc>
                <a:spcPct val="90000"/>
              </a:lnSpc>
              <a:spcBef>
                <a:spcPts val="0"/>
              </a:spcBef>
              <a:spcAft>
                <a:spcPts val="0"/>
              </a:spcAft>
              <a:buClr>
                <a:schemeClr val="accent2"/>
              </a:buClr>
              <a:buSzPts val="3000"/>
              <a:buFont typeface="Proxima Nova Extrabold"/>
              <a:buNone/>
              <a:defRPr i="0" sz="3000" u="none" cap="none" strike="noStrike">
                <a:solidFill>
                  <a:schemeClr val="accent2"/>
                </a:solidFill>
                <a:latin typeface="Proxima Nova Extrabold"/>
                <a:ea typeface="Proxima Nova Extrabold"/>
                <a:cs typeface="Proxima Nova Extrabold"/>
                <a:sym typeface="Proxima Nova Extrabol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4" name="Google Shape;184;p40"/>
          <p:cNvSpPr txBox="1"/>
          <p:nvPr>
            <p:ph idx="1" type="body"/>
          </p:nvPr>
        </p:nvSpPr>
        <p:spPr>
          <a:xfrm>
            <a:off x="480048" y="1088624"/>
            <a:ext cx="7620900" cy="124500"/>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0"/>
              </a:spcBef>
              <a:spcAft>
                <a:spcPts val="0"/>
              </a:spcAft>
              <a:buClr>
                <a:schemeClr val="accent4"/>
              </a:buClr>
              <a:buSzPts val="900"/>
              <a:buFont typeface="Proxima Nova"/>
              <a:buNone/>
              <a:defRPr i="0" sz="900" u="none" cap="none" strike="noStrike">
                <a:solidFill>
                  <a:schemeClr val="accent4"/>
                </a:solidFill>
                <a:latin typeface="Proxima Nova"/>
                <a:ea typeface="Proxima Nova"/>
                <a:cs typeface="Proxima Nova"/>
                <a:sym typeface="Proxima Nova"/>
              </a:defRPr>
            </a:lvl1pPr>
            <a:lvl2pPr indent="-342900" lvl="1" marL="914400" marR="0" algn="l">
              <a:lnSpc>
                <a:spcPct val="90000"/>
              </a:lnSpc>
              <a:spcBef>
                <a:spcPts val="375"/>
              </a:spcBef>
              <a:spcAft>
                <a:spcPts val="0"/>
              </a:spcAft>
              <a:buClr>
                <a:schemeClr val="dk1"/>
              </a:buClr>
              <a:buSzPts val="1800"/>
              <a:buFont typeface="Proxima Nova"/>
              <a:buChar char="•"/>
              <a:defRPr i="0" sz="1800" u="none" cap="none" strike="noStrike">
                <a:solidFill>
                  <a:schemeClr val="dk1"/>
                </a:solidFill>
                <a:latin typeface="Proxima Nova"/>
                <a:ea typeface="Proxima Nova"/>
                <a:cs typeface="Proxima Nova"/>
                <a:sym typeface="Proxima Nova"/>
              </a:defRPr>
            </a:lvl2pPr>
            <a:lvl3pPr indent="-323850" lvl="2" marL="1371600" marR="0" algn="l">
              <a:lnSpc>
                <a:spcPct val="90000"/>
              </a:lnSpc>
              <a:spcBef>
                <a:spcPts val="375"/>
              </a:spcBef>
              <a:spcAft>
                <a:spcPts val="0"/>
              </a:spcAft>
              <a:buClr>
                <a:schemeClr val="dk1"/>
              </a:buClr>
              <a:buSzPts val="1500"/>
              <a:buFont typeface="Proxima Nova"/>
              <a:buChar char="•"/>
              <a:defRPr i="0" sz="1500" u="none" cap="none" strike="noStrike">
                <a:solidFill>
                  <a:schemeClr val="dk1"/>
                </a:solidFill>
                <a:latin typeface="Proxima Nova"/>
                <a:ea typeface="Proxima Nova"/>
                <a:cs typeface="Proxima Nova"/>
                <a:sym typeface="Proxima Nova"/>
              </a:defRPr>
            </a:lvl3pPr>
            <a:lvl4pPr indent="-314325" lvl="3" marL="18288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4pPr>
            <a:lvl5pPr indent="-314325" lvl="4" marL="22860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5pPr>
            <a:lvl6pPr indent="-314325" lvl="5" marL="27432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6pPr>
            <a:lvl7pPr indent="-314325" lvl="6" marL="32004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7pPr>
            <a:lvl8pPr indent="-314325" lvl="7" marL="36576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8pPr>
            <a:lvl9pPr indent="-314325" lvl="8" marL="4114800" marR="0" algn="l">
              <a:lnSpc>
                <a:spcPct val="90000"/>
              </a:lnSpc>
              <a:spcBef>
                <a:spcPts val="375"/>
              </a:spcBef>
              <a:spcAft>
                <a:spcPts val="0"/>
              </a:spcAft>
              <a:buClr>
                <a:schemeClr val="dk1"/>
              </a:buClr>
              <a:buSzPts val="1350"/>
              <a:buFont typeface="Proxima Nova"/>
              <a:buChar char="•"/>
              <a:defRPr i="0" sz="1350" u="none" cap="none" strike="noStrike">
                <a:solidFill>
                  <a:schemeClr val="dk1"/>
                </a:solidFill>
                <a:latin typeface="Proxima Nova"/>
                <a:ea typeface="Proxima Nova"/>
                <a:cs typeface="Proxima Nova"/>
                <a:sym typeface="Proxima Nova"/>
              </a:defRPr>
            </a:lvl9pPr>
          </a:lstStyle>
          <a:p/>
        </p:txBody>
      </p:sp>
    </p:spTree>
  </p:cSld>
  <p:clrMapOvr>
    <a:masterClrMapping/>
  </p:clrMapOvr>
  <p:extLst>
    <p:ext uri="{DCECCB84-F9BA-43D5-87BE-67443E8EF086}">
      <p15:sldGuideLst>
        <p15:guide id="1" pos="302">
          <p15:clr>
            <a:srgbClr val="FBAE40"/>
          </p15:clr>
        </p15:guide>
        <p15:guide id="2" pos="5460">
          <p15:clr>
            <a:srgbClr val="FBAE40"/>
          </p15:clr>
        </p15:guide>
        <p15:guide id="3" orient="horz" pos="204">
          <p15:clr>
            <a:srgbClr val="FBAE40"/>
          </p15:clr>
        </p15:guide>
        <p15:guide id="4" pos="658">
          <p15:clr>
            <a:srgbClr val="FBAE40"/>
          </p15:clr>
        </p15:guide>
        <p15:guide id="5" pos="5103">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185" name="Shape 185"/>
        <p:cNvGrpSpPr/>
        <p:nvPr/>
      </p:nvGrpSpPr>
      <p:grpSpPr>
        <a:xfrm>
          <a:off x="0" y="0"/>
          <a:ext cx="0" cy="0"/>
          <a:chOff x="0" y="0"/>
          <a:chExt cx="0" cy="0"/>
        </a:xfrm>
      </p:grpSpPr>
      <p:sp>
        <p:nvSpPr>
          <p:cNvPr id="186" name="Google Shape;186;p41"/>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87" name="Google Shape;187;p41"/>
          <p:cNvSpPr txBox="1"/>
          <p:nvPr>
            <p:ph idx="1" type="subTitle"/>
          </p:nvPr>
        </p:nvSpPr>
        <p:spPr>
          <a:xfrm>
            <a:off x="311700" y="2834125"/>
            <a:ext cx="8520600" cy="792600"/>
          </a:xfrm>
          <a:prstGeom prst="rect">
            <a:avLst/>
          </a:prstGeom>
        </p:spPr>
        <p:txBody>
          <a:bodyPr anchorCtr="0" anchor="t" bIns="0" lIns="0" spcFirstLastPara="1" rIns="68575" wrap="square" tIns="0">
            <a:no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88" name="Google Shape;18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189" name="Shape 189"/>
        <p:cNvGrpSpPr/>
        <p:nvPr/>
      </p:nvGrpSpPr>
      <p:grpSpPr>
        <a:xfrm>
          <a:off x="0" y="0"/>
          <a:ext cx="0" cy="0"/>
          <a:chOff x="0" y="0"/>
          <a:chExt cx="0" cy="0"/>
        </a:xfrm>
      </p:grpSpPr>
      <p:sp>
        <p:nvSpPr>
          <p:cNvPr id="190" name="Google Shape;190;p42"/>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91" name="Google Shape;191;p42"/>
          <p:cNvSpPr txBox="1"/>
          <p:nvPr>
            <p:ph idx="1" type="subTitle"/>
          </p:nvPr>
        </p:nvSpPr>
        <p:spPr>
          <a:xfrm>
            <a:off x="311700" y="2834125"/>
            <a:ext cx="8520600" cy="792600"/>
          </a:xfrm>
          <a:prstGeom prst="rect">
            <a:avLst/>
          </a:prstGeom>
        </p:spPr>
        <p:txBody>
          <a:bodyPr anchorCtr="0" anchor="t" bIns="0" lIns="0" spcFirstLastPara="1" rIns="68575" wrap="square" tIns="0">
            <a:no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92" name="Google Shape;19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Blank Slide">
  <p:cSld name="05-Blank Slide">
    <p:bg>
      <p:bgPr>
        <a:solidFill>
          <a:srgbClr val="FFFFFF"/>
        </a:solidFill>
      </p:bgPr>
    </p:bg>
    <p:spTree>
      <p:nvGrpSpPr>
        <p:cNvPr id="193" name="Shape 1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1.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850"/>
        </a:solidFill>
      </p:bgPr>
    </p:bg>
    <p:spTree>
      <p:nvGrpSpPr>
        <p:cNvPr id="57" name="Shape 57"/>
        <p:cNvGrpSpPr/>
        <p:nvPr/>
      </p:nvGrpSpPr>
      <p:grpSpPr>
        <a:xfrm>
          <a:off x="0" y="0"/>
          <a:ext cx="0" cy="0"/>
          <a:chOff x="0" y="0"/>
          <a:chExt cx="0" cy="0"/>
        </a:xfrm>
      </p:grpSpPr>
      <p:sp>
        <p:nvSpPr>
          <p:cNvPr id="58" name="Google Shape;58;p14"/>
          <p:cNvSpPr txBox="1"/>
          <p:nvPr>
            <p:ph type="title"/>
          </p:nvPr>
        </p:nvSpPr>
        <p:spPr>
          <a:xfrm>
            <a:off x="213484" y="472369"/>
            <a:ext cx="5426700" cy="5661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rgbClr val="009C33"/>
              </a:buClr>
              <a:buSzPts val="2400"/>
              <a:buFont typeface="Source Sans Pro"/>
              <a:buNone/>
              <a:defRPr b="1" i="0" sz="2400" u="none" cap="none" strike="noStrike">
                <a:solidFill>
                  <a:srgbClr val="009C33"/>
                </a:solidFill>
                <a:latin typeface="Source Sans Pro"/>
                <a:ea typeface="Source Sans Pro"/>
                <a:cs typeface="Source Sans Pro"/>
                <a:sym typeface="Source Sans Pro"/>
              </a:defRPr>
            </a:lvl1pPr>
            <a:lvl2pPr lvl="1">
              <a:spcBef>
                <a:spcPts val="0"/>
              </a:spcBef>
              <a:spcAft>
                <a:spcPts val="0"/>
              </a:spcAft>
              <a:buSzPts val="1100"/>
              <a:buFont typeface="Source Sans Pro"/>
              <a:buNone/>
              <a:defRPr sz="1400">
                <a:latin typeface="Source Sans Pro"/>
                <a:ea typeface="Source Sans Pro"/>
                <a:cs typeface="Source Sans Pro"/>
                <a:sym typeface="Source Sans Pro"/>
              </a:defRPr>
            </a:lvl2pPr>
            <a:lvl3pPr lvl="2">
              <a:spcBef>
                <a:spcPts val="0"/>
              </a:spcBef>
              <a:spcAft>
                <a:spcPts val="0"/>
              </a:spcAft>
              <a:buSzPts val="1100"/>
              <a:buFont typeface="Source Sans Pro"/>
              <a:buNone/>
              <a:defRPr sz="1400">
                <a:latin typeface="Source Sans Pro"/>
                <a:ea typeface="Source Sans Pro"/>
                <a:cs typeface="Source Sans Pro"/>
                <a:sym typeface="Source Sans Pro"/>
              </a:defRPr>
            </a:lvl3pPr>
            <a:lvl4pPr lvl="3">
              <a:spcBef>
                <a:spcPts val="0"/>
              </a:spcBef>
              <a:spcAft>
                <a:spcPts val="0"/>
              </a:spcAft>
              <a:buSzPts val="1100"/>
              <a:buFont typeface="Source Sans Pro"/>
              <a:buNone/>
              <a:defRPr sz="1400">
                <a:latin typeface="Source Sans Pro"/>
                <a:ea typeface="Source Sans Pro"/>
                <a:cs typeface="Source Sans Pro"/>
                <a:sym typeface="Source Sans Pro"/>
              </a:defRPr>
            </a:lvl4pPr>
            <a:lvl5pPr lvl="4">
              <a:spcBef>
                <a:spcPts val="0"/>
              </a:spcBef>
              <a:spcAft>
                <a:spcPts val="0"/>
              </a:spcAft>
              <a:buSzPts val="1100"/>
              <a:buFont typeface="Source Sans Pro"/>
              <a:buNone/>
              <a:defRPr sz="1400">
                <a:latin typeface="Source Sans Pro"/>
                <a:ea typeface="Source Sans Pro"/>
                <a:cs typeface="Source Sans Pro"/>
                <a:sym typeface="Source Sans Pro"/>
              </a:defRPr>
            </a:lvl5pPr>
            <a:lvl6pPr lvl="5">
              <a:spcBef>
                <a:spcPts val="0"/>
              </a:spcBef>
              <a:spcAft>
                <a:spcPts val="0"/>
              </a:spcAft>
              <a:buSzPts val="1100"/>
              <a:buFont typeface="Source Sans Pro"/>
              <a:buNone/>
              <a:defRPr sz="1400">
                <a:latin typeface="Source Sans Pro"/>
                <a:ea typeface="Source Sans Pro"/>
                <a:cs typeface="Source Sans Pro"/>
                <a:sym typeface="Source Sans Pro"/>
              </a:defRPr>
            </a:lvl6pPr>
            <a:lvl7pPr lvl="6">
              <a:spcBef>
                <a:spcPts val="0"/>
              </a:spcBef>
              <a:spcAft>
                <a:spcPts val="0"/>
              </a:spcAft>
              <a:buSzPts val="1100"/>
              <a:buFont typeface="Source Sans Pro"/>
              <a:buNone/>
              <a:defRPr sz="1400">
                <a:latin typeface="Source Sans Pro"/>
                <a:ea typeface="Source Sans Pro"/>
                <a:cs typeface="Source Sans Pro"/>
                <a:sym typeface="Source Sans Pro"/>
              </a:defRPr>
            </a:lvl7pPr>
            <a:lvl8pPr lvl="7">
              <a:spcBef>
                <a:spcPts val="0"/>
              </a:spcBef>
              <a:spcAft>
                <a:spcPts val="0"/>
              </a:spcAft>
              <a:buSzPts val="1100"/>
              <a:buFont typeface="Source Sans Pro"/>
              <a:buNone/>
              <a:defRPr sz="1400">
                <a:latin typeface="Source Sans Pro"/>
                <a:ea typeface="Source Sans Pro"/>
                <a:cs typeface="Source Sans Pro"/>
                <a:sym typeface="Source Sans Pro"/>
              </a:defRPr>
            </a:lvl8pPr>
            <a:lvl9pPr lvl="8">
              <a:spcBef>
                <a:spcPts val="0"/>
              </a:spcBef>
              <a:spcAft>
                <a:spcPts val="0"/>
              </a:spcAft>
              <a:buSzPts val="1100"/>
              <a:buFont typeface="Source Sans Pro"/>
              <a:buNone/>
              <a:defRPr sz="1400">
                <a:latin typeface="Source Sans Pro"/>
                <a:ea typeface="Source Sans Pro"/>
                <a:cs typeface="Source Sans Pro"/>
                <a:sym typeface="Source Sans Pro"/>
              </a:defRPr>
            </a:lvl9pPr>
          </a:lstStyle>
          <a:p/>
        </p:txBody>
      </p:sp>
      <p:sp>
        <p:nvSpPr>
          <p:cNvPr id="59" name="Google Shape;59;p14"/>
          <p:cNvSpPr txBox="1"/>
          <p:nvPr>
            <p:ph idx="1" type="body"/>
          </p:nvPr>
        </p:nvSpPr>
        <p:spPr>
          <a:xfrm>
            <a:off x="213484" y="1152769"/>
            <a:ext cx="5513700" cy="3263400"/>
          </a:xfrm>
          <a:prstGeom prst="rect">
            <a:avLst/>
          </a:prstGeom>
          <a:noFill/>
          <a:ln>
            <a:noFill/>
          </a:ln>
        </p:spPr>
        <p:txBody>
          <a:bodyPr anchorCtr="0" anchor="t" bIns="0" lIns="0" spcFirstLastPara="1" rIns="68575" wrap="square" tIns="0">
            <a:noAutofit/>
          </a:bodyPr>
          <a:lstStyle>
            <a:lvl1pPr indent="-361950" lvl="0" marL="457200" marR="0" algn="l">
              <a:lnSpc>
                <a:spcPct val="90000"/>
              </a:lnSpc>
              <a:spcBef>
                <a:spcPts val="800"/>
              </a:spcBef>
              <a:spcAft>
                <a:spcPts val="0"/>
              </a:spcAft>
              <a:buClr>
                <a:srgbClr val="3F3F3F"/>
              </a:buClr>
              <a:buSzPts val="2100"/>
              <a:buFont typeface="Source Sans Pro"/>
              <a:buChar char="•"/>
              <a:defRPr i="0" sz="2100" u="none" cap="none" strike="noStrike">
                <a:solidFill>
                  <a:srgbClr val="3F3F3F"/>
                </a:solidFill>
                <a:latin typeface="Source Sans Pro"/>
                <a:ea typeface="Source Sans Pro"/>
                <a:cs typeface="Source Sans Pro"/>
                <a:sym typeface="Source Sans Pro"/>
              </a:defRPr>
            </a:lvl1pPr>
            <a:lvl2pPr indent="-342900" lvl="1" marL="914400" marR="0" algn="l">
              <a:lnSpc>
                <a:spcPct val="90000"/>
              </a:lnSpc>
              <a:spcBef>
                <a:spcPts val="400"/>
              </a:spcBef>
              <a:spcAft>
                <a:spcPts val="0"/>
              </a:spcAft>
              <a:buClr>
                <a:srgbClr val="3F3F3F"/>
              </a:buClr>
              <a:buSzPts val="1800"/>
              <a:buFont typeface="Source Sans Pro"/>
              <a:buChar char="•"/>
              <a:defRPr i="0" sz="1800" u="none" cap="none" strike="noStrike">
                <a:solidFill>
                  <a:srgbClr val="3F3F3F"/>
                </a:solidFill>
                <a:latin typeface="Source Sans Pro"/>
                <a:ea typeface="Source Sans Pro"/>
                <a:cs typeface="Source Sans Pro"/>
                <a:sym typeface="Source Sans Pro"/>
              </a:defRPr>
            </a:lvl2pPr>
            <a:lvl3pPr indent="-323850" lvl="2" marL="1371600" marR="0" algn="l">
              <a:lnSpc>
                <a:spcPct val="90000"/>
              </a:lnSpc>
              <a:spcBef>
                <a:spcPts val="400"/>
              </a:spcBef>
              <a:spcAft>
                <a:spcPts val="0"/>
              </a:spcAft>
              <a:buClr>
                <a:srgbClr val="3F3F3F"/>
              </a:buClr>
              <a:buSzPts val="1500"/>
              <a:buFont typeface="Source Sans Pro"/>
              <a:buChar char="•"/>
              <a:defRPr i="0" sz="1500" u="none" cap="none" strike="noStrike">
                <a:solidFill>
                  <a:srgbClr val="3F3F3F"/>
                </a:solidFill>
                <a:latin typeface="Source Sans Pro"/>
                <a:ea typeface="Source Sans Pro"/>
                <a:cs typeface="Source Sans Pro"/>
                <a:sym typeface="Source Sans Pro"/>
              </a:defRPr>
            </a:lvl3pPr>
            <a:lvl4pPr indent="-317500" lvl="3" marL="1828800" marR="0" algn="l">
              <a:lnSpc>
                <a:spcPct val="90000"/>
              </a:lnSpc>
              <a:spcBef>
                <a:spcPts val="400"/>
              </a:spcBef>
              <a:spcAft>
                <a:spcPts val="0"/>
              </a:spcAft>
              <a:buClr>
                <a:srgbClr val="3F3F3F"/>
              </a:buClr>
              <a:buSzPts val="1400"/>
              <a:buFont typeface="Source Sans Pro"/>
              <a:buChar char="•"/>
              <a:defRPr i="0" sz="1400" u="none" cap="none" strike="noStrike">
                <a:solidFill>
                  <a:srgbClr val="3F3F3F"/>
                </a:solidFill>
                <a:latin typeface="Source Sans Pro"/>
                <a:ea typeface="Source Sans Pro"/>
                <a:cs typeface="Source Sans Pro"/>
                <a:sym typeface="Source Sans Pro"/>
              </a:defRPr>
            </a:lvl4pPr>
            <a:lvl5pPr indent="-317500" lvl="4" marL="2286000" marR="0" algn="l">
              <a:lnSpc>
                <a:spcPct val="90000"/>
              </a:lnSpc>
              <a:spcBef>
                <a:spcPts val="400"/>
              </a:spcBef>
              <a:spcAft>
                <a:spcPts val="0"/>
              </a:spcAft>
              <a:buClr>
                <a:srgbClr val="3F3F3F"/>
              </a:buClr>
              <a:buSzPts val="1400"/>
              <a:buFont typeface="Source Sans Pro"/>
              <a:buChar char="•"/>
              <a:defRPr i="0" sz="1400" u="none" cap="none" strike="noStrike">
                <a:solidFill>
                  <a:srgbClr val="3F3F3F"/>
                </a:solidFill>
                <a:latin typeface="Source Sans Pro"/>
                <a:ea typeface="Source Sans Pro"/>
                <a:cs typeface="Source Sans Pro"/>
                <a:sym typeface="Source Sans Pro"/>
              </a:defRPr>
            </a:lvl5pPr>
            <a:lvl6pPr indent="-317500" lvl="5" marL="2743200" marR="0" algn="l">
              <a:lnSpc>
                <a:spcPct val="90000"/>
              </a:lnSpc>
              <a:spcBef>
                <a:spcPts val="400"/>
              </a:spcBef>
              <a:spcAft>
                <a:spcPts val="0"/>
              </a:spcAft>
              <a:buClr>
                <a:schemeClr val="dk1"/>
              </a:buClr>
              <a:buSzPts val="1400"/>
              <a:buFont typeface="Source Sans Pro"/>
              <a:buChar char="•"/>
              <a:defRPr i="0" sz="1400" u="none" cap="none" strike="noStrike">
                <a:solidFill>
                  <a:schemeClr val="dk1"/>
                </a:solidFill>
                <a:latin typeface="Source Sans Pro"/>
                <a:ea typeface="Source Sans Pro"/>
                <a:cs typeface="Source Sans Pro"/>
                <a:sym typeface="Source Sans Pro"/>
              </a:defRPr>
            </a:lvl6pPr>
            <a:lvl7pPr indent="-317500" lvl="6" marL="3200400" marR="0" algn="l">
              <a:lnSpc>
                <a:spcPct val="90000"/>
              </a:lnSpc>
              <a:spcBef>
                <a:spcPts val="400"/>
              </a:spcBef>
              <a:spcAft>
                <a:spcPts val="0"/>
              </a:spcAft>
              <a:buClr>
                <a:schemeClr val="dk1"/>
              </a:buClr>
              <a:buSzPts val="1400"/>
              <a:buFont typeface="Source Sans Pro"/>
              <a:buChar char="•"/>
              <a:defRPr i="0" sz="1400" u="none" cap="none" strike="noStrike">
                <a:solidFill>
                  <a:schemeClr val="dk1"/>
                </a:solidFill>
                <a:latin typeface="Source Sans Pro"/>
                <a:ea typeface="Source Sans Pro"/>
                <a:cs typeface="Source Sans Pro"/>
                <a:sym typeface="Source Sans Pro"/>
              </a:defRPr>
            </a:lvl7pPr>
            <a:lvl8pPr indent="-317500" lvl="7" marL="3657600" marR="0" algn="l">
              <a:lnSpc>
                <a:spcPct val="90000"/>
              </a:lnSpc>
              <a:spcBef>
                <a:spcPts val="400"/>
              </a:spcBef>
              <a:spcAft>
                <a:spcPts val="0"/>
              </a:spcAft>
              <a:buClr>
                <a:schemeClr val="dk1"/>
              </a:buClr>
              <a:buSzPts val="1400"/>
              <a:buFont typeface="Source Sans Pro"/>
              <a:buChar char="•"/>
              <a:defRPr i="0" sz="1400" u="none" cap="none" strike="noStrike">
                <a:solidFill>
                  <a:schemeClr val="dk1"/>
                </a:solidFill>
                <a:latin typeface="Source Sans Pro"/>
                <a:ea typeface="Source Sans Pro"/>
                <a:cs typeface="Source Sans Pro"/>
                <a:sym typeface="Source Sans Pro"/>
              </a:defRPr>
            </a:lvl8pPr>
            <a:lvl9pPr indent="-317500" lvl="8" marL="4114800" marR="0" algn="l">
              <a:lnSpc>
                <a:spcPct val="90000"/>
              </a:lnSpc>
              <a:spcBef>
                <a:spcPts val="400"/>
              </a:spcBef>
              <a:spcAft>
                <a:spcPts val="0"/>
              </a:spcAft>
              <a:buClr>
                <a:schemeClr val="dk1"/>
              </a:buClr>
              <a:buSzPts val="1400"/>
              <a:buFont typeface="Source Sans Pro"/>
              <a:buChar char="•"/>
              <a:defRPr i="0" sz="1400" u="none" cap="none" strike="noStrike">
                <a:solidFill>
                  <a:schemeClr val="dk1"/>
                </a:solidFill>
                <a:latin typeface="Source Sans Pro"/>
                <a:ea typeface="Source Sans Pro"/>
                <a:cs typeface="Source Sans Pro"/>
                <a:sym typeface="Source Sans Pro"/>
              </a:defRPr>
            </a:lvl9pPr>
          </a:lstStyle>
          <a:p/>
        </p:txBody>
      </p:sp>
      <p:sp>
        <p:nvSpPr>
          <p:cNvPr id="60" name="Google Shape;60;p14"/>
          <p:cNvSpPr txBox="1"/>
          <p:nvPr/>
        </p:nvSpPr>
        <p:spPr>
          <a:xfrm>
            <a:off x="233926" y="4813313"/>
            <a:ext cx="1537800" cy="13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800">
                <a:solidFill>
                  <a:srgbClr val="FFFFFF"/>
                </a:solidFill>
                <a:latin typeface="Source Sans Pro"/>
                <a:ea typeface="Source Sans Pro"/>
                <a:cs typeface="Source Sans Pro"/>
                <a:sym typeface="Source Sans Pro"/>
              </a:rPr>
              <a:t>Confidential  |  For Internal Use Only</a:t>
            </a:r>
            <a:endParaRPr sz="800">
              <a:solidFill>
                <a:srgbClr val="FFFFFF"/>
              </a:solidFill>
              <a:latin typeface="Source Sans Pro"/>
              <a:ea typeface="Source Sans Pro"/>
              <a:cs typeface="Source Sans Pro"/>
              <a:sym typeface="Source Sans Pro"/>
            </a:endParaRPr>
          </a:p>
        </p:txBody>
      </p:sp>
      <p:pic>
        <p:nvPicPr>
          <p:cNvPr id="61" name="Google Shape;61;p14"/>
          <p:cNvPicPr preferRelativeResize="0"/>
          <p:nvPr/>
        </p:nvPicPr>
        <p:blipFill>
          <a:blip r:embed="rId1">
            <a:alphaModFix/>
          </a:blip>
          <a:stretch>
            <a:fillRect/>
          </a:stretch>
        </p:blipFill>
        <p:spPr>
          <a:xfrm>
            <a:off x="233925" y="4511231"/>
            <a:ext cx="611756" cy="2236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8">
          <p15:clr>
            <a:srgbClr val="EA4335"/>
          </p15:clr>
        </p15:guide>
        <p15:guide id="2" orient="horz" pos="3120">
          <p15:clr>
            <a:srgbClr val="EA4335"/>
          </p15:clr>
        </p15:guide>
        <p15:guide id="3" orient="horz" pos="284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linkedin.com/posts/rubendominguezibar_this-company-is-putting-ai-powered-glasses-ugcPost-7349851307630804992-_DpT/?utm_source=share&amp;utm_medium=member_desktop&amp;rcm=ACoAAAuB1noBhbepvcrQOqMt6pqgRHDV7fU7f8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slide" Target="/ppt/slid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padlet.com/SGLNTeam/sgln-tech-group-9-og0dc3wm80czqako" TargetMode="Externa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ycp.com/insights/whitepaper/the-future-of-eldercare-in-singapore?utm_source=chatgpt.com" TargetMode="External"/><Relationship Id="rId4" Type="http://schemas.openxmlformats.org/officeDocument/2006/relationships/hyperlink" Target="https://pubmed.ncbi.nlm.nih.gov/24557466/" TargetMode="External"/><Relationship Id="rId9" Type="http://schemas.openxmlformats.org/officeDocument/2006/relationships/hyperlink" Target="https://bmcgeriatr.biomedcentral.com/articles/10.1186/s12877-023-04567-w?utm_source=chatgpt.com" TargetMode="External"/><Relationship Id="rId5" Type="http://schemas.openxmlformats.org/officeDocument/2006/relationships/hyperlink" Target="https://www.moh.gov.sg/newsroom/projected-increase-in-informal-caregivers" TargetMode="External"/><Relationship Id="rId6" Type="http://schemas.openxmlformats.org/officeDocument/2006/relationships/hyperlink" Target="https://www.straitstimes.com/singapore/salary-guidelines-for-community-care-sector-to-help-it-be-more-competitive-in-getting-workers" TargetMode="External"/><Relationship Id="rId7" Type="http://schemas.openxmlformats.org/officeDocument/2006/relationships/hyperlink" Target="https://cnalifestyle.channelnewsasia.com/singapore/demand-professional-caregiving-help-elderly-rise-304406?utm_source=chatgpt.com" TargetMode="External"/><Relationship Id="rId8" Type="http://schemas.openxmlformats.org/officeDocument/2006/relationships/hyperlink" Target="https://cnalifestyle.channelnewsasia.com/cna-insider/when-carers-are-burnt-out-who-cares-them-314531" TargetMode="External"/><Relationship Id="rId11" Type="http://schemas.openxmlformats.org/officeDocument/2006/relationships/image" Target="../media/image15.png"/><Relationship Id="rId10" Type="http://schemas.openxmlformats.org/officeDocument/2006/relationships/image" Target="../media/image9.png"/><Relationship Id="rId13" Type="http://schemas.openxmlformats.org/officeDocument/2006/relationships/image" Target="../media/image6.png"/><Relationship Id="rId12" Type="http://schemas.openxmlformats.org/officeDocument/2006/relationships/image" Target="../media/image2.png"/><Relationship Id="rId15" Type="http://schemas.openxmlformats.org/officeDocument/2006/relationships/image" Target="../media/image8.png"/><Relationship Id="rId1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ask.gov.sg/healthiersg/questions/clkrnuwrz0030l40g2pzlsiq0" TargetMode="External"/><Relationship Id="rId4" Type="http://schemas.openxmlformats.org/officeDocument/2006/relationships/hyperlink" Target="https://www.homage.sg/services/elderly-care/" TargetMode="External"/><Relationship Id="rId5" Type="http://schemas.openxmlformats.org/officeDocument/2006/relationships/hyperlink" Target="https://www.channelnewsasia.com/today/big-read/big-read-ageing-population-more-seniors-needing-care-assisted-living-3599786" TargetMode="External"/><Relationship Id="rId6" Type="http://schemas.openxmlformats.org/officeDocument/2006/relationships/hyperlink" Target="https://www.straitstimes.com/singapore/community/annual-informal-caregiving-hours-valued-at-128-billion-duke-nus-study" TargetMode="External"/><Relationship Id="rId7"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44"/>
          <p:cNvPicPr preferRelativeResize="0"/>
          <p:nvPr/>
        </p:nvPicPr>
        <p:blipFill>
          <a:blip r:embed="rId3">
            <a:alphaModFix/>
          </a:blip>
          <a:stretch>
            <a:fillRect/>
          </a:stretch>
        </p:blipFill>
        <p:spPr>
          <a:xfrm>
            <a:off x="152400" y="152400"/>
            <a:ext cx="8362950" cy="481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5"/>
          <p:cNvSpPr/>
          <p:nvPr/>
        </p:nvSpPr>
        <p:spPr>
          <a:xfrm>
            <a:off x="4422075" y="98345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204" name="Google Shape;204;p45"/>
          <p:cNvSpPr/>
          <p:nvPr/>
        </p:nvSpPr>
        <p:spPr>
          <a:xfrm>
            <a:off x="2973675" y="983450"/>
            <a:ext cx="1399500" cy="71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Demand refers to who exactly?</a:t>
            </a:r>
            <a:endParaRPr sz="1200"/>
          </a:p>
        </p:txBody>
      </p:sp>
      <p:sp>
        <p:nvSpPr>
          <p:cNvPr id="205" name="Google Shape;205;p45"/>
          <p:cNvSpPr/>
          <p:nvPr/>
        </p:nvSpPr>
        <p:spPr>
          <a:xfrm>
            <a:off x="1525275" y="983450"/>
            <a:ext cx="1399500" cy="71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does it mean to</a:t>
            </a:r>
            <a:r>
              <a:rPr lang="en" sz="1200"/>
              <a:t> </a:t>
            </a:r>
            <a:r>
              <a:rPr lang="en" sz="1200"/>
              <a:t>CERTIFY</a:t>
            </a:r>
            <a:r>
              <a:rPr lang="en" sz="1200"/>
              <a:t> the </a:t>
            </a:r>
            <a:r>
              <a:rPr lang="en" sz="1200"/>
              <a:t>supply</a:t>
            </a:r>
            <a:r>
              <a:rPr lang="en" sz="1200"/>
              <a:t>?</a:t>
            </a:r>
            <a:endParaRPr sz="1200"/>
          </a:p>
        </p:txBody>
      </p:sp>
      <p:sp>
        <p:nvSpPr>
          <p:cNvPr id="206" name="Google Shape;206;p45"/>
          <p:cNvSpPr/>
          <p:nvPr/>
        </p:nvSpPr>
        <p:spPr>
          <a:xfrm>
            <a:off x="76875" y="983450"/>
            <a:ext cx="1399500" cy="713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does it mean to</a:t>
            </a:r>
            <a:r>
              <a:rPr lang="en" sz="1200"/>
              <a:t> OWN &amp; MANAGE the supply?</a:t>
            </a:r>
            <a:endParaRPr sz="1200"/>
          </a:p>
        </p:txBody>
      </p:sp>
      <p:sp>
        <p:nvSpPr>
          <p:cNvPr id="207" name="Google Shape;207;p45"/>
          <p:cNvSpPr/>
          <p:nvPr/>
        </p:nvSpPr>
        <p:spPr>
          <a:xfrm>
            <a:off x="7318875" y="98345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208" name="Google Shape;208;p45"/>
          <p:cNvSpPr/>
          <p:nvPr/>
        </p:nvSpPr>
        <p:spPr>
          <a:xfrm>
            <a:off x="5870475" y="98345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209" name="Google Shape;209;p45"/>
          <p:cNvSpPr txBox="1"/>
          <p:nvPr>
            <p:ph type="title"/>
          </p:nvPr>
        </p:nvSpPr>
        <p:spPr>
          <a:xfrm>
            <a:off x="197775" y="1100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Marketplace</a:t>
            </a:r>
            <a:endParaRPr/>
          </a:p>
        </p:txBody>
      </p:sp>
      <p:sp>
        <p:nvSpPr>
          <p:cNvPr id="210" name="Google Shape;210;p45"/>
          <p:cNvSpPr/>
          <p:nvPr/>
        </p:nvSpPr>
        <p:spPr>
          <a:xfrm>
            <a:off x="2973675" y="252780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Who can be part of the Demand pool? </a:t>
            </a:r>
            <a:endParaRPr sz="1200"/>
          </a:p>
        </p:txBody>
      </p:sp>
      <p:sp>
        <p:nvSpPr>
          <p:cNvPr id="211" name="Google Shape;211;p45"/>
          <p:cNvSpPr/>
          <p:nvPr/>
        </p:nvSpPr>
        <p:spPr>
          <a:xfrm>
            <a:off x="1525275" y="252780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Who CERTIFIES the supply?</a:t>
            </a:r>
            <a:endParaRPr sz="1200"/>
          </a:p>
        </p:txBody>
      </p:sp>
      <p:sp>
        <p:nvSpPr>
          <p:cNvPr id="212" name="Google Shape;212;p45"/>
          <p:cNvSpPr/>
          <p:nvPr/>
        </p:nvSpPr>
        <p:spPr>
          <a:xfrm>
            <a:off x="76875" y="2527800"/>
            <a:ext cx="1399500" cy="49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Who OWNS &amp; MANAGES the supply?</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6" name="Shape 216"/>
        <p:cNvGrpSpPr/>
        <p:nvPr/>
      </p:nvGrpSpPr>
      <p:grpSpPr>
        <a:xfrm>
          <a:off x="0" y="0"/>
          <a:ext cx="0" cy="0"/>
          <a:chOff x="0" y="0"/>
          <a:chExt cx="0" cy="0"/>
        </a:xfrm>
      </p:grpSpPr>
      <p:sp>
        <p:nvSpPr>
          <p:cNvPr id="217" name="Google Shape;21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 the caregivers need respite for?</a:t>
            </a:r>
            <a:endParaRPr/>
          </a:p>
        </p:txBody>
      </p:sp>
      <p:sp>
        <p:nvSpPr>
          <p:cNvPr id="218" name="Google Shape;218;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Take my elderly to the clinic</a:t>
            </a:r>
            <a:endParaRPr/>
          </a:p>
          <a:p>
            <a:pPr indent="-342900" lvl="0" marL="457200" rtl="0" algn="l">
              <a:spcBef>
                <a:spcPts val="0"/>
              </a:spcBef>
              <a:spcAft>
                <a:spcPts val="0"/>
              </a:spcAft>
              <a:buSzPts val="1800"/>
              <a:buChar char="-"/>
            </a:pPr>
            <a:r>
              <a:rPr lang="en"/>
              <a:t>Play mahjong / entertain the elderly for 1-2 hours</a:t>
            </a:r>
            <a:endParaRPr/>
          </a:p>
          <a:p>
            <a:pPr indent="-342900" lvl="0" marL="457200" rtl="0" algn="l">
              <a:spcBef>
                <a:spcPts val="0"/>
              </a:spcBef>
              <a:spcAft>
                <a:spcPts val="0"/>
              </a:spcAft>
              <a:buSzPts val="1800"/>
              <a:buChar char="-"/>
            </a:pPr>
            <a:r>
              <a:rPr lang="en"/>
              <a:t>Fetch food from the condo gate</a:t>
            </a:r>
            <a:endParaRPr/>
          </a:p>
          <a:p>
            <a:pPr indent="-342900" lvl="0" marL="457200" rtl="0" algn="l">
              <a:spcBef>
                <a:spcPts val="0"/>
              </a:spcBef>
              <a:spcAft>
                <a:spcPts val="0"/>
              </a:spcAft>
              <a:buSzPts val="1800"/>
              <a:buChar char="-"/>
            </a:pPr>
            <a:r>
              <a:rPr lang="en"/>
              <a:t>Household chores</a:t>
            </a:r>
            <a:endParaRPr/>
          </a:p>
          <a:p>
            <a:pPr indent="-342900" lvl="0" marL="457200" rtl="0" algn="l">
              <a:spcBef>
                <a:spcPts val="0"/>
              </a:spcBef>
              <a:spcAft>
                <a:spcPts val="0"/>
              </a:spcAft>
              <a:buSzPts val="1800"/>
              <a:buChar char="-"/>
            </a:pPr>
            <a:r>
              <a:rPr lang="en"/>
              <a:t>Enjoy lunch together</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What do the caregivers need respite for?</a:t>
            </a:r>
            <a:endParaRPr/>
          </a:p>
          <a:p>
            <a:pPr indent="0" lvl="0" marL="0" rtl="0" algn="l">
              <a:spcBef>
                <a:spcPts val="0"/>
              </a:spcBef>
              <a:spcAft>
                <a:spcPts val="0"/>
              </a:spcAft>
              <a:buNone/>
            </a:pPr>
            <a:r>
              <a:t/>
            </a:r>
            <a:endParaRPr sz="1200"/>
          </a:p>
        </p:txBody>
      </p:sp>
      <p:sp>
        <p:nvSpPr>
          <p:cNvPr id="224" name="Google Shape;224;p47"/>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chemeClr val="dk1"/>
                </a:solidFill>
              </a:rPr>
              <a:t>By task (low touch → clinical):</a:t>
            </a:r>
            <a:endParaRPr/>
          </a:p>
        </p:txBody>
      </p:sp>
      <p:sp>
        <p:nvSpPr>
          <p:cNvPr id="225" name="Google Shape;225;p47"/>
          <p:cNvSpPr txBox="1"/>
          <p:nvPr/>
        </p:nvSpPr>
        <p:spPr>
          <a:xfrm>
            <a:off x="367325" y="1179750"/>
            <a:ext cx="4551000" cy="405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dk1"/>
                </a:solidFill>
              </a:rPr>
              <a:t>Companionship &amp; engagement</a:t>
            </a:r>
            <a:r>
              <a:rPr lang="en" sz="1000">
                <a:solidFill>
                  <a:schemeClr val="dk1"/>
                </a:solidFill>
              </a:rPr>
              <a:t> — Conversation and company to fight isolation, games/hobbies (chess, cards, puzzles), reading, music, reminiscence, accompanied walks and outings (park, café, place of worship), and cognitive stimulation that matters a lot in early dementia.</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Wellness checks &amp; supervision</a:t>
            </a:r>
            <a:r>
              <a:rPr lang="en" sz="1000">
                <a:solidFill>
                  <a:schemeClr val="dk1"/>
                </a:solidFill>
              </a:rPr>
              <a:t> — A drop-in to confirm they've eaten, taken meds, and are safe and okay; fall-risk and mobility supervision; dementia wandering/sundowning watch; overnight supervision; and lightweight video check-ins between in-person visits.</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Medical accompaniment &amp; coordination</a:t>
            </a:r>
            <a:r>
              <a:rPr lang="en" sz="1000">
                <a:solidFill>
                  <a:schemeClr val="dk1"/>
                </a:solidFill>
              </a:rPr>
              <a:t> — Transport to and company at the ER/urgent care, routine doctor and specialist visits, and recurring treatments (dialysis, physio, chemo, dental); post-discharge supervision. Plus the under-appreciated </a:t>
            </a:r>
            <a:r>
              <a:rPr i="1" lang="en" sz="1000">
                <a:solidFill>
                  <a:schemeClr val="dk1"/>
                </a:solidFill>
              </a:rPr>
              <a:t>coordination</a:t>
            </a:r>
            <a:r>
              <a:rPr lang="en" sz="1000">
                <a:solidFill>
                  <a:schemeClr val="dk1"/>
                </a:solidFill>
              </a:rPr>
              <a:t> layer: taking notes at appointments, relaying instructions back to the family, reconciling medications, prompting or administering meds where qualified.</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Personal care (ADLs)</a:t>
            </a:r>
            <a:r>
              <a:rPr lang="en" sz="1000">
                <a:solidFill>
                  <a:schemeClr val="dk1"/>
                </a:solidFill>
              </a:rPr>
              <a:t> — Bathing, dressing, grooming, toileting, feeding, transfers, continence care. This needs a trained aide, not a companion.</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Household &amp; errands (IADLs)</a:t>
            </a:r>
            <a:r>
              <a:rPr lang="en" sz="1000">
                <a:solidFill>
                  <a:schemeClr val="dk1"/>
                </a:solidFill>
              </a:rPr>
              <a:t> — meal prep, light housekeeping and laundry, grocery and pharmacy runs, bill help, and transport to errands or social events.</a:t>
            </a:r>
            <a:endParaRPr sz="1000">
              <a:solidFill>
                <a:schemeClr val="dk1"/>
              </a:solidFill>
            </a:endParaRPr>
          </a:p>
          <a:p>
            <a:pPr indent="0" lvl="0" marL="0" rtl="0" algn="l">
              <a:lnSpc>
                <a:spcPct val="115000"/>
              </a:lnSpc>
              <a:spcBef>
                <a:spcPts val="0"/>
              </a:spcBef>
              <a:spcAft>
                <a:spcPts val="0"/>
              </a:spcAft>
              <a:buNone/>
            </a:pPr>
            <a:r>
              <a:rPr b="1" lang="en" sz="1000">
                <a:solidFill>
                  <a:schemeClr val="dk1"/>
                </a:solidFill>
              </a:rPr>
              <a:t>Specialized respite</a:t>
            </a:r>
            <a:r>
              <a:rPr lang="en" sz="1000">
                <a:solidFill>
                  <a:schemeClr val="dk1"/>
                </a:solidFill>
              </a:rPr>
              <a:t> — dementia/Alzheimer's-trained cover, palliative/hospice respite, and skilled nursing tasks (wound care, injections, vitals) at the nurse level.</a:t>
            </a:r>
            <a:endParaRPr sz="1000">
              <a:solidFill>
                <a:schemeClr val="dk1"/>
              </a:solidFill>
            </a:endParaRPr>
          </a:p>
        </p:txBody>
      </p:sp>
      <p:pic>
        <p:nvPicPr>
          <p:cNvPr id="226" name="Google Shape;226;p47" title="Screenshot 2026-06-25 at 12.44.23 PM.png"/>
          <p:cNvPicPr preferRelativeResize="0"/>
          <p:nvPr/>
        </p:nvPicPr>
        <p:blipFill>
          <a:blip r:embed="rId3">
            <a:alphaModFix/>
          </a:blip>
          <a:stretch>
            <a:fillRect/>
          </a:stretch>
        </p:blipFill>
        <p:spPr>
          <a:xfrm>
            <a:off x="5266225" y="1847176"/>
            <a:ext cx="3760251" cy="2206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 of solution we’re thinking about</a:t>
            </a:r>
            <a:endParaRPr/>
          </a:p>
        </p:txBody>
      </p:sp>
      <p:sp>
        <p:nvSpPr>
          <p:cNvPr id="232" name="Google Shape;232;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[CRAZY VER]</a:t>
            </a:r>
            <a:endParaRPr b="1"/>
          </a:p>
          <a:p>
            <a:pPr indent="0" lvl="0" marL="0" rtl="0" algn="l">
              <a:spcBef>
                <a:spcPts val="1200"/>
              </a:spcBef>
              <a:spcAft>
                <a:spcPts val="0"/>
              </a:spcAft>
              <a:buNone/>
            </a:pPr>
            <a:r>
              <a:rPr lang="en"/>
              <a:t>A marketplace app that will deploy Humanoid or Pet Robot for the elderly who is in need of a companion, while family members will get a live updates. These Humanoids will conduct health research to delay ageing of the elderly it’s </a:t>
            </a:r>
            <a:r>
              <a:rPr lang="en"/>
              <a:t>dealing</a:t>
            </a:r>
            <a:r>
              <a:rPr lang="en"/>
              <a:t> with. </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ct val="61111"/>
              <a:buFont typeface="Arial"/>
              <a:buNone/>
            </a:pPr>
            <a:r>
              <a:rPr b="1" lang="en"/>
              <a:t>[LESS CRAZY VER]</a:t>
            </a:r>
            <a:endParaRPr b="1"/>
          </a:p>
          <a:p>
            <a:pPr indent="0" lvl="0" marL="0" rtl="0" algn="l">
              <a:spcBef>
                <a:spcPts val="1200"/>
              </a:spcBef>
              <a:spcAft>
                <a:spcPts val="0"/>
              </a:spcAft>
              <a:buClr>
                <a:schemeClr val="dk1"/>
              </a:buClr>
              <a:buSzPct val="61111"/>
              <a:buFont typeface="Arial"/>
              <a:buNone/>
            </a:pPr>
            <a:r>
              <a:rPr lang="en"/>
              <a:t>A marketplace app that … Records what and how respite caregivers perform their real world duty -  these datapoints can be shared/sold to model providers to learn how to do daily tasks. Subsequently we can use the trained data to develop humanoids and increase the supply of volunteers. (</a:t>
            </a:r>
            <a:r>
              <a:rPr lang="en" u="sng">
                <a:solidFill>
                  <a:schemeClr val="hlink"/>
                </a:solidFill>
                <a:hlinkClick r:id="rId3"/>
              </a:rPr>
              <a:t>link</a:t>
            </a:r>
            <a:r>
              <a:rPr lang="en"/>
              <a:t>)</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9"/>
          <p:cNvSpPr txBox="1"/>
          <p:nvPr>
            <p:ph idx="1" type="body"/>
          </p:nvPr>
        </p:nvSpPr>
        <p:spPr>
          <a:xfrm>
            <a:off x="311700" y="667875"/>
            <a:ext cx="8520600" cy="44235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AutoNum type="arabicPeriod"/>
            </a:pPr>
            <a:r>
              <a:rPr lang="en"/>
              <a:t>How </a:t>
            </a:r>
            <a:r>
              <a:rPr b="1" lang="en"/>
              <a:t>big</a:t>
            </a:r>
            <a:r>
              <a:rPr lang="en"/>
              <a:t> is the respite caregiver problem? </a:t>
            </a:r>
            <a:endParaRPr/>
          </a:p>
          <a:p>
            <a:pPr indent="-284163" lvl="1" marL="914400" rtl="0" algn="l">
              <a:spcBef>
                <a:spcPts val="0"/>
              </a:spcBef>
              <a:spcAft>
                <a:spcPts val="0"/>
              </a:spcAft>
              <a:buClr>
                <a:srgbClr val="FF0000"/>
              </a:buClr>
              <a:buSzPct val="100000"/>
              <a:buAutoNum type="alphaLcPeriod"/>
            </a:pPr>
            <a:r>
              <a:rPr lang="en">
                <a:solidFill>
                  <a:srgbClr val="FF0000"/>
                </a:solidFill>
              </a:rPr>
              <a:t>Across all 4 SCC, 160 clients daily</a:t>
            </a:r>
            <a:endParaRPr>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C</a:t>
            </a:r>
            <a:r>
              <a:rPr lang="en">
                <a:solidFill>
                  <a:srgbClr val="FF0000"/>
                </a:solidFill>
              </a:rPr>
              <a:t>haperone appointments</a:t>
            </a:r>
            <a:r>
              <a:rPr lang="en">
                <a:solidFill>
                  <a:srgbClr val="FF0000"/>
                </a:solidFill>
              </a:rPr>
              <a:t> 20-30/month</a:t>
            </a:r>
            <a:endParaRPr>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3 days notice in advance</a:t>
            </a:r>
            <a:endParaRPr>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Supply  </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3-4 staff per center (salary/month)</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19-20 micro-jobbers per center ($10-12/hour)</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Charge to clients ($25-35/hour)</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Diff is the operational cost</a:t>
            </a:r>
            <a:endParaRPr>
              <a:solidFill>
                <a:srgbClr val="FF0000"/>
              </a:solidFill>
            </a:endParaRPr>
          </a:p>
          <a:p>
            <a:pPr indent="-300038" lvl="0" marL="457200" rtl="0" algn="l">
              <a:spcBef>
                <a:spcPts val="0"/>
              </a:spcBef>
              <a:spcAft>
                <a:spcPts val="0"/>
              </a:spcAft>
              <a:buSzPct val="100000"/>
              <a:buAutoNum type="arabicPeriod"/>
            </a:pPr>
            <a:r>
              <a:rPr lang="en"/>
              <a:t>What is the biggest </a:t>
            </a:r>
            <a:r>
              <a:rPr b="1" lang="en"/>
              <a:t>use case</a:t>
            </a:r>
            <a:r>
              <a:rPr lang="en"/>
              <a:t>? </a:t>
            </a:r>
            <a:r>
              <a:rPr lang="en" u="sng">
                <a:solidFill>
                  <a:schemeClr val="hlink"/>
                </a:solidFill>
                <a:hlinkClick action="ppaction://hlinksldjump" r:id="rId3"/>
              </a:rPr>
              <a:t>What do the caregivers need respite for?</a:t>
            </a:r>
            <a:endParaRPr/>
          </a:p>
          <a:p>
            <a:pPr indent="-284163" lvl="1" marL="914400" rtl="0" algn="l">
              <a:spcBef>
                <a:spcPts val="0"/>
              </a:spcBef>
              <a:spcAft>
                <a:spcPts val="0"/>
              </a:spcAft>
              <a:buClr>
                <a:srgbClr val="FF0000"/>
              </a:buClr>
              <a:buSzPct val="100000"/>
              <a:buAutoNum type="alphaLcPeriod"/>
            </a:pPr>
            <a:r>
              <a:rPr lang="en">
                <a:solidFill>
                  <a:srgbClr val="FF0000"/>
                </a:solidFill>
              </a:rPr>
              <a:t>Not just </a:t>
            </a:r>
            <a:r>
              <a:rPr lang="en">
                <a:solidFill>
                  <a:srgbClr val="FF0000"/>
                </a:solidFill>
              </a:rPr>
              <a:t>medical, can include haircut, getting discharged, (social aspects) etc. </a:t>
            </a:r>
            <a:endParaRPr>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Challenge of changing people’s Mindset?!</a:t>
            </a:r>
            <a:endParaRPr>
              <a:solidFill>
                <a:srgbClr val="FF0000"/>
              </a:solidFill>
            </a:endParaRPr>
          </a:p>
          <a:p>
            <a:pPr indent="-300038" lvl="0" marL="457200" rtl="0" algn="l">
              <a:spcBef>
                <a:spcPts val="0"/>
              </a:spcBef>
              <a:spcAft>
                <a:spcPts val="0"/>
              </a:spcAft>
              <a:buSzPct val="100000"/>
              <a:buAutoNum type="arabicPeriod"/>
            </a:pPr>
            <a:r>
              <a:rPr lang="en"/>
              <a:t>Do we have any survey </a:t>
            </a:r>
            <a:r>
              <a:rPr b="1" lang="en"/>
              <a:t>data</a:t>
            </a:r>
            <a:r>
              <a:rPr lang="en"/>
              <a:t> that provides this is a problem worth solving?</a:t>
            </a:r>
            <a:endParaRPr/>
          </a:p>
          <a:p>
            <a:pPr indent="-284163" lvl="1" marL="914400" rtl="0" algn="l">
              <a:spcBef>
                <a:spcPts val="0"/>
              </a:spcBef>
              <a:spcAft>
                <a:spcPts val="0"/>
              </a:spcAft>
              <a:buClr>
                <a:srgbClr val="FF0000"/>
              </a:buClr>
              <a:buSzPct val="100000"/>
              <a:buAutoNum type="alphaLcPeriod"/>
            </a:pPr>
            <a:r>
              <a:rPr lang="en">
                <a:solidFill>
                  <a:srgbClr val="FF0000"/>
                </a:solidFill>
              </a:rPr>
              <a:t>MET (Medical xx Transport)</a:t>
            </a:r>
            <a:endParaRPr>
              <a:solidFill>
                <a:srgbClr val="FF0000"/>
              </a:solidFill>
            </a:endParaRPr>
          </a:p>
          <a:p>
            <a:pPr indent="-284163" lvl="1" marL="914400" rtl="0" algn="l">
              <a:spcBef>
                <a:spcPts val="0"/>
              </a:spcBef>
              <a:spcAft>
                <a:spcPts val="0"/>
              </a:spcAft>
              <a:buClr>
                <a:srgbClr val="FF0000"/>
              </a:buClr>
              <a:buSzPct val="100000"/>
              <a:buAutoNum type="alphaLcPeriod"/>
            </a:pPr>
            <a:r>
              <a:rPr b="1" lang="en">
                <a:solidFill>
                  <a:srgbClr val="FF0000"/>
                </a:solidFill>
              </a:rPr>
              <a:t>AIC (sector level assessor)</a:t>
            </a:r>
            <a:endParaRPr b="1">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Problems range </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Chaperone</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Night shift</a:t>
            </a:r>
            <a:endParaRPr>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Custodian </a:t>
            </a:r>
            <a:endParaRPr>
              <a:solidFill>
                <a:srgbClr val="FF0000"/>
              </a:solidFill>
            </a:endParaRPr>
          </a:p>
          <a:p>
            <a:pPr indent="-284163" lvl="1" marL="914400" rtl="0" algn="l">
              <a:spcBef>
                <a:spcPts val="0"/>
              </a:spcBef>
              <a:spcAft>
                <a:spcPts val="0"/>
              </a:spcAft>
              <a:buClr>
                <a:srgbClr val="FF0000"/>
              </a:buClr>
              <a:buSzPct val="100000"/>
              <a:buAutoNum type="alphaLcPeriod"/>
            </a:pPr>
            <a:r>
              <a:rPr lang="en">
                <a:solidFill>
                  <a:srgbClr val="FF0000"/>
                </a:solidFill>
              </a:rPr>
              <a:t>Eldercare is unpredictable,  only comes to mind only when it happens</a:t>
            </a:r>
            <a:endParaRPr>
              <a:solidFill>
                <a:srgbClr val="FF0000"/>
              </a:solidFill>
            </a:endParaRPr>
          </a:p>
          <a:p>
            <a:pPr indent="-284163" lvl="2" marL="1371600" rtl="0" algn="l">
              <a:spcBef>
                <a:spcPts val="0"/>
              </a:spcBef>
              <a:spcAft>
                <a:spcPts val="0"/>
              </a:spcAft>
              <a:buClr>
                <a:srgbClr val="FF0000"/>
              </a:buClr>
              <a:buSzPct val="100000"/>
              <a:buAutoNum type="romanLcPeriod"/>
            </a:pPr>
            <a:r>
              <a:rPr b="1" lang="en">
                <a:solidFill>
                  <a:srgbClr val="FF0000"/>
                </a:solidFill>
              </a:rPr>
              <a:t>Caregiver planning ahead</a:t>
            </a:r>
            <a:endParaRPr b="1">
              <a:solidFill>
                <a:srgbClr val="FF0000"/>
              </a:solidFill>
            </a:endParaRPr>
          </a:p>
          <a:p>
            <a:pPr indent="-284163" lvl="2" marL="1371600" rtl="0" algn="l">
              <a:spcBef>
                <a:spcPts val="0"/>
              </a:spcBef>
              <a:spcAft>
                <a:spcPts val="0"/>
              </a:spcAft>
              <a:buClr>
                <a:srgbClr val="FF0000"/>
              </a:buClr>
              <a:buSzPct val="100000"/>
              <a:buAutoNum type="romanLcPeriod"/>
            </a:pPr>
            <a:r>
              <a:rPr b="1" lang="en">
                <a:solidFill>
                  <a:srgbClr val="FF0000"/>
                </a:solidFill>
              </a:rPr>
              <a:t>Care services</a:t>
            </a:r>
            <a:endParaRPr b="1">
              <a:solidFill>
                <a:srgbClr val="FF0000"/>
              </a:solidFill>
            </a:endParaRPr>
          </a:p>
          <a:p>
            <a:pPr indent="-284163" lvl="2" marL="1371600" rtl="0" algn="l">
              <a:spcBef>
                <a:spcPts val="0"/>
              </a:spcBef>
              <a:spcAft>
                <a:spcPts val="0"/>
              </a:spcAft>
              <a:buClr>
                <a:srgbClr val="FF0000"/>
              </a:buClr>
              <a:buSzPct val="100000"/>
              <a:buAutoNum type="romanLcPeriod"/>
            </a:pPr>
            <a:r>
              <a:rPr lang="en">
                <a:solidFill>
                  <a:srgbClr val="FF0000"/>
                </a:solidFill>
              </a:rPr>
              <a:t>Help seeking behaviours, Tech that needs to be ready for the next set of rising issues </a:t>
            </a:r>
            <a:endParaRPr>
              <a:solidFill>
                <a:srgbClr val="FF0000"/>
              </a:solidFill>
            </a:endParaRPr>
          </a:p>
          <a:p>
            <a:pPr indent="-284163" lvl="3" marL="1828800" rtl="0" algn="l">
              <a:spcBef>
                <a:spcPts val="0"/>
              </a:spcBef>
              <a:spcAft>
                <a:spcPts val="0"/>
              </a:spcAft>
              <a:buClr>
                <a:srgbClr val="FF0000"/>
              </a:buClr>
              <a:buSzPct val="100000"/>
              <a:buAutoNum type="arabicPeriod"/>
            </a:pPr>
            <a:r>
              <a:rPr lang="en">
                <a:solidFill>
                  <a:srgbClr val="FF0000"/>
                </a:solidFill>
              </a:rPr>
              <a:t>Seniors </a:t>
            </a:r>
            <a:r>
              <a:rPr lang="en">
                <a:solidFill>
                  <a:srgbClr val="FF0000"/>
                </a:solidFill>
              </a:rPr>
              <a:t>staying with seniors</a:t>
            </a:r>
            <a:endParaRPr>
              <a:solidFill>
                <a:srgbClr val="FF0000"/>
              </a:solidFill>
            </a:endParaRPr>
          </a:p>
          <a:p>
            <a:pPr indent="-284163" lvl="3" marL="1828800" rtl="0" algn="l">
              <a:spcBef>
                <a:spcPts val="0"/>
              </a:spcBef>
              <a:spcAft>
                <a:spcPts val="0"/>
              </a:spcAft>
              <a:buClr>
                <a:srgbClr val="FF0000"/>
              </a:buClr>
              <a:buSzPct val="100000"/>
              <a:buAutoNum type="arabicPeriod"/>
            </a:pPr>
            <a:r>
              <a:rPr lang="en">
                <a:solidFill>
                  <a:srgbClr val="FF0000"/>
                </a:solidFill>
              </a:rPr>
              <a:t>Domestic helpers running away</a:t>
            </a:r>
            <a:endParaRPr>
              <a:solidFill>
                <a:srgbClr val="FF0000"/>
              </a:solidFill>
            </a:endParaRPr>
          </a:p>
          <a:p>
            <a:pPr indent="-284163" lvl="3" marL="1828800" rtl="0" algn="l">
              <a:spcBef>
                <a:spcPts val="0"/>
              </a:spcBef>
              <a:spcAft>
                <a:spcPts val="0"/>
              </a:spcAft>
              <a:buClr>
                <a:srgbClr val="FF0000"/>
              </a:buClr>
              <a:buSzPct val="100000"/>
              <a:buAutoNum type="arabicPeriod"/>
            </a:pPr>
            <a:r>
              <a:rPr lang="en">
                <a:solidFill>
                  <a:srgbClr val="FF0000"/>
                </a:solidFill>
              </a:rPr>
              <a:t>When one passes away, falling into grief</a:t>
            </a:r>
            <a:endParaRPr>
              <a:solidFill>
                <a:srgbClr val="FF0000"/>
              </a:solidFill>
            </a:endParaRPr>
          </a:p>
          <a:p>
            <a:pPr indent="-284163" lvl="3" marL="1828800" rtl="0" algn="l">
              <a:spcBef>
                <a:spcPts val="0"/>
              </a:spcBef>
              <a:spcAft>
                <a:spcPts val="0"/>
              </a:spcAft>
              <a:buClr>
                <a:srgbClr val="FF0000"/>
              </a:buClr>
              <a:buSzPct val="100000"/>
              <a:buAutoNum type="arabicPeriod"/>
            </a:pPr>
            <a:r>
              <a:rPr lang="en">
                <a:solidFill>
                  <a:srgbClr val="FF0000"/>
                </a:solidFill>
              </a:rPr>
              <a:t>Staying alone, without children, not married, etc. diff profiles leading to diff scenarios</a:t>
            </a:r>
            <a:endParaRPr>
              <a:solidFill>
                <a:srgbClr val="FF0000"/>
              </a:solidFill>
            </a:endParaRPr>
          </a:p>
          <a:p>
            <a:pPr indent="-300038" lvl="0" marL="457200" rtl="0" algn="l">
              <a:spcBef>
                <a:spcPts val="0"/>
              </a:spcBef>
              <a:spcAft>
                <a:spcPts val="0"/>
              </a:spcAft>
              <a:buSzPct val="100000"/>
              <a:buAutoNum type="arabicPeriod"/>
            </a:pPr>
            <a:r>
              <a:rPr lang="en"/>
              <a:t>If we were to create a </a:t>
            </a:r>
            <a:r>
              <a:rPr b="1" lang="en"/>
              <a:t>supply and demand app</a:t>
            </a:r>
            <a:r>
              <a:rPr lang="en"/>
              <a:t> → </a:t>
            </a:r>
            <a:endParaRPr/>
          </a:p>
          <a:p>
            <a:pPr indent="-284163" lvl="1" marL="914400" rtl="0" algn="l">
              <a:spcBef>
                <a:spcPts val="0"/>
              </a:spcBef>
              <a:spcAft>
                <a:spcPts val="0"/>
              </a:spcAft>
              <a:buSzPct val="100000"/>
              <a:buAutoNum type="alphaLcPeriod"/>
            </a:pPr>
            <a:r>
              <a:rPr lang="en"/>
              <a:t>does this make sense on the ground? Will it be </a:t>
            </a:r>
            <a:r>
              <a:rPr b="1" lang="en"/>
              <a:t>useful</a:t>
            </a:r>
            <a:r>
              <a:rPr lang="en"/>
              <a:t>? </a:t>
            </a:r>
            <a:endParaRPr/>
          </a:p>
          <a:p>
            <a:pPr indent="-284163" lvl="1" marL="914400" rtl="0" algn="l">
              <a:spcBef>
                <a:spcPts val="0"/>
              </a:spcBef>
              <a:spcAft>
                <a:spcPts val="0"/>
              </a:spcAft>
              <a:buSzPct val="100000"/>
              <a:buAutoNum type="alphaLcPeriod"/>
            </a:pPr>
            <a:r>
              <a:rPr lang="en"/>
              <a:t>Will be </a:t>
            </a:r>
            <a:r>
              <a:rPr b="1" lang="en"/>
              <a:t>solve</a:t>
            </a:r>
            <a:r>
              <a:rPr lang="en"/>
              <a:t> your actual problems? </a:t>
            </a:r>
            <a:endParaRPr/>
          </a:p>
          <a:p>
            <a:pPr indent="-284163" lvl="1" marL="914400" rtl="0" algn="l">
              <a:spcBef>
                <a:spcPts val="0"/>
              </a:spcBef>
              <a:spcAft>
                <a:spcPts val="0"/>
              </a:spcAft>
              <a:buSzPct val="100000"/>
              <a:buAutoNum type="alphaLcPeriod"/>
            </a:pPr>
            <a:r>
              <a:rPr lang="en"/>
              <a:t>Is this </a:t>
            </a:r>
            <a:r>
              <a:rPr b="1" lang="en"/>
              <a:t>needed</a:t>
            </a:r>
            <a:r>
              <a:rPr lang="en"/>
              <a:t>?</a:t>
            </a:r>
            <a:endParaRPr/>
          </a:p>
          <a:p>
            <a:pPr indent="-284163" lvl="1" marL="914400" rtl="0" algn="l">
              <a:spcBef>
                <a:spcPts val="0"/>
              </a:spcBef>
              <a:spcAft>
                <a:spcPts val="0"/>
              </a:spcAft>
              <a:buSzPct val="100000"/>
              <a:buAutoNum type="alphaLcPeriod"/>
            </a:pPr>
            <a:r>
              <a:rPr lang="en"/>
              <a:t>Is this </a:t>
            </a:r>
            <a:r>
              <a:rPr b="1" lang="en"/>
              <a:t>feasible</a:t>
            </a:r>
            <a:r>
              <a:rPr lang="en"/>
              <a:t>? Is there a </a:t>
            </a:r>
            <a:r>
              <a:rPr b="1" lang="en"/>
              <a:t>market</a:t>
            </a:r>
            <a:r>
              <a:rPr lang="en"/>
              <a:t> for it? </a:t>
            </a:r>
            <a:endParaRPr/>
          </a:p>
        </p:txBody>
      </p:sp>
      <p:sp>
        <p:nvSpPr>
          <p:cNvPr id="238" name="Google Shape;238;p49"/>
          <p:cNvSpPr txBox="1"/>
          <p:nvPr>
            <p:ph type="title"/>
          </p:nvPr>
        </p:nvSpPr>
        <p:spPr>
          <a:xfrm>
            <a:off x="311700" y="95175"/>
            <a:ext cx="8520600" cy="572700"/>
          </a:xfrm>
          <a:prstGeom prst="rect">
            <a:avLst/>
          </a:prstGeom>
          <a:solidFill>
            <a:srgbClr val="95E66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we want to ask (Vanguard)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0"/>
          <p:cNvSpPr txBox="1"/>
          <p:nvPr>
            <p:ph idx="1" type="body"/>
          </p:nvPr>
        </p:nvSpPr>
        <p:spPr>
          <a:xfrm>
            <a:off x="311700" y="667875"/>
            <a:ext cx="8520600" cy="4423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If we were to create a </a:t>
            </a:r>
            <a:r>
              <a:rPr b="1" lang="en"/>
              <a:t>supply and demand app</a:t>
            </a:r>
            <a:r>
              <a:rPr lang="en"/>
              <a:t>; then</a:t>
            </a:r>
            <a:endParaRPr/>
          </a:p>
          <a:p>
            <a:pPr indent="-317500" lvl="1" marL="914400" rtl="0" algn="l">
              <a:spcBef>
                <a:spcPts val="0"/>
              </a:spcBef>
              <a:spcAft>
                <a:spcPts val="0"/>
              </a:spcAft>
              <a:buSzPts val="1400"/>
              <a:buAutoNum type="alphaLcPeriod"/>
            </a:pPr>
            <a:r>
              <a:rPr lang="en"/>
              <a:t>What does it mean to </a:t>
            </a:r>
            <a:r>
              <a:rPr b="1" lang="en"/>
              <a:t>CERTIFY</a:t>
            </a:r>
            <a:r>
              <a:rPr lang="en"/>
              <a:t> the supply?</a:t>
            </a:r>
            <a:endParaRPr/>
          </a:p>
          <a:p>
            <a:pPr indent="-317500" lvl="2" marL="1371600" rtl="0" algn="l">
              <a:spcBef>
                <a:spcPts val="0"/>
              </a:spcBef>
              <a:spcAft>
                <a:spcPts val="0"/>
              </a:spcAft>
              <a:buSzPts val="1400"/>
              <a:buAutoNum type="romanLcPeriod"/>
            </a:pPr>
            <a:r>
              <a:rPr lang="en"/>
              <a:t>Can they be trained? Can people sign up? </a:t>
            </a:r>
            <a:endParaRPr/>
          </a:p>
          <a:p>
            <a:pPr indent="-317500" lvl="2" marL="1371600" rtl="0" algn="l">
              <a:spcBef>
                <a:spcPts val="0"/>
              </a:spcBef>
              <a:spcAft>
                <a:spcPts val="0"/>
              </a:spcAft>
              <a:buSzPts val="1400"/>
              <a:buAutoNum type="romanLcPeriod"/>
            </a:pPr>
            <a:r>
              <a:rPr lang="en"/>
              <a:t>Who CERTIFIES the supply?</a:t>
            </a:r>
            <a:endParaRPr/>
          </a:p>
          <a:p>
            <a:pPr indent="-317500" lvl="3" marL="1828800" rtl="0" algn="l">
              <a:spcBef>
                <a:spcPts val="0"/>
              </a:spcBef>
              <a:spcAft>
                <a:spcPts val="0"/>
              </a:spcAft>
              <a:buClr>
                <a:srgbClr val="FF0000"/>
              </a:buClr>
              <a:buSzPts val="1400"/>
              <a:buAutoNum type="arabicPeriod"/>
            </a:pPr>
            <a:r>
              <a:rPr lang="en">
                <a:solidFill>
                  <a:srgbClr val="FF0000"/>
                </a:solidFill>
              </a:rPr>
              <a:t>Vanguard is doing an in-house training</a:t>
            </a:r>
            <a:endParaRPr>
              <a:solidFill>
                <a:srgbClr val="FF0000"/>
              </a:solidFill>
            </a:endParaRPr>
          </a:p>
          <a:p>
            <a:pPr indent="-317500" lvl="3" marL="1828800" rtl="0" algn="l">
              <a:spcBef>
                <a:spcPts val="0"/>
              </a:spcBef>
              <a:spcAft>
                <a:spcPts val="0"/>
              </a:spcAft>
              <a:buClr>
                <a:srgbClr val="FF0000"/>
              </a:buClr>
              <a:buSzPts val="1400"/>
              <a:buAutoNum type="arabicPeriod"/>
            </a:pPr>
            <a:r>
              <a:rPr lang="en">
                <a:solidFill>
                  <a:srgbClr val="FF0000"/>
                </a:solidFill>
              </a:rPr>
              <a:t>Micro-jobs’ job scopes are clearly defined</a:t>
            </a:r>
            <a:endParaRPr>
              <a:solidFill>
                <a:srgbClr val="FF0000"/>
              </a:solidFill>
            </a:endParaRPr>
          </a:p>
          <a:p>
            <a:pPr indent="-317500" lvl="3" marL="1828800" rtl="0" algn="l">
              <a:spcBef>
                <a:spcPts val="0"/>
              </a:spcBef>
              <a:spcAft>
                <a:spcPts val="0"/>
              </a:spcAft>
              <a:buClr>
                <a:srgbClr val="FF0000"/>
              </a:buClr>
              <a:buSzPts val="1400"/>
              <a:buAutoNum type="arabicPeriod"/>
            </a:pPr>
            <a:r>
              <a:rPr lang="en">
                <a:solidFill>
                  <a:srgbClr val="FF0000"/>
                </a:solidFill>
              </a:rPr>
              <a:t>Competency is evaluated </a:t>
            </a:r>
            <a:endParaRPr>
              <a:solidFill>
                <a:srgbClr val="FF0000"/>
              </a:solidFill>
            </a:endParaRPr>
          </a:p>
          <a:p>
            <a:pPr indent="-317500" lvl="2" marL="1371600" rtl="0" algn="l">
              <a:spcBef>
                <a:spcPts val="0"/>
              </a:spcBef>
              <a:spcAft>
                <a:spcPts val="0"/>
              </a:spcAft>
              <a:buSzPts val="1400"/>
              <a:buAutoNum type="romanLcPeriod"/>
            </a:pPr>
            <a:r>
              <a:rPr lang="en"/>
              <a:t>Is Vanguard ok to use a certified helper from somewhere else, and for their certified helper to be allocated elsewhere?</a:t>
            </a:r>
            <a:endParaRPr/>
          </a:p>
          <a:p>
            <a:pPr indent="-317500" lvl="2" marL="1371600" rtl="0" algn="l">
              <a:spcBef>
                <a:spcPts val="0"/>
              </a:spcBef>
              <a:spcAft>
                <a:spcPts val="0"/>
              </a:spcAft>
              <a:buSzPts val="1400"/>
              <a:buAutoNum type="romanLcPeriod"/>
            </a:pPr>
            <a:r>
              <a:rPr lang="en"/>
              <a:t>Is there an underutilized pool of caregivers at Vanguard?</a:t>
            </a:r>
            <a:endParaRPr/>
          </a:p>
          <a:p>
            <a:pPr indent="-317500" lvl="1" marL="914400" rtl="0" algn="l">
              <a:spcBef>
                <a:spcPts val="0"/>
              </a:spcBef>
              <a:spcAft>
                <a:spcPts val="0"/>
              </a:spcAft>
              <a:buSzPts val="1400"/>
              <a:buAutoNum type="alphaLcPeriod"/>
            </a:pPr>
            <a:r>
              <a:rPr b="1" lang="en"/>
              <a:t>DEMAND</a:t>
            </a:r>
            <a:r>
              <a:rPr lang="en"/>
              <a:t> refers to who exactly?</a:t>
            </a:r>
            <a:endParaRPr/>
          </a:p>
          <a:p>
            <a:pPr indent="-317500" lvl="2" marL="1371600" rtl="0" algn="l">
              <a:spcBef>
                <a:spcPts val="0"/>
              </a:spcBef>
              <a:spcAft>
                <a:spcPts val="0"/>
              </a:spcAft>
              <a:buSzPts val="1400"/>
              <a:buAutoNum type="romanLcPeriod"/>
            </a:pPr>
            <a:r>
              <a:rPr lang="en"/>
              <a:t>Who can be part of the demand pool? Where does this come from?</a:t>
            </a:r>
            <a:endParaRPr/>
          </a:p>
          <a:p>
            <a:pPr indent="-317500" lvl="2" marL="1371600" rtl="0" algn="l">
              <a:spcBef>
                <a:spcPts val="0"/>
              </a:spcBef>
              <a:spcAft>
                <a:spcPts val="0"/>
              </a:spcAft>
              <a:buSzPts val="1400"/>
              <a:buAutoNum type="romanLcPeriod"/>
            </a:pPr>
            <a:r>
              <a:rPr lang="en"/>
              <a:t>E.g. Who can we target, e.g. active ageing centers, neighbourhoods etc?</a:t>
            </a:r>
            <a:endParaRPr/>
          </a:p>
          <a:p>
            <a:pPr indent="-317500" lvl="1" marL="914400" rtl="0" algn="l">
              <a:spcBef>
                <a:spcPts val="0"/>
              </a:spcBef>
              <a:spcAft>
                <a:spcPts val="0"/>
              </a:spcAft>
              <a:buSzPts val="1400"/>
              <a:buAutoNum type="alphaLcPeriod"/>
            </a:pPr>
            <a:r>
              <a:rPr lang="en"/>
              <a:t>Who OWNS &amp; MANAGES the </a:t>
            </a:r>
            <a:r>
              <a:rPr b="1" lang="en"/>
              <a:t>SUPPLY</a:t>
            </a:r>
            <a:r>
              <a:rPr lang="en"/>
              <a:t>? </a:t>
            </a:r>
            <a:endParaRPr/>
          </a:p>
          <a:p>
            <a:pPr indent="-317500" lvl="2" marL="1371600" rtl="0" algn="l">
              <a:spcBef>
                <a:spcPts val="0"/>
              </a:spcBef>
              <a:spcAft>
                <a:spcPts val="0"/>
              </a:spcAft>
              <a:buSzPts val="1400"/>
              <a:buAutoNum type="romanLcPeriod"/>
            </a:pPr>
            <a:r>
              <a:rPr lang="en"/>
              <a:t>Where </a:t>
            </a:r>
            <a:r>
              <a:rPr lang="en"/>
              <a:t>does</a:t>
            </a:r>
            <a:r>
              <a:rPr lang="en"/>
              <a:t> this </a:t>
            </a:r>
            <a:r>
              <a:rPr lang="en"/>
              <a:t>supply</a:t>
            </a:r>
            <a:r>
              <a:rPr lang="en"/>
              <a:t> come from, e.g. volunteers, paid work etc.</a:t>
            </a:r>
            <a:endParaRPr/>
          </a:p>
          <a:p>
            <a:pPr indent="-317500" lvl="2" marL="1371600" rtl="0" algn="l">
              <a:spcBef>
                <a:spcPts val="0"/>
              </a:spcBef>
              <a:spcAft>
                <a:spcPts val="0"/>
              </a:spcAft>
              <a:buSzPts val="1400"/>
              <a:buAutoNum type="romanLcPeriod"/>
            </a:pPr>
            <a:r>
              <a:rPr lang="en"/>
              <a:t>How are the people trained for these micro jobs in this senior care setting? </a:t>
            </a:r>
            <a:endParaRPr/>
          </a:p>
          <a:p>
            <a:pPr indent="-317500" lvl="3" marL="1828800" rtl="0" algn="l">
              <a:spcBef>
                <a:spcPts val="0"/>
              </a:spcBef>
              <a:spcAft>
                <a:spcPts val="0"/>
              </a:spcAft>
              <a:buClr>
                <a:srgbClr val="FF0000"/>
              </a:buClr>
              <a:buSzPts val="1400"/>
              <a:buAutoNum type="arabicPeriod"/>
            </a:pPr>
            <a:r>
              <a:rPr lang="en">
                <a:solidFill>
                  <a:srgbClr val="FF0000"/>
                </a:solidFill>
              </a:rPr>
              <a:t>Half day </a:t>
            </a:r>
            <a:r>
              <a:rPr lang="en">
                <a:solidFill>
                  <a:srgbClr val="FF0000"/>
                </a:solidFill>
              </a:rPr>
              <a:t>training, OJT</a:t>
            </a:r>
            <a:endParaRPr>
              <a:solidFill>
                <a:srgbClr val="FF0000"/>
              </a:solidFill>
            </a:endParaRPr>
          </a:p>
          <a:p>
            <a:pPr indent="-317500" lvl="2" marL="1371600" rtl="0" algn="l">
              <a:spcBef>
                <a:spcPts val="0"/>
              </a:spcBef>
              <a:spcAft>
                <a:spcPts val="0"/>
              </a:spcAft>
              <a:buSzPts val="1400"/>
              <a:buAutoNum type="romanLcPeriod"/>
            </a:pPr>
            <a:r>
              <a:rPr lang="en"/>
              <a:t>How does Vanguard assess micro-worker readiness for dementia care? </a:t>
            </a:r>
            <a:endParaRPr/>
          </a:p>
          <a:p>
            <a:pPr indent="-317500" lvl="2" marL="1371600" rtl="0" algn="l">
              <a:spcBef>
                <a:spcPts val="0"/>
              </a:spcBef>
              <a:spcAft>
                <a:spcPts val="0"/>
              </a:spcAft>
              <a:buSzPts val="1400"/>
              <a:buAutoNum type="romanLcPeriod"/>
            </a:pPr>
            <a:r>
              <a:rPr lang="en"/>
              <a:t>What barriers exist to formalising gig-workers for respite care?</a:t>
            </a:r>
            <a:endParaRPr/>
          </a:p>
        </p:txBody>
      </p:sp>
      <p:sp>
        <p:nvSpPr>
          <p:cNvPr id="244" name="Google Shape;244;p50"/>
          <p:cNvSpPr txBox="1"/>
          <p:nvPr>
            <p:ph type="title"/>
          </p:nvPr>
        </p:nvSpPr>
        <p:spPr>
          <a:xfrm>
            <a:off x="311700" y="95175"/>
            <a:ext cx="8520600" cy="572700"/>
          </a:xfrm>
          <a:prstGeom prst="rect">
            <a:avLst/>
          </a:prstGeom>
          <a:solidFill>
            <a:srgbClr val="95E66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we want to ask (Vanguard)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1"/>
          <p:cNvSpPr txBox="1"/>
          <p:nvPr>
            <p:ph type="title"/>
          </p:nvPr>
        </p:nvSpPr>
        <p:spPr>
          <a:xfrm>
            <a:off x="311700" y="95175"/>
            <a:ext cx="8520600" cy="572700"/>
          </a:xfrm>
          <a:prstGeom prst="rect">
            <a:avLst/>
          </a:prstGeom>
          <a:solidFill>
            <a:srgbClr val="95E66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we want to ask (Vanguard)</a:t>
            </a:r>
            <a:endParaRPr/>
          </a:p>
        </p:txBody>
      </p:sp>
      <p:sp>
        <p:nvSpPr>
          <p:cNvPr id="250" name="Google Shape;250;p51"/>
          <p:cNvSpPr txBox="1"/>
          <p:nvPr>
            <p:ph idx="1" type="body"/>
          </p:nvPr>
        </p:nvSpPr>
        <p:spPr>
          <a:xfrm>
            <a:off x="311700" y="667875"/>
            <a:ext cx="8520600" cy="44235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AutoNum type="alphaLcPeriod"/>
            </a:pPr>
            <a:r>
              <a:rPr lang="en"/>
              <a:t>[</a:t>
            </a:r>
            <a:r>
              <a:rPr b="1" lang="en"/>
              <a:t>Matching control</a:t>
            </a:r>
            <a:r>
              <a:rPr lang="en"/>
              <a:t>] Do we want the customer to pick the specific supplier, or does the platform assign one? </a:t>
            </a:r>
            <a:endParaRPr/>
          </a:p>
          <a:p>
            <a:pPr indent="-317500" lvl="2" marL="1371600" rtl="0" algn="l">
              <a:spcBef>
                <a:spcPts val="0"/>
              </a:spcBef>
              <a:spcAft>
                <a:spcPts val="0"/>
              </a:spcAft>
              <a:buSzPts val="1400"/>
              <a:buAutoNum type="romanLcPeriod"/>
            </a:pPr>
            <a:r>
              <a:rPr lang="en"/>
              <a:t>(Amazon lets you choose a seller; Uber hands you a driver.)</a:t>
            </a:r>
            <a:endParaRPr/>
          </a:p>
          <a:p>
            <a:pPr indent="-317500" lvl="1" marL="914400" rtl="0" algn="l">
              <a:spcBef>
                <a:spcPts val="0"/>
              </a:spcBef>
              <a:spcAft>
                <a:spcPts val="0"/>
              </a:spcAft>
              <a:buSzPts val="1400"/>
              <a:buAutoNum type="alphaLcPeriod"/>
            </a:pPr>
            <a:r>
              <a:rPr lang="en"/>
              <a:t>[</a:t>
            </a:r>
            <a:r>
              <a:rPr b="1" lang="en"/>
              <a:t>Management/integration</a:t>
            </a:r>
            <a:r>
              <a:rPr lang="en"/>
              <a:t> depth] How much the platform vets, trains, prices, standardizes, supplies tools to, or even owns the supply.</a:t>
            </a:r>
            <a:endParaRPr/>
          </a:p>
          <a:p>
            <a:pPr indent="-317500" lvl="2" marL="1371600" rtl="0" algn="l">
              <a:spcBef>
                <a:spcPts val="0"/>
              </a:spcBef>
              <a:spcAft>
                <a:spcPts val="0"/>
              </a:spcAft>
              <a:buSzPts val="1400"/>
              <a:buAutoNum type="romanLcPeriod"/>
            </a:pPr>
            <a:r>
              <a:rPr lang="en"/>
              <a:t>How / where does it work?</a:t>
            </a:r>
            <a:endParaRPr/>
          </a:p>
          <a:p>
            <a:pPr indent="-317500" lvl="2" marL="1371600" rtl="0" algn="l">
              <a:spcBef>
                <a:spcPts val="0"/>
              </a:spcBef>
              <a:spcAft>
                <a:spcPts val="0"/>
              </a:spcAft>
              <a:buSzPts val="1400"/>
              <a:buAutoNum type="romanLcPeriod"/>
            </a:pPr>
            <a:r>
              <a:rPr lang="en"/>
              <a:t>Integrate into what? </a:t>
            </a:r>
            <a:endParaRPr/>
          </a:p>
          <a:p>
            <a:pPr indent="-342900" lvl="0" marL="457200" rtl="0" algn="l">
              <a:spcBef>
                <a:spcPts val="0"/>
              </a:spcBef>
              <a:spcAft>
                <a:spcPts val="0"/>
              </a:spcAft>
              <a:buSzPts val="1800"/>
              <a:buAutoNum type="arabicPeriod"/>
            </a:pPr>
            <a:r>
              <a:rPr lang="en"/>
              <a:t>Ask from Vanguard/NCSS:</a:t>
            </a:r>
            <a:endParaRPr/>
          </a:p>
          <a:p>
            <a:pPr indent="-317500" lvl="1" marL="914400" rtl="0" algn="l">
              <a:spcBef>
                <a:spcPts val="0"/>
              </a:spcBef>
              <a:spcAft>
                <a:spcPts val="0"/>
              </a:spcAft>
              <a:buSzPts val="1400"/>
              <a:buAutoNum type="alphaLcPeriod"/>
            </a:pPr>
            <a:r>
              <a:rPr lang="en"/>
              <a:t>How can we make this more real with your help? Channels you can take this to? Bringing your supply? MoU signed - who is the counterparty - SGLN tech?</a:t>
            </a:r>
            <a:endParaRPr/>
          </a:p>
          <a:p>
            <a:pPr indent="-317500" lvl="1" marL="914400" rtl="0" algn="l">
              <a:spcBef>
                <a:spcPts val="0"/>
              </a:spcBef>
              <a:spcAft>
                <a:spcPts val="0"/>
              </a:spcAft>
              <a:buSzPts val="1400"/>
              <a:buAutoNum type="alphaLcPeriod"/>
            </a:pPr>
            <a:r>
              <a:rPr lang="en"/>
              <a:t>How can we partner on this? NCSS specifically? Vanguard specifically?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2"/>
          <p:cNvSpPr txBox="1"/>
          <p:nvPr>
            <p:ph type="title"/>
          </p:nvPr>
        </p:nvSpPr>
        <p:spPr>
          <a:xfrm>
            <a:off x="311700" y="95175"/>
            <a:ext cx="8520600" cy="572700"/>
          </a:xfrm>
          <a:prstGeom prst="rect">
            <a:avLst/>
          </a:prstGeom>
          <a:solidFill>
            <a:srgbClr val="95E66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256" name="Google Shape;256;p52"/>
          <p:cNvSpPr txBox="1"/>
          <p:nvPr>
            <p:ph idx="1" type="body"/>
          </p:nvPr>
        </p:nvSpPr>
        <p:spPr>
          <a:xfrm>
            <a:off x="311700" y="667875"/>
            <a:ext cx="8520600" cy="44235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AutoNum type="alphaLcPeriod"/>
            </a:pPr>
            <a:r>
              <a:rPr lang="en"/>
              <a:t>AIC</a:t>
            </a:r>
            <a:endParaRPr/>
          </a:p>
          <a:p>
            <a:pPr indent="-317500" lvl="1" marL="914400" rtl="0" algn="l">
              <a:spcBef>
                <a:spcPts val="0"/>
              </a:spcBef>
              <a:spcAft>
                <a:spcPts val="0"/>
              </a:spcAft>
              <a:buSzPts val="1400"/>
              <a:buAutoNum type="alphaLcPeriod"/>
            </a:pPr>
            <a:r>
              <a:rPr lang="en"/>
              <a:t>Care Corner</a:t>
            </a:r>
            <a:endParaRPr/>
          </a:p>
          <a:p>
            <a:pPr indent="-317500" lvl="1" marL="914400" rtl="0" algn="l">
              <a:spcBef>
                <a:spcPts val="0"/>
              </a:spcBef>
              <a:spcAft>
                <a:spcPts val="0"/>
              </a:spcAft>
              <a:buSzPts val="1400"/>
              <a:buAutoNum type="alphaLcPeriod"/>
            </a:pPr>
            <a:r>
              <a:rPr b="1" lang="en"/>
              <a:t>Vanguard</a:t>
            </a:r>
            <a:endParaRPr b="1"/>
          </a:p>
          <a:p>
            <a:pPr indent="-317500" lvl="2" marL="1371600" rtl="0" algn="l">
              <a:spcBef>
                <a:spcPts val="0"/>
              </a:spcBef>
              <a:spcAft>
                <a:spcPts val="0"/>
              </a:spcAft>
              <a:buSzPts val="1400"/>
              <a:buAutoNum type="romanLcPeriod"/>
            </a:pPr>
            <a:r>
              <a:rPr lang="en"/>
              <a:t>Share the </a:t>
            </a:r>
            <a:r>
              <a:rPr b="1" lang="en"/>
              <a:t>job scopes</a:t>
            </a:r>
            <a:r>
              <a:rPr lang="en"/>
              <a:t> that are being listed out under Volunteers</a:t>
            </a:r>
            <a:endParaRPr/>
          </a:p>
          <a:p>
            <a:pPr indent="-317500" lvl="2" marL="1371600" rtl="0" algn="l">
              <a:spcBef>
                <a:spcPts val="0"/>
              </a:spcBef>
              <a:spcAft>
                <a:spcPts val="0"/>
              </a:spcAft>
              <a:buSzPts val="1400"/>
              <a:buAutoNum type="romanLcPeriod"/>
            </a:pPr>
            <a:r>
              <a:rPr lang="en"/>
              <a:t>Share the </a:t>
            </a:r>
            <a:r>
              <a:rPr lang="en"/>
              <a:t>next steps/plan for the existing pilot in Pasir Ris + other locations </a:t>
            </a:r>
            <a:endParaRPr/>
          </a:p>
          <a:p>
            <a:pPr indent="-317500" lvl="1" marL="914400" rtl="0" algn="l">
              <a:spcBef>
                <a:spcPts val="0"/>
              </a:spcBef>
              <a:spcAft>
                <a:spcPts val="0"/>
              </a:spcAft>
              <a:buSzPts val="1400"/>
              <a:buAutoNum type="alphaLcPeriod"/>
            </a:pPr>
            <a:r>
              <a:rPr b="1" lang="en"/>
              <a:t>NCSS</a:t>
            </a:r>
            <a:endParaRPr b="1"/>
          </a:p>
          <a:p>
            <a:pPr indent="-317500" lvl="2" marL="1371600" rtl="0" algn="l">
              <a:spcBef>
                <a:spcPts val="0"/>
              </a:spcBef>
              <a:spcAft>
                <a:spcPts val="0"/>
              </a:spcAft>
              <a:buSzPts val="1400"/>
              <a:buAutoNum type="romanLcPeriod"/>
            </a:pPr>
            <a:r>
              <a:rPr lang="en"/>
              <a:t>Connect us to AIC -- </a:t>
            </a:r>
            <a:endParaRPr/>
          </a:p>
          <a:p>
            <a:pPr indent="-317500" lvl="3" marL="1828800" rtl="0" algn="l">
              <a:spcBef>
                <a:spcPts val="0"/>
              </a:spcBef>
              <a:spcAft>
                <a:spcPts val="0"/>
              </a:spcAft>
              <a:buSzPts val="1400"/>
              <a:buAutoNum type="arabicPeriod"/>
            </a:pPr>
            <a:r>
              <a:rPr lang="en"/>
              <a:t>To get data points on national/sector-level to quantify/validate the “hidden demand”</a:t>
            </a:r>
            <a:endParaRPr/>
          </a:p>
          <a:p>
            <a:pPr indent="-317500" lvl="3" marL="1828800" rtl="0" algn="l">
              <a:spcBef>
                <a:spcPts val="0"/>
              </a:spcBef>
              <a:spcAft>
                <a:spcPts val="0"/>
              </a:spcAft>
              <a:buSzPts val="1400"/>
              <a:buAutoNum type="arabicPeriod"/>
            </a:pPr>
            <a:r>
              <a:rPr lang="en"/>
              <a:t>To do training</a:t>
            </a:r>
            <a:endParaRPr/>
          </a:p>
          <a:p>
            <a:pPr indent="-317500" lvl="2" marL="1371600" rtl="0" algn="l">
              <a:spcBef>
                <a:spcPts val="0"/>
              </a:spcBef>
              <a:spcAft>
                <a:spcPts val="0"/>
              </a:spcAft>
              <a:buSzPts val="1400"/>
              <a:buAutoNum type="romanLcPeriod"/>
            </a:pPr>
            <a:r>
              <a:rPr lang="en"/>
              <a:t>Care Corner</a:t>
            </a:r>
            <a:endParaRPr/>
          </a:p>
          <a:p>
            <a:pPr indent="-317500" lvl="1" marL="914400" rtl="0" algn="l">
              <a:spcBef>
                <a:spcPts val="0"/>
              </a:spcBef>
              <a:spcAft>
                <a:spcPts val="0"/>
              </a:spcAft>
              <a:buSzPts val="1400"/>
              <a:buAutoNum type="alphaLcPeriod"/>
            </a:pPr>
            <a:r>
              <a:rPr b="1" lang="en"/>
              <a:t>SGLN Tech</a:t>
            </a:r>
            <a:endParaRPr b="1"/>
          </a:p>
          <a:p>
            <a:pPr indent="-317500" lvl="2" marL="1371600" rtl="0" algn="l">
              <a:spcBef>
                <a:spcPts val="0"/>
              </a:spcBef>
              <a:spcAft>
                <a:spcPts val="0"/>
              </a:spcAft>
              <a:buSzPts val="1400"/>
              <a:buAutoNum type="romanLcPeriod"/>
            </a:pPr>
            <a:r>
              <a:rPr b="1" lang="en"/>
              <a:t>Defining the problem </a:t>
            </a:r>
            <a:endParaRPr b="1"/>
          </a:p>
          <a:p>
            <a:pPr indent="-317500" lvl="2" marL="1371600" rtl="0" algn="l">
              <a:spcBef>
                <a:spcPts val="0"/>
              </a:spcBef>
              <a:spcAft>
                <a:spcPts val="0"/>
              </a:spcAft>
              <a:buSzPts val="1400"/>
              <a:buAutoNum type="romanLcPeriod"/>
            </a:pPr>
            <a:r>
              <a:rPr lang="en"/>
              <a:t>National-level solutioning</a:t>
            </a:r>
            <a:endParaRPr/>
          </a:p>
          <a:p>
            <a:pPr indent="-317500" lvl="1" marL="914400" rtl="0" algn="l">
              <a:spcBef>
                <a:spcPts val="0"/>
              </a:spcBef>
              <a:spcAft>
                <a:spcPts val="0"/>
              </a:spcAft>
              <a:buSzPts val="1400"/>
              <a:buAutoNum type="alphaLcPeriod"/>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3"/>
          <p:cNvSpPr txBox="1"/>
          <p:nvPr>
            <p:ph type="title"/>
          </p:nvPr>
        </p:nvSpPr>
        <p:spPr>
          <a:xfrm>
            <a:off x="229988" y="415219"/>
            <a:ext cx="8684100" cy="3819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Vanguard Team Meeting</a:t>
            </a:r>
            <a:endParaRPr/>
          </a:p>
        </p:txBody>
      </p:sp>
      <p:sp>
        <p:nvSpPr>
          <p:cNvPr id="262" name="Google Shape;262;p53"/>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sp>
        <p:nvSpPr>
          <p:cNvPr id="263" name="Google Shape;263;p53"/>
          <p:cNvSpPr txBox="1"/>
          <p:nvPr/>
        </p:nvSpPr>
        <p:spPr>
          <a:xfrm>
            <a:off x="230000" y="943775"/>
            <a:ext cx="7875300" cy="2770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en"/>
              <a:t>Jasmine</a:t>
            </a:r>
            <a:endParaRPr/>
          </a:p>
          <a:p>
            <a:pPr indent="-317500" lvl="0" marL="457200" rtl="0" algn="l">
              <a:spcBef>
                <a:spcPts val="0"/>
              </a:spcBef>
              <a:spcAft>
                <a:spcPts val="0"/>
              </a:spcAft>
              <a:buSzPts val="1400"/>
              <a:buAutoNum type="arabicPeriod"/>
            </a:pPr>
            <a:r>
              <a:rPr lang="en"/>
              <a:t>Angeline</a:t>
            </a:r>
            <a:endParaRPr/>
          </a:p>
          <a:p>
            <a:pPr indent="-317500" lvl="0" marL="457200" rtl="0" algn="l">
              <a:spcBef>
                <a:spcPts val="0"/>
              </a:spcBef>
              <a:spcAft>
                <a:spcPts val="0"/>
              </a:spcAft>
              <a:buSzPts val="1400"/>
              <a:buAutoNum type="arabicPeriod"/>
            </a:pPr>
            <a:r>
              <a:rPr lang="en"/>
              <a:t>Jason</a:t>
            </a:r>
            <a:endParaRPr/>
          </a:p>
          <a:p>
            <a:pPr indent="-317500" lvl="0" marL="457200" rtl="0" algn="l">
              <a:spcBef>
                <a:spcPts val="0"/>
              </a:spcBef>
              <a:spcAft>
                <a:spcPts val="0"/>
              </a:spcAft>
              <a:buSzPts val="1400"/>
              <a:buAutoNum type="arabicPeriod"/>
            </a:pPr>
            <a:r>
              <a:rPr lang="en"/>
              <a:t>Michelle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Chermaine</a:t>
            </a:r>
            <a:endParaRPr/>
          </a:p>
          <a:p>
            <a:pPr indent="-317500" lvl="0" marL="457200" rtl="0" algn="l">
              <a:spcBef>
                <a:spcPts val="0"/>
              </a:spcBef>
              <a:spcAft>
                <a:spcPts val="0"/>
              </a:spcAft>
              <a:buSzPts val="1400"/>
              <a:buAutoNum type="arabicPeriod"/>
            </a:pPr>
            <a:r>
              <a:rPr lang="en"/>
              <a:t>Wei Lin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Abhishek</a:t>
            </a:r>
            <a:endParaRPr/>
          </a:p>
          <a:p>
            <a:pPr indent="-317500" lvl="0" marL="457200" rtl="0" algn="l">
              <a:spcBef>
                <a:spcPts val="0"/>
              </a:spcBef>
              <a:spcAft>
                <a:spcPts val="0"/>
              </a:spcAft>
              <a:buSzPts val="1400"/>
              <a:buAutoNum type="arabicPeriod"/>
            </a:pPr>
            <a:r>
              <a:rPr lang="en"/>
              <a:t>Shobhit</a:t>
            </a:r>
            <a:endParaRPr/>
          </a:p>
          <a:p>
            <a:pPr indent="-317500" lvl="0" marL="457200" rtl="0" algn="l">
              <a:spcBef>
                <a:spcPts val="0"/>
              </a:spcBef>
              <a:spcAft>
                <a:spcPts val="0"/>
              </a:spcAft>
              <a:buSzPts val="1400"/>
              <a:buAutoNum type="arabicPeriod"/>
            </a:pPr>
            <a:r>
              <a:rPr lang="en"/>
              <a:t>Lara</a:t>
            </a:r>
            <a:endParaRPr/>
          </a:p>
          <a:p>
            <a:pPr indent="-317500" lvl="0" marL="457200" rtl="0" algn="l">
              <a:spcBef>
                <a:spcPts val="0"/>
              </a:spcBef>
              <a:spcAft>
                <a:spcPts val="0"/>
              </a:spcAft>
              <a:buSzPts val="1400"/>
              <a:buAutoNum type="arabicPeriod"/>
            </a:pPr>
            <a:r>
              <a:rPr lang="en"/>
              <a:t>Aditi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9" name="Google Shape;269;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0" name="Google Shape;270;p54"/>
          <p:cNvPicPr preferRelativeResize="0"/>
          <p:nvPr/>
        </p:nvPicPr>
        <p:blipFill>
          <a:blip r:embed="rId3">
            <a:alphaModFix/>
          </a:blip>
          <a:stretch>
            <a:fillRect/>
          </a:stretch>
        </p:blipFill>
        <p:spPr>
          <a:xfrm>
            <a:off x="311700" y="1152475"/>
            <a:ext cx="5265636"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300"/>
              </a:spcBef>
              <a:spcAft>
                <a:spcPts val="0"/>
              </a:spcAft>
              <a:buClr>
                <a:schemeClr val="dk1"/>
              </a:buClr>
              <a:buSzPct val="100000"/>
              <a:buFont typeface="Arial"/>
              <a:buNone/>
            </a:pPr>
            <a:r>
              <a:rPr lang="en" sz="1100">
                <a:solidFill>
                  <a:srgbClr val="1D1C1D"/>
                </a:solidFill>
              </a:rPr>
              <a:t>elderly interviews</a:t>
            </a:r>
            <a:endParaRPr sz="1100">
              <a:solidFill>
                <a:srgbClr val="1D1C1D"/>
              </a:solidFill>
            </a:endParaRPr>
          </a:p>
          <a:p>
            <a:pPr indent="0" lvl="0" marL="0" rtl="0" algn="l">
              <a:spcBef>
                <a:spcPts val="300"/>
              </a:spcBef>
              <a:spcAft>
                <a:spcPts val="0"/>
              </a:spcAft>
              <a:buClr>
                <a:schemeClr val="dk1"/>
              </a:buClr>
              <a:buSzPct val="100000"/>
              <a:buFont typeface="Arial"/>
              <a:buNone/>
            </a:pPr>
            <a:r>
              <a:rPr lang="en" sz="1100">
                <a:solidFill>
                  <a:srgbClr val="1D1C1D"/>
                </a:solidFill>
              </a:rPr>
              <a:t>Some takeaways from the 14 interviews done yesterday at Marsiling Active Ageing Centre:</a:t>
            </a:r>
            <a:endParaRPr sz="1100">
              <a:solidFill>
                <a:srgbClr val="1D1C1D"/>
              </a:solidFill>
            </a:endParaRPr>
          </a:p>
          <a:p>
            <a:pPr indent="0" lvl="0" marL="0" rtl="0" algn="l">
              <a:spcBef>
                <a:spcPts val="300"/>
              </a:spcBef>
              <a:spcAft>
                <a:spcPts val="0"/>
              </a:spcAft>
              <a:buClr>
                <a:schemeClr val="dk1"/>
              </a:buClr>
              <a:buSzPct val="100000"/>
              <a:buFont typeface="Arial"/>
              <a:buNone/>
            </a:pPr>
            <a:r>
              <a:rPr b="1" lang="en" sz="1100">
                <a:solidFill>
                  <a:srgbClr val="1D1C1D"/>
                </a:solidFill>
              </a:rPr>
              <a:t>Demographics</a:t>
            </a:r>
            <a:endParaRPr b="1" sz="1100">
              <a:solidFill>
                <a:srgbClr val="1D1C1D"/>
              </a:solidFill>
            </a:endParaRPr>
          </a:p>
          <a:p>
            <a:pPr indent="-282734" lvl="0" marL="685800" rtl="0" algn="l">
              <a:spcBef>
                <a:spcPts val="500"/>
              </a:spcBef>
              <a:spcAft>
                <a:spcPts val="0"/>
              </a:spcAft>
              <a:buClr>
                <a:srgbClr val="1D1C1D"/>
              </a:buClr>
              <a:buSzPct val="100000"/>
              <a:buChar char="●"/>
            </a:pPr>
            <a:r>
              <a:rPr lang="en" sz="1100">
                <a:solidFill>
                  <a:srgbClr val="1D1C1D"/>
                </a:solidFill>
              </a:rPr>
              <a:t>5 active seniors; 5 partially dependent seniors (PDS); 3 primary caregivers of PDS; 1 secondary caregiver of PDS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All participants were in their late 70s or 80s</a:t>
            </a:r>
            <a:endParaRPr sz="1100">
              <a:solidFill>
                <a:srgbClr val="1D1C1D"/>
              </a:solidFill>
            </a:endParaRPr>
          </a:p>
          <a:p>
            <a:pPr indent="0" lvl="0" marL="0" rtl="0" algn="l">
              <a:spcBef>
                <a:spcPts val="500"/>
              </a:spcBef>
              <a:spcAft>
                <a:spcPts val="0"/>
              </a:spcAft>
              <a:buClr>
                <a:schemeClr val="dk1"/>
              </a:buClr>
              <a:buSzPct val="100000"/>
              <a:buFont typeface="Arial"/>
              <a:buNone/>
            </a:pPr>
            <a:r>
              <a:rPr b="1" lang="en" sz="1100">
                <a:solidFill>
                  <a:srgbClr val="1D1C1D"/>
                </a:solidFill>
              </a:rPr>
              <a:t>Observations</a:t>
            </a:r>
            <a:endParaRPr b="1" sz="1100">
              <a:solidFill>
                <a:srgbClr val="1D1C1D"/>
              </a:solidFill>
            </a:endParaRPr>
          </a:p>
          <a:p>
            <a:pPr indent="-282734" lvl="0" marL="685800" rtl="0" algn="l">
              <a:spcBef>
                <a:spcPts val="500"/>
              </a:spcBef>
              <a:spcAft>
                <a:spcPts val="0"/>
              </a:spcAft>
              <a:buClr>
                <a:srgbClr val="1D1C1D"/>
              </a:buClr>
              <a:buSzPct val="100000"/>
              <a:buChar char="●"/>
            </a:pPr>
            <a:r>
              <a:rPr lang="en" sz="1100">
                <a:solidFill>
                  <a:srgbClr val="1D1C1D"/>
                </a:solidFill>
              </a:rPr>
              <a:t>Most participants did not know how to book ride-hailing services. More than half had a smartphone but used it only for calling and texting. They were hesitant to use Grab because it is unfamiliar and they worry about scams or making mistakes when transacting on their phones.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Bus/MRT was the predominant mode of transport. Many avoided taxis because they are willing to trade time for money and perceive taxis as expensive, preferring not to spend on themselves unless necessary. One caregiver and one active senior reported using Grab fairly often, mainly for longer trips (e.g., Marsiling to SGH or Redhill).</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When they did take taxis, they typically either flagged one down or asked family or centre staff to book for them, and they paid in cash.</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One active senior used social media apps (TikTok, Instagram, Facebook) but did not want to transact on Shopee/Grab due to fear of scams.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Some seniors could not read written Mandarin well, and a few mentioned eyesight issues.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AAC shared that approximately 2,000 older adults live in the area; 1,200 are registered with the centre; and about 300 regularly visit for activities.</a:t>
            </a:r>
            <a:endParaRPr sz="1100">
              <a:solidFill>
                <a:srgbClr val="1D1C1D"/>
              </a:solidFill>
            </a:endParaRPr>
          </a:p>
          <a:p>
            <a:pPr indent="0" lvl="0" marL="0" rtl="0" algn="l">
              <a:spcBef>
                <a:spcPts val="500"/>
              </a:spcBef>
              <a:spcAft>
                <a:spcPts val="0"/>
              </a:spcAft>
              <a:buClr>
                <a:schemeClr val="dk1"/>
              </a:buClr>
              <a:buSzPct val="100000"/>
              <a:buFont typeface="Arial"/>
              <a:buNone/>
            </a:pPr>
            <a:r>
              <a:rPr b="1" lang="en" sz="1100">
                <a:solidFill>
                  <a:srgbClr val="1D1C1D"/>
                </a:solidFill>
              </a:rPr>
              <a:t>Takeaways</a:t>
            </a:r>
            <a:endParaRPr b="1" sz="1100">
              <a:solidFill>
                <a:srgbClr val="1D1C1D"/>
              </a:solidFill>
            </a:endParaRPr>
          </a:p>
          <a:p>
            <a:pPr indent="-282734" lvl="0" marL="685800" rtl="0" algn="l">
              <a:spcBef>
                <a:spcPts val="500"/>
              </a:spcBef>
              <a:spcAft>
                <a:spcPts val="0"/>
              </a:spcAft>
              <a:buClr>
                <a:srgbClr val="1D1C1D"/>
              </a:buClr>
              <a:buSzPct val="100000"/>
              <a:buChar char="●"/>
            </a:pPr>
            <a:r>
              <a:rPr lang="en" sz="1100">
                <a:solidFill>
                  <a:srgbClr val="1D1C1D"/>
                </a:solidFill>
              </a:rPr>
              <a:t>It is unlikely this segment will adopt taxis/ride-hailing as their primary transport mode as long as they can manage taking the bus/MRT.</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There is a strong use case for medical trips between home and healthcare institutions.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There is a moderate use case for caregivers booking taxis to transport fully dependent seniors.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Caregivers may be more willing to spend on ride-hailing/food delivery for the seniors in their care (observed in two cases; needs validation with a larger sample).</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Consider strengthening non-app booking channels (e.g., phone bookings, street-hail) to address digital and language barriers.</a:t>
            </a:r>
            <a:endParaRPr sz="1100">
              <a:solidFill>
                <a:srgbClr val="1D1C1D"/>
              </a:solidFill>
            </a:endParaRPr>
          </a:p>
          <a:p>
            <a:pPr indent="-282734" lvl="0" marL="685800" rtl="0" algn="l">
              <a:spcBef>
                <a:spcPts val="0"/>
              </a:spcBef>
              <a:spcAft>
                <a:spcPts val="0"/>
              </a:spcAft>
              <a:buClr>
                <a:srgbClr val="1D1C1D"/>
              </a:buClr>
              <a:buSzPct val="100000"/>
              <a:buChar char="●"/>
            </a:pPr>
            <a:r>
              <a:rPr lang="en" sz="1100">
                <a:solidFill>
                  <a:srgbClr val="1D1C1D"/>
                </a:solidFill>
              </a:rPr>
              <a:t>Seniors enjoy AAC activities and afternoon talks. Hosting engagement and digital/literacy sessions at AAC could be effective (noting potential selection bias).</a:t>
            </a:r>
            <a:endParaRPr/>
          </a:p>
        </p:txBody>
      </p:sp>
      <p:sp>
        <p:nvSpPr>
          <p:cNvPr id="276" name="Google Shape;27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Grab Interviews w 14 Seniors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6"/>
          <p:cNvSpPr txBox="1"/>
          <p:nvPr>
            <p:ph type="title"/>
          </p:nvPr>
        </p:nvSpPr>
        <p:spPr>
          <a:xfrm>
            <a:off x="229988" y="415219"/>
            <a:ext cx="8684100" cy="3819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Instructions for Jul 20</a:t>
            </a:r>
            <a:endParaRPr/>
          </a:p>
        </p:txBody>
      </p:sp>
      <p:sp>
        <p:nvSpPr>
          <p:cNvPr id="282" name="Google Shape;282;p56"/>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sp>
        <p:nvSpPr>
          <p:cNvPr id="283" name="Google Shape;283;p56"/>
          <p:cNvSpPr txBox="1"/>
          <p:nvPr/>
        </p:nvSpPr>
        <p:spPr>
          <a:xfrm>
            <a:off x="230000" y="707125"/>
            <a:ext cx="78753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Key Deliverables </a:t>
            </a:r>
            <a:endParaRPr/>
          </a:p>
          <a:p>
            <a:pPr indent="0" lvl="0" marL="0" rtl="0" algn="l">
              <a:spcBef>
                <a:spcPts val="0"/>
              </a:spcBef>
              <a:spcAft>
                <a:spcPts val="0"/>
              </a:spcAft>
              <a:buNone/>
            </a:pPr>
            <a:r>
              <a:rPr lang="en"/>
              <a:t>1️⃣ Undertake a 1-hour Ideation Sprint ⏱️ 🔹 Generate 40 ideas — use images as much as possible 🖼️ and update them on Padlet 🔹 Converge on 1–3 ideas that you will move to prototype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20 July Session You'll be sharing your ideation journey — diverging 💡 then converging 🎯 — into the ideas to prototype.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Teams will be divided into 3 groups, and each team will have 12-15 mins to share findings with your peers.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Teams can start building your prototypes which will be presented at the 🗓️ August 20th session. </a:t>
            </a:r>
            <a:endParaRPr/>
          </a:p>
          <a:p>
            <a:pPr indent="0" lvl="0" marL="0" rtl="0" algn="l">
              <a:spcBef>
                <a:spcPts val="0"/>
              </a:spcBef>
              <a:spcAft>
                <a:spcPts val="0"/>
              </a:spcAft>
              <a:buNone/>
            </a:pPr>
            <a:r>
              <a:rPr lang="en"/>
              <a:t>🙋 Optional: Team Feedback Session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 team requiring feedback — I'm happy to provide a 30 min session 🕐. Just ping me directly and we'll sort out timings </a:t>
            </a:r>
            <a:endParaRPr/>
          </a:p>
          <a:p>
            <a:pPr indent="0" lvl="0" marL="0" rtl="0" algn="l">
              <a:spcBef>
                <a:spcPts val="0"/>
              </a:spcBef>
              <a:spcAft>
                <a:spcPts val="0"/>
              </a:spcAft>
              <a:buNone/>
            </a:pPr>
            <a:r>
              <a:rPr lang="en"/>
              <a:t>Let's design for impact!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7"/>
          <p:cNvSpPr txBox="1"/>
          <p:nvPr>
            <p:ph type="title"/>
          </p:nvPr>
        </p:nvSpPr>
        <p:spPr>
          <a:xfrm>
            <a:off x="229988" y="415219"/>
            <a:ext cx="8684100" cy="3819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u="sng">
                <a:solidFill>
                  <a:schemeClr val="hlink"/>
                </a:solidFill>
                <a:hlinkClick r:id="rId3"/>
              </a:rPr>
              <a:t>https://padlet.com/SGLNTeam/sgln-tech-group-9-og0dc3wm80czqako</a:t>
            </a:r>
            <a:r>
              <a:rPr lang="en"/>
              <a:t> </a:t>
            </a:r>
            <a:endParaRPr/>
          </a:p>
        </p:txBody>
      </p:sp>
      <p:sp>
        <p:nvSpPr>
          <p:cNvPr id="289" name="Google Shape;289;p57"/>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pic>
        <p:nvPicPr>
          <p:cNvPr id="290" name="Google Shape;290;p57"/>
          <p:cNvPicPr preferRelativeResize="0"/>
          <p:nvPr/>
        </p:nvPicPr>
        <p:blipFill>
          <a:blip r:embed="rId4">
            <a:alphaModFix/>
          </a:blip>
          <a:stretch>
            <a:fillRect/>
          </a:stretch>
        </p:blipFill>
        <p:spPr>
          <a:xfrm>
            <a:off x="848425" y="1101919"/>
            <a:ext cx="7664036" cy="40415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8"/>
          <p:cNvSpPr txBox="1"/>
          <p:nvPr>
            <p:ph type="title"/>
          </p:nvPr>
        </p:nvSpPr>
        <p:spPr>
          <a:xfrm>
            <a:off x="229988" y="415219"/>
            <a:ext cx="8684100" cy="38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There is a growing elderly population in Singapore with adapting needs that Grab could address, signalling strong growth in the eldercare market</a:t>
            </a:r>
            <a:endParaRPr sz="2000"/>
          </a:p>
        </p:txBody>
      </p:sp>
      <p:sp>
        <p:nvSpPr>
          <p:cNvPr id="296" name="Google Shape;296;p58"/>
          <p:cNvSpPr txBox="1"/>
          <p:nvPr>
            <p:ph idx="1" type="subTitle"/>
          </p:nvPr>
        </p:nvSpPr>
        <p:spPr>
          <a:xfrm>
            <a:off x="229988" y="219019"/>
            <a:ext cx="1551300" cy="139200"/>
          </a:xfrm>
          <a:prstGeom prst="rect">
            <a:avLst/>
          </a:prstGeom>
        </p:spPr>
        <p:txBody>
          <a:bodyPr anchorCtr="0" anchor="ctr" bIns="0" lIns="0" spcFirstLastPara="1" rIns="68575" wrap="square" tIns="0">
            <a:noAutofit/>
          </a:bodyPr>
          <a:lstStyle/>
          <a:p>
            <a:pPr indent="0" lvl="0" marL="0" rtl="0" algn="l">
              <a:spcBef>
                <a:spcPts val="0"/>
              </a:spcBef>
              <a:spcAft>
                <a:spcPts val="0"/>
              </a:spcAft>
              <a:buNone/>
            </a:pPr>
            <a:r>
              <a:t/>
            </a:r>
            <a:endParaRPr/>
          </a:p>
        </p:txBody>
      </p:sp>
      <p:pic>
        <p:nvPicPr>
          <p:cNvPr id="297" name="Google Shape;297;p58" title="Chart"/>
          <p:cNvPicPr preferRelativeResize="0"/>
          <p:nvPr/>
        </p:nvPicPr>
        <p:blipFill>
          <a:blip r:embed="rId3">
            <a:alphaModFix/>
          </a:blip>
          <a:stretch>
            <a:fillRect/>
          </a:stretch>
        </p:blipFill>
        <p:spPr>
          <a:xfrm>
            <a:off x="541400" y="1454050"/>
            <a:ext cx="3942750" cy="2437952"/>
          </a:xfrm>
          <a:prstGeom prst="rect">
            <a:avLst/>
          </a:prstGeom>
          <a:noFill/>
          <a:ln>
            <a:noFill/>
          </a:ln>
        </p:spPr>
      </p:pic>
      <p:sp>
        <p:nvSpPr>
          <p:cNvPr id="298" name="Google Shape;298;p58"/>
          <p:cNvSpPr/>
          <p:nvPr/>
        </p:nvSpPr>
        <p:spPr>
          <a:xfrm>
            <a:off x="33700" y="4341500"/>
            <a:ext cx="2275800" cy="7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299" name="Google Shape;299;p58"/>
          <p:cNvSpPr/>
          <p:nvPr/>
        </p:nvSpPr>
        <p:spPr>
          <a:xfrm>
            <a:off x="163000" y="4744575"/>
            <a:ext cx="7800300" cy="195900"/>
          </a:xfrm>
          <a:prstGeom prst="rect">
            <a:avLst/>
          </a:prstGeom>
          <a:solidFill>
            <a:srgbClr val="FFFFFF"/>
          </a:solidFill>
          <a:ln>
            <a:noFill/>
          </a:ln>
        </p:spPr>
        <p:txBody>
          <a:bodyPr anchorCtr="0" anchor="ctr" bIns="91425" lIns="0" spcFirstLastPara="1" rIns="91425" wrap="square" tIns="91425">
            <a:noAutofit/>
          </a:bodyPr>
          <a:lstStyle/>
          <a:p>
            <a:pPr indent="0" lvl="0" marL="0" rtl="0" algn="l">
              <a:spcBef>
                <a:spcPts val="0"/>
              </a:spcBef>
              <a:spcAft>
                <a:spcPts val="0"/>
              </a:spcAft>
              <a:buNone/>
            </a:pPr>
            <a:r>
              <a:rPr baseline="30000" lang="en" sz="1200">
                <a:solidFill>
                  <a:schemeClr val="dk1"/>
                </a:solidFill>
              </a:rPr>
              <a:t>1</a:t>
            </a:r>
            <a:r>
              <a:rPr lang="en" sz="800"/>
              <a:t>Elderly refers to seniors aged 65 years or older</a:t>
            </a:r>
            <a:endParaRPr sz="800"/>
          </a:p>
          <a:p>
            <a:pPr indent="0" lvl="0" marL="0" rtl="0" algn="l">
              <a:spcBef>
                <a:spcPts val="0"/>
              </a:spcBef>
              <a:spcAft>
                <a:spcPts val="0"/>
              </a:spcAft>
              <a:buNone/>
            </a:pPr>
            <a:r>
              <a:rPr lang="en" sz="800">
                <a:solidFill>
                  <a:srgbClr val="000000"/>
                </a:solidFill>
              </a:rPr>
              <a:t>Source: </a:t>
            </a:r>
            <a:r>
              <a:rPr lang="en" sz="800"/>
              <a:t>Singapore Department of Statistics Singapore residents data, Singapore Budget 2023-2025, Ministry of Health</a:t>
            </a:r>
            <a:endParaRPr sz="800">
              <a:solidFill>
                <a:srgbClr val="000000"/>
              </a:solidFill>
            </a:endParaRPr>
          </a:p>
        </p:txBody>
      </p:sp>
      <p:sp>
        <p:nvSpPr>
          <p:cNvPr id="300" name="Google Shape;300;p58"/>
          <p:cNvSpPr/>
          <p:nvPr/>
        </p:nvSpPr>
        <p:spPr>
          <a:xfrm>
            <a:off x="258950" y="1154925"/>
            <a:ext cx="4813800" cy="328800"/>
          </a:xfrm>
          <a:prstGeom prst="rect">
            <a:avLst/>
          </a:prstGeom>
          <a:solidFill>
            <a:srgbClr val="FFFFFF"/>
          </a:solid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Number of elderly</a:t>
            </a:r>
            <a:r>
              <a:rPr b="1" baseline="30000" lang="en" sz="1000">
                <a:solidFill>
                  <a:schemeClr val="dk1"/>
                </a:solidFill>
              </a:rPr>
              <a:t>1</a:t>
            </a:r>
            <a:r>
              <a:rPr b="1" lang="en" sz="1000"/>
              <a:t> and their proportion to the total population are both increasing rapidly</a:t>
            </a:r>
            <a:endParaRPr b="1" sz="1000">
              <a:solidFill>
                <a:srgbClr val="000000"/>
              </a:solidFill>
            </a:endParaRPr>
          </a:p>
        </p:txBody>
      </p:sp>
      <p:sp>
        <p:nvSpPr>
          <p:cNvPr id="301" name="Google Shape;301;p58"/>
          <p:cNvSpPr/>
          <p:nvPr/>
        </p:nvSpPr>
        <p:spPr>
          <a:xfrm>
            <a:off x="230000" y="3697425"/>
            <a:ext cx="3971700" cy="328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Changing elderly needs: </a:t>
            </a:r>
            <a:endParaRPr b="1" sz="1000">
              <a:solidFill>
                <a:srgbClr val="000000"/>
              </a:solidFill>
            </a:endParaRPr>
          </a:p>
        </p:txBody>
      </p:sp>
      <p:sp>
        <p:nvSpPr>
          <p:cNvPr id="302" name="Google Shape;302;p58"/>
          <p:cNvSpPr/>
          <p:nvPr/>
        </p:nvSpPr>
        <p:spPr>
          <a:xfrm>
            <a:off x="163000" y="4153888"/>
            <a:ext cx="4884600" cy="328800"/>
          </a:xfrm>
          <a:prstGeom prst="rect">
            <a:avLst/>
          </a:prstGeom>
          <a:noFill/>
          <a:ln>
            <a:noFill/>
          </a:ln>
        </p:spPr>
        <p:txBody>
          <a:bodyPr anchorCtr="0" anchor="ctr" bIns="91425" lIns="0" spcFirstLastPara="1" rIns="91425" wrap="square" tIns="91425">
            <a:noAutofit/>
          </a:bodyPr>
          <a:lstStyle/>
          <a:p>
            <a:pPr indent="-285750" lvl="0" marL="457200" rtl="0" algn="l">
              <a:spcBef>
                <a:spcPts val="0"/>
              </a:spcBef>
              <a:spcAft>
                <a:spcPts val="0"/>
              </a:spcAft>
              <a:buSzPts val="900"/>
              <a:buAutoNum type="arabicPeriod"/>
            </a:pPr>
            <a:r>
              <a:rPr lang="en" sz="900"/>
              <a:t>Increasing healthcare and long-term care needs as Singapore reaches ‘super-aged’ status from 2026 (&gt;20% of total population consists of elderly)</a:t>
            </a:r>
            <a:endParaRPr sz="900"/>
          </a:p>
          <a:p>
            <a:pPr indent="-285750" lvl="0" marL="457200" rtl="0" algn="l">
              <a:spcBef>
                <a:spcPts val="0"/>
              </a:spcBef>
              <a:spcAft>
                <a:spcPts val="0"/>
              </a:spcAft>
              <a:buSzPts val="900"/>
              <a:buAutoNum type="arabicPeriod"/>
            </a:pPr>
            <a:r>
              <a:rPr lang="en" sz="900"/>
              <a:t>Need for social connectivity and active ageing</a:t>
            </a:r>
            <a:endParaRPr sz="900"/>
          </a:p>
          <a:p>
            <a:pPr indent="-285750" lvl="0" marL="457200" rtl="0" algn="l">
              <a:spcBef>
                <a:spcPts val="0"/>
              </a:spcBef>
              <a:spcAft>
                <a:spcPts val="0"/>
              </a:spcAft>
              <a:buSzPts val="900"/>
              <a:buAutoNum type="arabicPeriod"/>
            </a:pPr>
            <a:r>
              <a:rPr lang="en" sz="900"/>
              <a:t>Changing family norms (e.g., shrinking family units, some seniors preferring to live independently)</a:t>
            </a:r>
            <a:endParaRPr sz="900"/>
          </a:p>
        </p:txBody>
      </p:sp>
      <p:sp>
        <p:nvSpPr>
          <p:cNvPr id="303" name="Google Shape;303;p58"/>
          <p:cNvSpPr/>
          <p:nvPr/>
        </p:nvSpPr>
        <p:spPr>
          <a:xfrm>
            <a:off x="5676803" y="1125250"/>
            <a:ext cx="2825700" cy="328800"/>
          </a:xfrm>
          <a:prstGeom prst="rect">
            <a:avLst/>
          </a:prstGeom>
          <a:solidFill>
            <a:srgbClr val="FFFFFF"/>
          </a:solid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Recent government eldercare initiatives to address these needs:</a:t>
            </a:r>
            <a:endParaRPr b="1" sz="1000">
              <a:solidFill>
                <a:srgbClr val="000000"/>
              </a:solidFill>
            </a:endParaRPr>
          </a:p>
        </p:txBody>
      </p:sp>
      <p:pic>
        <p:nvPicPr>
          <p:cNvPr id="304" name="Google Shape;304;p58"/>
          <p:cNvPicPr preferRelativeResize="0"/>
          <p:nvPr/>
        </p:nvPicPr>
        <p:blipFill>
          <a:blip r:embed="rId4">
            <a:alphaModFix/>
          </a:blip>
          <a:stretch>
            <a:fillRect/>
          </a:stretch>
        </p:blipFill>
        <p:spPr>
          <a:xfrm>
            <a:off x="6839363" y="1513900"/>
            <a:ext cx="381901" cy="381901"/>
          </a:xfrm>
          <a:prstGeom prst="rect">
            <a:avLst/>
          </a:prstGeom>
          <a:noFill/>
          <a:ln>
            <a:noFill/>
          </a:ln>
        </p:spPr>
      </p:pic>
      <p:sp>
        <p:nvSpPr>
          <p:cNvPr id="305" name="Google Shape;305;p58"/>
          <p:cNvSpPr/>
          <p:nvPr/>
        </p:nvSpPr>
        <p:spPr>
          <a:xfrm>
            <a:off x="5721702" y="1895800"/>
            <a:ext cx="2753700" cy="5916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sz="1000"/>
              <a:t>Dedicate </a:t>
            </a:r>
            <a:r>
              <a:rPr b="1" lang="en" sz="1000"/>
              <a:t>$3.5 Bn</a:t>
            </a:r>
            <a:r>
              <a:rPr lang="en" sz="1000"/>
              <a:t> over next decade to encourage active living and expand Active Ageing Centres from 154 to &gt;223 by 2025</a:t>
            </a:r>
            <a:endParaRPr sz="1000"/>
          </a:p>
        </p:txBody>
      </p:sp>
      <p:sp>
        <p:nvSpPr>
          <p:cNvPr id="306" name="Google Shape;306;p58"/>
          <p:cNvSpPr/>
          <p:nvPr/>
        </p:nvSpPr>
        <p:spPr>
          <a:xfrm>
            <a:off x="6026488" y="1540450"/>
            <a:ext cx="882300" cy="328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Age Well SG</a:t>
            </a:r>
            <a:endParaRPr b="1" sz="1000">
              <a:solidFill>
                <a:srgbClr val="000000"/>
              </a:solidFill>
            </a:endParaRPr>
          </a:p>
        </p:txBody>
      </p:sp>
      <p:sp>
        <p:nvSpPr>
          <p:cNvPr id="307" name="Google Shape;307;p58"/>
          <p:cNvSpPr/>
          <p:nvPr/>
        </p:nvSpPr>
        <p:spPr>
          <a:xfrm>
            <a:off x="5701738" y="1596100"/>
            <a:ext cx="213900" cy="217500"/>
          </a:xfrm>
          <a:prstGeom prst="ellipse">
            <a:avLst/>
          </a:prstGeom>
          <a:solidFill>
            <a:schemeClr val="accent1"/>
          </a:solidFill>
          <a:ln>
            <a:noFill/>
          </a:ln>
        </p:spPr>
        <p:txBody>
          <a:bodyPr anchorCtr="0" anchor="ctr" bIns="0" lIns="45700" spcFirstLastPara="1" rIns="45700" wrap="square" tIns="0">
            <a:noAutofit/>
          </a:bodyPr>
          <a:lstStyle/>
          <a:p>
            <a:pPr indent="0" lvl="0" marL="0" rtl="0" algn="l">
              <a:spcBef>
                <a:spcPts val="0"/>
              </a:spcBef>
              <a:spcAft>
                <a:spcPts val="0"/>
              </a:spcAft>
              <a:buNone/>
            </a:pPr>
            <a:r>
              <a:rPr b="1" lang="en" sz="1000">
                <a:solidFill>
                  <a:srgbClr val="FFFFFF"/>
                </a:solidFill>
              </a:rPr>
              <a:t>1</a:t>
            </a:r>
            <a:endParaRPr b="1" sz="1000">
              <a:solidFill>
                <a:srgbClr val="FFFFFF"/>
              </a:solidFill>
            </a:endParaRPr>
          </a:p>
        </p:txBody>
      </p:sp>
      <p:sp>
        <p:nvSpPr>
          <p:cNvPr id="308" name="Google Shape;308;p58"/>
          <p:cNvSpPr/>
          <p:nvPr/>
        </p:nvSpPr>
        <p:spPr>
          <a:xfrm>
            <a:off x="5701738" y="2737500"/>
            <a:ext cx="213900" cy="217500"/>
          </a:xfrm>
          <a:prstGeom prst="ellipse">
            <a:avLst/>
          </a:prstGeom>
          <a:solidFill>
            <a:schemeClr val="accent1"/>
          </a:solidFill>
          <a:ln>
            <a:noFill/>
          </a:ln>
        </p:spPr>
        <p:txBody>
          <a:bodyPr anchorCtr="0" anchor="ctr" bIns="0" lIns="45700" spcFirstLastPara="1" rIns="45700" wrap="square" tIns="0">
            <a:noAutofit/>
          </a:bodyPr>
          <a:lstStyle/>
          <a:p>
            <a:pPr indent="0" lvl="0" marL="0" rtl="0" algn="l">
              <a:spcBef>
                <a:spcPts val="0"/>
              </a:spcBef>
              <a:spcAft>
                <a:spcPts val="0"/>
              </a:spcAft>
              <a:buNone/>
            </a:pPr>
            <a:r>
              <a:rPr b="1" lang="en" sz="1000">
                <a:solidFill>
                  <a:srgbClr val="FFFFFF"/>
                </a:solidFill>
              </a:rPr>
              <a:t>2</a:t>
            </a:r>
            <a:endParaRPr b="1" sz="1000">
              <a:solidFill>
                <a:srgbClr val="FFFFFF"/>
              </a:solidFill>
            </a:endParaRPr>
          </a:p>
        </p:txBody>
      </p:sp>
      <p:sp>
        <p:nvSpPr>
          <p:cNvPr id="309" name="Google Shape;309;p58"/>
          <p:cNvSpPr/>
          <p:nvPr/>
        </p:nvSpPr>
        <p:spPr>
          <a:xfrm>
            <a:off x="6038788" y="2661300"/>
            <a:ext cx="1613700" cy="328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Enhanced Long-Term Care Subsidies &amp; Grants</a:t>
            </a:r>
            <a:endParaRPr b="1" sz="1000">
              <a:solidFill>
                <a:srgbClr val="000000"/>
              </a:solidFill>
            </a:endParaRPr>
          </a:p>
        </p:txBody>
      </p:sp>
      <p:sp>
        <p:nvSpPr>
          <p:cNvPr id="310" name="Google Shape;310;p58"/>
          <p:cNvSpPr/>
          <p:nvPr/>
        </p:nvSpPr>
        <p:spPr>
          <a:xfrm>
            <a:off x="5748895" y="2997030"/>
            <a:ext cx="2753700" cy="4176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sz="1000"/>
              <a:t>Dedicate </a:t>
            </a:r>
            <a:r>
              <a:rPr b="1" lang="en" sz="1000"/>
              <a:t>$300 Mn </a:t>
            </a:r>
            <a:r>
              <a:rPr lang="en" sz="1000"/>
              <a:t>to ease access to home and community-based care</a:t>
            </a:r>
            <a:endParaRPr sz="1000"/>
          </a:p>
        </p:txBody>
      </p:sp>
      <p:sp>
        <p:nvSpPr>
          <p:cNvPr id="311" name="Google Shape;311;p58"/>
          <p:cNvSpPr/>
          <p:nvPr/>
        </p:nvSpPr>
        <p:spPr>
          <a:xfrm>
            <a:off x="5701738" y="3643225"/>
            <a:ext cx="213900" cy="217500"/>
          </a:xfrm>
          <a:prstGeom prst="ellipse">
            <a:avLst/>
          </a:prstGeom>
          <a:solidFill>
            <a:schemeClr val="accent1"/>
          </a:solidFill>
          <a:ln>
            <a:noFill/>
          </a:ln>
        </p:spPr>
        <p:txBody>
          <a:bodyPr anchorCtr="0" anchor="ctr" bIns="0" lIns="45700" spcFirstLastPara="1" rIns="45700" wrap="square" tIns="0">
            <a:noAutofit/>
          </a:bodyPr>
          <a:lstStyle/>
          <a:p>
            <a:pPr indent="0" lvl="0" marL="0" rtl="0" algn="l">
              <a:spcBef>
                <a:spcPts val="0"/>
              </a:spcBef>
              <a:spcAft>
                <a:spcPts val="0"/>
              </a:spcAft>
              <a:buNone/>
            </a:pPr>
            <a:r>
              <a:rPr b="1" lang="en" sz="1000">
                <a:solidFill>
                  <a:srgbClr val="FFFFFF"/>
                </a:solidFill>
              </a:rPr>
              <a:t>3</a:t>
            </a:r>
            <a:endParaRPr b="1" sz="1000">
              <a:solidFill>
                <a:srgbClr val="FFFFFF"/>
              </a:solidFill>
            </a:endParaRPr>
          </a:p>
        </p:txBody>
      </p:sp>
      <p:sp>
        <p:nvSpPr>
          <p:cNvPr id="312" name="Google Shape;312;p58"/>
          <p:cNvSpPr/>
          <p:nvPr/>
        </p:nvSpPr>
        <p:spPr>
          <a:xfrm>
            <a:off x="5998888" y="3587575"/>
            <a:ext cx="1936800" cy="328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b="1" lang="en" sz="1000"/>
              <a:t>Senior’s Mobility and Enabling Fund</a:t>
            </a:r>
            <a:endParaRPr b="1" sz="1000">
              <a:solidFill>
                <a:srgbClr val="000000"/>
              </a:solidFill>
            </a:endParaRPr>
          </a:p>
        </p:txBody>
      </p:sp>
      <p:sp>
        <p:nvSpPr>
          <p:cNvPr id="313" name="Google Shape;313;p58"/>
          <p:cNvSpPr/>
          <p:nvPr/>
        </p:nvSpPr>
        <p:spPr>
          <a:xfrm>
            <a:off x="5748895" y="3998848"/>
            <a:ext cx="2753700" cy="4176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 sz="1000"/>
              <a:t>Dedicate </a:t>
            </a:r>
            <a:r>
              <a:rPr b="1" lang="en" sz="1000"/>
              <a:t>~$50 Mn annually</a:t>
            </a:r>
            <a:r>
              <a:rPr lang="en" sz="1000"/>
              <a:t> over next 5 years to maintain senior’s mobility by supporting subsidies for mobility aids </a:t>
            </a:r>
            <a:endParaRPr sz="1000"/>
          </a:p>
        </p:txBody>
      </p:sp>
      <p:pic>
        <p:nvPicPr>
          <p:cNvPr id="314" name="Google Shape;314;p58"/>
          <p:cNvPicPr preferRelativeResize="0"/>
          <p:nvPr/>
        </p:nvPicPr>
        <p:blipFill>
          <a:blip r:embed="rId5">
            <a:alphaModFix/>
          </a:blip>
          <a:stretch>
            <a:fillRect/>
          </a:stretch>
        </p:blipFill>
        <p:spPr>
          <a:xfrm>
            <a:off x="7386388" y="3607877"/>
            <a:ext cx="406525" cy="291325"/>
          </a:xfrm>
          <a:prstGeom prst="rect">
            <a:avLst/>
          </a:prstGeom>
          <a:noFill/>
          <a:ln>
            <a:noFill/>
          </a:ln>
        </p:spPr>
      </p:pic>
      <p:pic>
        <p:nvPicPr>
          <p:cNvPr id="315" name="Google Shape;315;p58"/>
          <p:cNvPicPr preferRelativeResize="0"/>
          <p:nvPr/>
        </p:nvPicPr>
        <p:blipFill>
          <a:blip r:embed="rId6">
            <a:alphaModFix/>
          </a:blip>
          <a:stretch>
            <a:fillRect/>
          </a:stretch>
        </p:blipFill>
        <p:spPr>
          <a:xfrm>
            <a:off x="7539813" y="2702313"/>
            <a:ext cx="343677" cy="195899"/>
          </a:xfrm>
          <a:prstGeom prst="rect">
            <a:avLst/>
          </a:prstGeom>
          <a:noFill/>
          <a:ln>
            <a:noFill/>
          </a:ln>
        </p:spPr>
      </p:pic>
      <p:cxnSp>
        <p:nvCxnSpPr>
          <p:cNvPr id="316" name="Google Shape;316;p58"/>
          <p:cNvCxnSpPr/>
          <p:nvPr/>
        </p:nvCxnSpPr>
        <p:spPr>
          <a:xfrm>
            <a:off x="5271275" y="1128900"/>
            <a:ext cx="0" cy="35565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9"/>
          <p:cNvSpPr txBox="1"/>
          <p:nvPr>
            <p:ph type="title"/>
          </p:nvPr>
        </p:nvSpPr>
        <p:spPr>
          <a:xfrm>
            <a:off x="230000" y="415225"/>
            <a:ext cx="8859600" cy="381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2000"/>
              <a:t>Customer/user segments for eldercare in Singapore </a:t>
            </a:r>
            <a:endParaRPr sz="2000"/>
          </a:p>
        </p:txBody>
      </p:sp>
      <p:sp>
        <p:nvSpPr>
          <p:cNvPr id="322" name="Google Shape;322;p59"/>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sp>
        <p:nvSpPr>
          <p:cNvPr id="323" name="Google Shape;323;p59"/>
          <p:cNvSpPr/>
          <p:nvPr/>
        </p:nvSpPr>
        <p:spPr>
          <a:xfrm>
            <a:off x="444400" y="2059525"/>
            <a:ext cx="2470500" cy="80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Seniors who can perform all ADLs** independently without assistance (i.e. </a:t>
            </a:r>
            <a:r>
              <a:rPr b="1" lang="en" sz="1000"/>
              <a:t>no ADLs</a:t>
            </a:r>
            <a:r>
              <a:rPr lang="en" sz="1000"/>
              <a:t>). </a:t>
            </a:r>
            <a:endParaRPr sz="1000"/>
          </a:p>
        </p:txBody>
      </p:sp>
      <p:sp>
        <p:nvSpPr>
          <p:cNvPr id="324" name="Google Shape;324;p59"/>
          <p:cNvSpPr txBox="1"/>
          <p:nvPr/>
        </p:nvSpPr>
        <p:spPr>
          <a:xfrm>
            <a:off x="153800" y="4530161"/>
            <a:ext cx="8648100" cy="5388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Sources: </a:t>
            </a:r>
            <a:r>
              <a:rPr baseline="30000" lang="en" sz="600"/>
              <a:t>1</a:t>
            </a:r>
            <a:r>
              <a:rPr lang="en" sz="600" u="sng">
                <a:solidFill>
                  <a:schemeClr val="hlink"/>
                </a:solidFill>
                <a:hlinkClick r:id="rId3"/>
              </a:rPr>
              <a:t>YCP</a:t>
            </a:r>
            <a:r>
              <a:rPr lang="en" sz="600">
                <a:solidFill>
                  <a:schemeClr val="dk1"/>
                </a:solidFill>
              </a:rPr>
              <a:t>, </a:t>
            </a:r>
            <a:r>
              <a:rPr baseline="30000" lang="en" sz="600"/>
              <a:t>2</a:t>
            </a:r>
            <a:r>
              <a:rPr lang="en" sz="600" u="sng">
                <a:solidFill>
                  <a:schemeClr val="hlink"/>
                </a:solidFill>
                <a:hlinkClick r:id="rId4"/>
              </a:rPr>
              <a:t>Duke-NUS</a:t>
            </a:r>
            <a:r>
              <a:rPr lang="en" sz="600">
                <a:solidFill>
                  <a:schemeClr val="dk1"/>
                </a:solidFill>
              </a:rPr>
              <a:t>,</a:t>
            </a:r>
            <a:r>
              <a:rPr lang="en" sz="600"/>
              <a:t> </a:t>
            </a:r>
            <a:r>
              <a:rPr baseline="30000" lang="en" sz="600"/>
              <a:t>3</a:t>
            </a:r>
            <a:r>
              <a:rPr lang="en" sz="600" u="sng">
                <a:solidFill>
                  <a:schemeClr val="hlink"/>
                </a:solidFill>
                <a:hlinkClick r:id="rId5"/>
              </a:rPr>
              <a:t>MOH</a:t>
            </a:r>
            <a:r>
              <a:rPr lang="en" sz="600"/>
              <a:t>, </a:t>
            </a:r>
            <a:r>
              <a:rPr baseline="30000" lang="en" sz="600"/>
              <a:t>4</a:t>
            </a:r>
            <a:r>
              <a:rPr lang="en" sz="600" u="sng">
                <a:solidFill>
                  <a:schemeClr val="hlink"/>
                </a:solidFill>
                <a:hlinkClick r:id="rId6"/>
              </a:rPr>
              <a:t>The Straits Times</a:t>
            </a:r>
            <a:r>
              <a:rPr lang="en" sz="600"/>
              <a:t>, </a:t>
            </a:r>
            <a:r>
              <a:rPr baseline="30000" lang="en" sz="600"/>
              <a:t>5</a:t>
            </a:r>
            <a:r>
              <a:rPr lang="en" sz="600" u="sng">
                <a:solidFill>
                  <a:schemeClr val="hlink"/>
                </a:solidFill>
                <a:hlinkClick r:id="rId7"/>
              </a:rPr>
              <a:t>CNA</a:t>
            </a:r>
            <a:r>
              <a:rPr lang="en" sz="600"/>
              <a:t>, </a:t>
            </a:r>
            <a:r>
              <a:rPr baseline="30000" lang="en" sz="600"/>
              <a:t>6</a:t>
            </a:r>
            <a:r>
              <a:rPr lang="en" sz="600" u="sng">
                <a:solidFill>
                  <a:schemeClr val="hlink"/>
                </a:solidFill>
                <a:hlinkClick r:id="rId8"/>
              </a:rPr>
              <a:t>CNA</a:t>
            </a:r>
            <a:r>
              <a:rPr lang="en" sz="600">
                <a:solidFill>
                  <a:schemeClr val="dk1"/>
                </a:solidFill>
              </a:rPr>
              <a:t>, </a:t>
            </a:r>
            <a:r>
              <a:rPr baseline="30000" lang="en" sz="600">
                <a:solidFill>
                  <a:schemeClr val="dk1"/>
                </a:solidFill>
              </a:rPr>
              <a:t>7</a:t>
            </a:r>
            <a:r>
              <a:rPr lang="en" sz="600" u="sng">
                <a:solidFill>
                  <a:schemeClr val="hlink"/>
                </a:solidFill>
                <a:hlinkClick r:id="rId9"/>
              </a:rPr>
              <a:t>BMC Geriatrics</a:t>
            </a:r>
            <a:endParaRPr sz="600"/>
          </a:p>
          <a:p>
            <a:pPr indent="0" lvl="0" marL="0" rtl="0" algn="l">
              <a:spcBef>
                <a:spcPts val="300"/>
              </a:spcBef>
              <a:spcAft>
                <a:spcPts val="0"/>
              </a:spcAft>
              <a:buClr>
                <a:schemeClr val="dk1"/>
              </a:buClr>
              <a:buSzPts val="1100"/>
              <a:buFont typeface="Arial"/>
              <a:buNone/>
            </a:pPr>
            <a:r>
              <a:rPr i="1" lang="en" sz="600">
                <a:solidFill>
                  <a:schemeClr val="dk1"/>
                </a:solidFill>
              </a:rPr>
              <a:t>*Based on 2030 Projections </a:t>
            </a:r>
            <a:endParaRPr i="1" sz="600">
              <a:solidFill>
                <a:schemeClr val="dk1"/>
              </a:solidFill>
            </a:endParaRPr>
          </a:p>
          <a:p>
            <a:pPr indent="0" lvl="0" marL="0" rtl="0" algn="l">
              <a:spcBef>
                <a:spcPts val="300"/>
              </a:spcBef>
              <a:spcAft>
                <a:spcPts val="300"/>
              </a:spcAft>
              <a:buNone/>
            </a:pPr>
            <a:r>
              <a:rPr i="1" lang="en" sz="600">
                <a:solidFill>
                  <a:schemeClr val="dk1"/>
                </a:solidFill>
              </a:rPr>
              <a:t>**Commonly assessed based on Katz Index of Independence in Activities of Daily Living (ADL)</a:t>
            </a:r>
            <a:r>
              <a:rPr baseline="30000" i="1" lang="en" sz="600">
                <a:solidFill>
                  <a:schemeClr val="dk1"/>
                </a:solidFill>
              </a:rPr>
              <a:t>7</a:t>
            </a:r>
            <a:r>
              <a:rPr i="1" lang="en" sz="600">
                <a:solidFill>
                  <a:schemeClr val="dk1"/>
                </a:solidFill>
              </a:rPr>
              <a:t>: Key daily tasks include Bathing, Dressing, Toileting, Transferring, Continence, and Feeding</a:t>
            </a:r>
            <a:endParaRPr sz="600">
              <a:solidFill>
                <a:schemeClr val="dk1"/>
              </a:solidFill>
            </a:endParaRPr>
          </a:p>
        </p:txBody>
      </p:sp>
      <p:sp>
        <p:nvSpPr>
          <p:cNvPr id="325" name="Google Shape;325;p59"/>
          <p:cNvSpPr/>
          <p:nvPr/>
        </p:nvSpPr>
        <p:spPr>
          <a:xfrm>
            <a:off x="6225319" y="2066075"/>
            <a:ext cx="2470500" cy="71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Seniors who requires assistance for most or nearly all ADLs** (i.e., need assistance with </a:t>
            </a:r>
            <a:r>
              <a:rPr b="1" lang="en" sz="1000">
                <a:solidFill>
                  <a:schemeClr val="dk1"/>
                </a:solidFill>
              </a:rPr>
              <a:t>&gt;= 3 ADLs</a:t>
            </a:r>
            <a:r>
              <a:rPr lang="en" sz="1000">
                <a:solidFill>
                  <a:schemeClr val="dk1"/>
                </a:solidFill>
              </a:rPr>
              <a:t>). </a:t>
            </a:r>
            <a:endParaRPr sz="1000"/>
          </a:p>
        </p:txBody>
      </p:sp>
      <p:sp>
        <p:nvSpPr>
          <p:cNvPr id="326" name="Google Shape;326;p59"/>
          <p:cNvSpPr/>
          <p:nvPr/>
        </p:nvSpPr>
        <p:spPr>
          <a:xfrm>
            <a:off x="3334850" y="2066075"/>
            <a:ext cx="2470500" cy="710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rPr>
              <a:t>Seniors who cannot live independently (i.e., need assistance for </a:t>
            </a:r>
            <a:r>
              <a:rPr b="1" lang="en" sz="1000">
                <a:solidFill>
                  <a:schemeClr val="dk1"/>
                </a:solidFill>
              </a:rPr>
              <a:t>1-2 ADLs**</a:t>
            </a:r>
            <a:r>
              <a:rPr lang="en" sz="1000">
                <a:solidFill>
                  <a:schemeClr val="dk1"/>
                </a:solidFill>
              </a:rPr>
              <a:t>) but are not too ill to be cared for in nursing homes. </a:t>
            </a:r>
            <a:endParaRPr sz="1000">
              <a:solidFill>
                <a:schemeClr val="dk1"/>
              </a:solidFill>
            </a:endParaRPr>
          </a:p>
        </p:txBody>
      </p:sp>
      <p:sp>
        <p:nvSpPr>
          <p:cNvPr id="327" name="Google Shape;327;p59"/>
          <p:cNvSpPr/>
          <p:nvPr/>
        </p:nvSpPr>
        <p:spPr>
          <a:xfrm>
            <a:off x="448350" y="1422575"/>
            <a:ext cx="2476200" cy="287700"/>
          </a:xfrm>
          <a:prstGeom prst="roundRect">
            <a:avLst>
              <a:gd fmla="val 16667" name="adj"/>
            </a:avLst>
          </a:prstGeom>
          <a:solidFill>
            <a:srgbClr val="0053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rPr>
              <a:t>Independent Seniors*</a:t>
            </a:r>
            <a:endParaRPr sz="1100"/>
          </a:p>
        </p:txBody>
      </p:sp>
      <p:sp>
        <p:nvSpPr>
          <p:cNvPr id="328" name="Google Shape;328;p59"/>
          <p:cNvSpPr/>
          <p:nvPr/>
        </p:nvSpPr>
        <p:spPr>
          <a:xfrm>
            <a:off x="3333913" y="1422575"/>
            <a:ext cx="2476200" cy="287700"/>
          </a:xfrm>
          <a:prstGeom prst="roundRect">
            <a:avLst>
              <a:gd fmla="val 16667" name="adj"/>
            </a:avLst>
          </a:prstGeom>
          <a:solidFill>
            <a:srgbClr val="0053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rPr>
              <a:t>Partially Dependent Seniors*</a:t>
            </a:r>
            <a:endParaRPr sz="1100"/>
          </a:p>
        </p:txBody>
      </p:sp>
      <p:sp>
        <p:nvSpPr>
          <p:cNvPr id="329" name="Google Shape;329;p59"/>
          <p:cNvSpPr/>
          <p:nvPr/>
        </p:nvSpPr>
        <p:spPr>
          <a:xfrm>
            <a:off x="6219475" y="1422575"/>
            <a:ext cx="2476200" cy="287700"/>
          </a:xfrm>
          <a:prstGeom prst="roundRect">
            <a:avLst>
              <a:gd fmla="val 16667" name="adj"/>
            </a:avLst>
          </a:prstGeom>
          <a:solidFill>
            <a:srgbClr val="9E9E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rPr>
              <a:t>Fully Dependent Seniors*</a:t>
            </a:r>
            <a:endParaRPr sz="1100"/>
          </a:p>
        </p:txBody>
      </p:sp>
      <p:sp>
        <p:nvSpPr>
          <p:cNvPr id="330" name="Google Shape;330;p59"/>
          <p:cNvSpPr/>
          <p:nvPr/>
        </p:nvSpPr>
        <p:spPr>
          <a:xfrm>
            <a:off x="946800" y="2027837"/>
            <a:ext cx="1479300" cy="22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800"/>
              <a:t>~83,000</a:t>
            </a:r>
            <a:r>
              <a:rPr baseline="30000" i="1" lang="en" sz="800"/>
              <a:t>1</a:t>
            </a:r>
            <a:r>
              <a:rPr i="1" lang="en" sz="800"/>
              <a:t> living alone</a:t>
            </a:r>
            <a:endParaRPr i="1" sz="800"/>
          </a:p>
        </p:txBody>
      </p:sp>
      <p:sp>
        <p:nvSpPr>
          <p:cNvPr id="331" name="Google Shape;331;p59"/>
          <p:cNvSpPr/>
          <p:nvPr/>
        </p:nvSpPr>
        <p:spPr>
          <a:xfrm>
            <a:off x="3832350" y="1735113"/>
            <a:ext cx="1479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900"/>
              <a:t>~39,000</a:t>
            </a:r>
            <a:r>
              <a:rPr b="1" baseline="30000" i="1" lang="en" sz="1900"/>
              <a:t>2</a:t>
            </a:r>
            <a:endParaRPr b="1" baseline="30000" i="1" sz="1900"/>
          </a:p>
        </p:txBody>
      </p:sp>
      <p:sp>
        <p:nvSpPr>
          <p:cNvPr id="332" name="Google Shape;332;p59"/>
          <p:cNvSpPr/>
          <p:nvPr/>
        </p:nvSpPr>
        <p:spPr>
          <a:xfrm>
            <a:off x="6717950" y="1735113"/>
            <a:ext cx="1479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900"/>
              <a:t>~44,000</a:t>
            </a:r>
            <a:r>
              <a:rPr b="1" baseline="30000" i="1" lang="en" sz="1900"/>
              <a:t>2</a:t>
            </a:r>
            <a:endParaRPr b="1" baseline="30000" i="1" sz="1900"/>
          </a:p>
        </p:txBody>
      </p:sp>
      <p:sp>
        <p:nvSpPr>
          <p:cNvPr id="333" name="Google Shape;333;p59"/>
          <p:cNvSpPr/>
          <p:nvPr/>
        </p:nvSpPr>
        <p:spPr>
          <a:xfrm>
            <a:off x="946800" y="1696863"/>
            <a:ext cx="1479300" cy="45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900"/>
              <a:t>&gt;800,000</a:t>
            </a:r>
            <a:r>
              <a:rPr b="1" baseline="30000" i="1" lang="en" sz="1900"/>
              <a:t>1</a:t>
            </a:r>
            <a:endParaRPr baseline="30000" i="1" sz="900"/>
          </a:p>
        </p:txBody>
      </p:sp>
      <p:pic>
        <p:nvPicPr>
          <p:cNvPr id="334" name="Google Shape;334;p59"/>
          <p:cNvPicPr preferRelativeResize="0"/>
          <p:nvPr/>
        </p:nvPicPr>
        <p:blipFill rotWithShape="1">
          <a:blip r:embed="rId10">
            <a:alphaModFix/>
          </a:blip>
          <a:srcRect b="12174" l="13633" r="10838" t="10035"/>
          <a:stretch/>
        </p:blipFill>
        <p:spPr>
          <a:xfrm>
            <a:off x="1368725" y="781510"/>
            <a:ext cx="635450" cy="654475"/>
          </a:xfrm>
          <a:prstGeom prst="rect">
            <a:avLst/>
          </a:prstGeom>
          <a:noFill/>
          <a:ln>
            <a:noFill/>
          </a:ln>
        </p:spPr>
      </p:pic>
      <p:pic>
        <p:nvPicPr>
          <p:cNvPr id="335" name="Google Shape;335;p59"/>
          <p:cNvPicPr preferRelativeResize="0"/>
          <p:nvPr/>
        </p:nvPicPr>
        <p:blipFill rotWithShape="1">
          <a:blip r:embed="rId11">
            <a:alphaModFix/>
          </a:blip>
          <a:srcRect b="6156" l="8627" r="8337" t="7016"/>
          <a:stretch/>
        </p:blipFill>
        <p:spPr>
          <a:xfrm>
            <a:off x="4342075" y="771500"/>
            <a:ext cx="635450" cy="664485"/>
          </a:xfrm>
          <a:prstGeom prst="rect">
            <a:avLst/>
          </a:prstGeom>
          <a:noFill/>
          <a:ln>
            <a:noFill/>
          </a:ln>
        </p:spPr>
      </p:pic>
      <p:pic>
        <p:nvPicPr>
          <p:cNvPr id="336" name="Google Shape;336;p59"/>
          <p:cNvPicPr preferRelativeResize="0"/>
          <p:nvPr/>
        </p:nvPicPr>
        <p:blipFill rotWithShape="1">
          <a:blip r:embed="rId12">
            <a:alphaModFix/>
          </a:blip>
          <a:srcRect b="17417" l="11829" r="9044" t="18075"/>
          <a:stretch/>
        </p:blipFill>
        <p:spPr>
          <a:xfrm>
            <a:off x="1459662" y="2715114"/>
            <a:ext cx="439989" cy="538800"/>
          </a:xfrm>
          <a:prstGeom prst="rect">
            <a:avLst/>
          </a:prstGeom>
          <a:noFill/>
          <a:ln>
            <a:noFill/>
          </a:ln>
        </p:spPr>
      </p:pic>
      <p:pic>
        <p:nvPicPr>
          <p:cNvPr id="337" name="Google Shape;337;p59"/>
          <p:cNvPicPr preferRelativeResize="0"/>
          <p:nvPr/>
        </p:nvPicPr>
        <p:blipFill rotWithShape="1">
          <a:blip r:embed="rId13">
            <a:alphaModFix/>
          </a:blip>
          <a:srcRect b="4581" l="12206" r="11265" t="6805"/>
          <a:stretch/>
        </p:blipFill>
        <p:spPr>
          <a:xfrm>
            <a:off x="7212475" y="2679327"/>
            <a:ext cx="496200" cy="574587"/>
          </a:xfrm>
          <a:prstGeom prst="rect">
            <a:avLst/>
          </a:prstGeom>
          <a:noFill/>
          <a:ln>
            <a:noFill/>
          </a:ln>
        </p:spPr>
      </p:pic>
      <p:pic>
        <p:nvPicPr>
          <p:cNvPr id="338" name="Google Shape;338;p59"/>
          <p:cNvPicPr preferRelativeResize="0"/>
          <p:nvPr/>
        </p:nvPicPr>
        <p:blipFill rotWithShape="1">
          <a:blip r:embed="rId14">
            <a:alphaModFix/>
          </a:blip>
          <a:srcRect b="10274" l="10314" r="11076" t="9146"/>
          <a:stretch/>
        </p:blipFill>
        <p:spPr>
          <a:xfrm>
            <a:off x="7142850" y="784651"/>
            <a:ext cx="635450" cy="651333"/>
          </a:xfrm>
          <a:prstGeom prst="rect">
            <a:avLst/>
          </a:prstGeom>
          <a:noFill/>
          <a:ln>
            <a:noFill/>
          </a:ln>
        </p:spPr>
      </p:pic>
      <p:sp>
        <p:nvSpPr>
          <p:cNvPr id="339" name="Google Shape;339;p59"/>
          <p:cNvSpPr/>
          <p:nvPr/>
        </p:nvSpPr>
        <p:spPr>
          <a:xfrm>
            <a:off x="448350" y="3245238"/>
            <a:ext cx="2476200" cy="287700"/>
          </a:xfrm>
          <a:prstGeom prst="roundRect">
            <a:avLst>
              <a:gd fmla="val 16667" name="adj"/>
            </a:avLst>
          </a:prstGeom>
          <a:solidFill>
            <a:srgbClr val="0053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Proxima Nova"/>
                <a:ea typeface="Proxima Nova"/>
                <a:cs typeface="Proxima Nova"/>
                <a:sym typeface="Proxima Nova"/>
              </a:rPr>
              <a:t>Primary (Informal) Caregivers</a:t>
            </a:r>
            <a:endParaRPr b="1" sz="1100">
              <a:solidFill>
                <a:srgbClr val="FFFFFF"/>
              </a:solidFill>
              <a:latin typeface="Proxima Nova"/>
              <a:ea typeface="Proxima Nova"/>
              <a:cs typeface="Proxima Nova"/>
              <a:sym typeface="Proxima Nova"/>
            </a:endParaRPr>
          </a:p>
        </p:txBody>
      </p:sp>
      <p:sp>
        <p:nvSpPr>
          <p:cNvPr id="340" name="Google Shape;340;p59"/>
          <p:cNvSpPr/>
          <p:nvPr/>
        </p:nvSpPr>
        <p:spPr>
          <a:xfrm>
            <a:off x="3333913" y="3245238"/>
            <a:ext cx="2476200" cy="287700"/>
          </a:xfrm>
          <a:prstGeom prst="roundRect">
            <a:avLst>
              <a:gd fmla="val 16667" name="adj"/>
            </a:avLst>
          </a:prstGeom>
          <a:solidFill>
            <a:srgbClr val="9E9E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Proxima Nova"/>
                <a:ea typeface="Proxima Nova"/>
                <a:cs typeface="Proxima Nova"/>
                <a:sym typeface="Proxima Nova"/>
              </a:rPr>
              <a:t>Professional Caregivers/Helpers</a:t>
            </a:r>
            <a:endParaRPr sz="1100"/>
          </a:p>
        </p:txBody>
      </p:sp>
      <p:sp>
        <p:nvSpPr>
          <p:cNvPr id="341" name="Google Shape;341;p59"/>
          <p:cNvSpPr/>
          <p:nvPr/>
        </p:nvSpPr>
        <p:spPr>
          <a:xfrm>
            <a:off x="6219475" y="3245238"/>
            <a:ext cx="2476200" cy="287700"/>
          </a:xfrm>
          <a:prstGeom prst="roundRect">
            <a:avLst>
              <a:gd fmla="val 16667" name="adj"/>
            </a:avLst>
          </a:prstGeom>
          <a:solidFill>
            <a:srgbClr val="0053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Proxima Nova"/>
                <a:ea typeface="Proxima Nova"/>
                <a:cs typeface="Proxima Nova"/>
                <a:sym typeface="Proxima Nova"/>
              </a:rPr>
              <a:t>Respite/Interim Caregivers</a:t>
            </a:r>
            <a:endParaRPr b="1" sz="1100">
              <a:solidFill>
                <a:srgbClr val="FFFFFF"/>
              </a:solidFill>
              <a:latin typeface="Proxima Nova"/>
              <a:ea typeface="Proxima Nova"/>
              <a:cs typeface="Proxima Nova"/>
              <a:sym typeface="Proxima Nova"/>
            </a:endParaRPr>
          </a:p>
        </p:txBody>
      </p:sp>
      <p:sp>
        <p:nvSpPr>
          <p:cNvPr id="342" name="Google Shape;342;p59"/>
          <p:cNvSpPr/>
          <p:nvPr/>
        </p:nvSpPr>
        <p:spPr>
          <a:xfrm>
            <a:off x="444400" y="3895600"/>
            <a:ext cx="2470500" cy="66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ource Sans Pro"/>
                <a:ea typeface="Source Sans Pro"/>
                <a:cs typeface="Source Sans Pro"/>
                <a:sym typeface="Source Sans Pro"/>
              </a:rPr>
              <a:t>The </a:t>
            </a:r>
            <a:r>
              <a:rPr b="1" lang="en" sz="1000">
                <a:latin typeface="Source Sans Pro"/>
                <a:ea typeface="Source Sans Pro"/>
                <a:cs typeface="Source Sans Pro"/>
                <a:sym typeface="Source Sans Pro"/>
              </a:rPr>
              <a:t>main person responsible</a:t>
            </a:r>
            <a:r>
              <a:rPr lang="en" sz="1000">
                <a:latin typeface="Source Sans Pro"/>
                <a:ea typeface="Source Sans Pro"/>
                <a:cs typeface="Source Sans Pro"/>
                <a:sym typeface="Source Sans Pro"/>
              </a:rPr>
              <a:t> for providing day-to-day care to an elderly or person with disabilities, typically a family member.</a:t>
            </a:r>
            <a:endParaRPr sz="1000">
              <a:latin typeface="Source Sans Pro"/>
              <a:ea typeface="Source Sans Pro"/>
              <a:cs typeface="Source Sans Pro"/>
              <a:sym typeface="Source Sans Pro"/>
            </a:endParaRPr>
          </a:p>
        </p:txBody>
      </p:sp>
      <p:sp>
        <p:nvSpPr>
          <p:cNvPr id="343" name="Google Shape;343;p59"/>
          <p:cNvSpPr/>
          <p:nvPr/>
        </p:nvSpPr>
        <p:spPr>
          <a:xfrm>
            <a:off x="6225325" y="3902150"/>
            <a:ext cx="2470500" cy="66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Sans Pro"/>
                <a:ea typeface="Source Sans Pro"/>
                <a:cs typeface="Source Sans Pro"/>
                <a:sym typeface="Source Sans Pro"/>
              </a:rPr>
              <a:t>A </a:t>
            </a:r>
            <a:r>
              <a:rPr b="1" lang="en" sz="1000">
                <a:solidFill>
                  <a:schemeClr val="dk1"/>
                </a:solidFill>
                <a:latin typeface="Source Sans Pro"/>
                <a:ea typeface="Source Sans Pro"/>
                <a:cs typeface="Source Sans Pro"/>
                <a:sym typeface="Source Sans Pro"/>
              </a:rPr>
              <a:t>temporary caregiver</a:t>
            </a:r>
            <a:r>
              <a:rPr lang="en" sz="1000">
                <a:solidFill>
                  <a:schemeClr val="dk1"/>
                </a:solidFill>
                <a:latin typeface="Source Sans Pro"/>
                <a:ea typeface="Source Sans Pro"/>
                <a:cs typeface="Source Sans Pro"/>
                <a:sym typeface="Source Sans Pro"/>
              </a:rPr>
              <a:t> (professional or volunteer) engaged to provide relief when the primary caregiver is unavailable on a short-term basis.</a:t>
            </a:r>
            <a:endParaRPr sz="1000">
              <a:solidFill>
                <a:schemeClr val="dk1"/>
              </a:solidFill>
              <a:latin typeface="Source Sans Pro"/>
              <a:ea typeface="Source Sans Pro"/>
              <a:cs typeface="Source Sans Pro"/>
              <a:sym typeface="Source Sans Pro"/>
            </a:endParaRPr>
          </a:p>
        </p:txBody>
      </p:sp>
      <p:sp>
        <p:nvSpPr>
          <p:cNvPr id="344" name="Google Shape;344;p59"/>
          <p:cNvSpPr/>
          <p:nvPr/>
        </p:nvSpPr>
        <p:spPr>
          <a:xfrm>
            <a:off x="3334850" y="3902150"/>
            <a:ext cx="2470500" cy="66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Source Sans Pro"/>
                <a:ea typeface="Source Sans Pro"/>
                <a:cs typeface="Source Sans Pro"/>
                <a:sym typeface="Source Sans Pro"/>
              </a:rPr>
              <a:t>A </a:t>
            </a:r>
            <a:r>
              <a:rPr b="1" lang="en" sz="1000">
                <a:solidFill>
                  <a:schemeClr val="dk1"/>
                </a:solidFill>
                <a:latin typeface="Source Sans Pro"/>
                <a:ea typeface="Source Sans Pro"/>
                <a:cs typeface="Source Sans Pro"/>
                <a:sym typeface="Source Sans Pro"/>
              </a:rPr>
              <a:t>trained</a:t>
            </a:r>
            <a:r>
              <a:rPr lang="en" sz="1000">
                <a:solidFill>
                  <a:schemeClr val="dk1"/>
                </a:solidFill>
                <a:latin typeface="Source Sans Pro"/>
                <a:ea typeface="Source Sans Pro"/>
                <a:cs typeface="Source Sans Pro"/>
                <a:sym typeface="Source Sans Pro"/>
              </a:rPr>
              <a:t> and often certified care worker employed to deliver care services on a paid basis, either at home or in a facility.</a:t>
            </a:r>
            <a:endParaRPr sz="1000">
              <a:solidFill>
                <a:schemeClr val="dk1"/>
              </a:solidFill>
              <a:latin typeface="Source Sans Pro"/>
              <a:ea typeface="Source Sans Pro"/>
              <a:cs typeface="Source Sans Pro"/>
              <a:sym typeface="Source Sans Pro"/>
            </a:endParaRPr>
          </a:p>
        </p:txBody>
      </p:sp>
      <p:sp>
        <p:nvSpPr>
          <p:cNvPr id="345" name="Google Shape;345;p59"/>
          <p:cNvSpPr/>
          <p:nvPr/>
        </p:nvSpPr>
        <p:spPr>
          <a:xfrm>
            <a:off x="3832350" y="3571188"/>
            <a:ext cx="1479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2000">
                <a:solidFill>
                  <a:schemeClr val="dk1"/>
                </a:solidFill>
                <a:latin typeface="Source Sans Pro"/>
                <a:ea typeface="Source Sans Pro"/>
                <a:cs typeface="Source Sans Pro"/>
                <a:sym typeface="Source Sans Pro"/>
              </a:rPr>
              <a:t>&gt;27,000</a:t>
            </a:r>
            <a:r>
              <a:rPr b="1" baseline="30000" i="1" lang="en" sz="2000">
                <a:solidFill>
                  <a:schemeClr val="dk1"/>
                </a:solidFill>
                <a:latin typeface="Source Sans Pro"/>
                <a:ea typeface="Source Sans Pro"/>
                <a:cs typeface="Source Sans Pro"/>
                <a:sym typeface="Source Sans Pro"/>
              </a:rPr>
              <a:t>3,4,5</a:t>
            </a:r>
            <a:endParaRPr b="1" baseline="30000" i="1" sz="2000">
              <a:latin typeface="Source Sans Pro"/>
              <a:ea typeface="Source Sans Pro"/>
              <a:cs typeface="Source Sans Pro"/>
              <a:sym typeface="Source Sans Pro"/>
            </a:endParaRPr>
          </a:p>
        </p:txBody>
      </p:sp>
      <p:sp>
        <p:nvSpPr>
          <p:cNvPr id="346" name="Google Shape;346;p59"/>
          <p:cNvSpPr/>
          <p:nvPr/>
        </p:nvSpPr>
        <p:spPr>
          <a:xfrm>
            <a:off x="6717950" y="3571188"/>
            <a:ext cx="1479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2000">
                <a:solidFill>
                  <a:schemeClr val="dk1"/>
                </a:solidFill>
                <a:latin typeface="Source Sans Pro"/>
                <a:ea typeface="Source Sans Pro"/>
                <a:cs typeface="Source Sans Pro"/>
                <a:sym typeface="Source Sans Pro"/>
              </a:rPr>
              <a:t>&gt;2,400</a:t>
            </a:r>
            <a:r>
              <a:rPr b="1" baseline="30000" i="1" lang="en" sz="2000">
                <a:solidFill>
                  <a:schemeClr val="dk1"/>
                </a:solidFill>
                <a:latin typeface="Source Sans Pro"/>
                <a:ea typeface="Source Sans Pro"/>
                <a:cs typeface="Source Sans Pro"/>
                <a:sym typeface="Source Sans Pro"/>
              </a:rPr>
              <a:t>6</a:t>
            </a:r>
            <a:endParaRPr b="1" baseline="30000" i="1" sz="2000">
              <a:latin typeface="Source Sans Pro"/>
              <a:ea typeface="Source Sans Pro"/>
              <a:cs typeface="Source Sans Pro"/>
              <a:sym typeface="Source Sans Pro"/>
            </a:endParaRPr>
          </a:p>
        </p:txBody>
      </p:sp>
      <p:sp>
        <p:nvSpPr>
          <p:cNvPr id="347" name="Google Shape;347;p59"/>
          <p:cNvSpPr/>
          <p:nvPr/>
        </p:nvSpPr>
        <p:spPr>
          <a:xfrm>
            <a:off x="946800" y="3532938"/>
            <a:ext cx="1479300" cy="45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2000">
                <a:solidFill>
                  <a:schemeClr val="dk1"/>
                </a:solidFill>
                <a:latin typeface="Source Sans Pro"/>
                <a:ea typeface="Source Sans Pro"/>
                <a:cs typeface="Source Sans Pro"/>
                <a:sym typeface="Source Sans Pro"/>
              </a:rPr>
              <a:t>&gt;12,400</a:t>
            </a:r>
            <a:r>
              <a:rPr b="1" baseline="30000" i="1" lang="en" sz="2000">
                <a:solidFill>
                  <a:schemeClr val="dk1"/>
                </a:solidFill>
                <a:latin typeface="Source Sans Pro"/>
                <a:ea typeface="Source Sans Pro"/>
                <a:cs typeface="Source Sans Pro"/>
                <a:sym typeface="Source Sans Pro"/>
              </a:rPr>
              <a:t>3</a:t>
            </a:r>
            <a:endParaRPr b="1" baseline="30000" i="1" sz="2000">
              <a:latin typeface="Source Sans Pro"/>
              <a:ea typeface="Source Sans Pro"/>
              <a:cs typeface="Source Sans Pro"/>
              <a:sym typeface="Source Sans Pro"/>
            </a:endParaRPr>
          </a:p>
        </p:txBody>
      </p:sp>
      <p:pic>
        <p:nvPicPr>
          <p:cNvPr descr="could you create an icon for professional caregiver for elderly&#10;" id="348" name="Google Shape;348;p59"/>
          <p:cNvPicPr preferRelativeResize="0"/>
          <p:nvPr/>
        </p:nvPicPr>
        <p:blipFill rotWithShape="1">
          <a:blip r:embed="rId15">
            <a:alphaModFix/>
          </a:blip>
          <a:srcRect b="11975" l="10855" r="14434" t="6896"/>
          <a:stretch/>
        </p:blipFill>
        <p:spPr>
          <a:xfrm>
            <a:off x="4365659" y="2715114"/>
            <a:ext cx="496192" cy="538800"/>
          </a:xfrm>
          <a:prstGeom prst="rect">
            <a:avLst/>
          </a:prstGeom>
          <a:noFill/>
          <a:ln cap="flat" cmpd="sng">
            <a:solidFill>
              <a:srgbClr val="E2E8F0"/>
            </a:solidFill>
            <a:prstDash val="solid"/>
            <a:miter lim="8000"/>
            <a:headEnd len="sm" w="sm" type="none"/>
            <a:tailEnd len="sm" w="sm" type="none"/>
          </a:ln>
        </p:spPr>
      </p:pic>
      <p:sp>
        <p:nvSpPr>
          <p:cNvPr id="349" name="Google Shape;349;p59"/>
          <p:cNvSpPr/>
          <p:nvPr/>
        </p:nvSpPr>
        <p:spPr>
          <a:xfrm>
            <a:off x="7778300" y="4838050"/>
            <a:ext cx="1134300" cy="153900"/>
          </a:xfrm>
          <a:prstGeom prst="roundRect">
            <a:avLst>
              <a:gd fmla="val 16667" name="adj"/>
            </a:avLst>
          </a:prstGeom>
          <a:solidFill>
            <a:srgbClr val="9E9E9E"/>
          </a:solidFill>
          <a:ln>
            <a:noFill/>
          </a:ln>
        </p:spPr>
        <p:txBody>
          <a:bodyPr anchorCtr="0" anchor="ctr" bIns="48850" lIns="48850" spcFirstLastPara="1" rIns="48850" wrap="square" tIns="48850">
            <a:noAutofit/>
          </a:bodyPr>
          <a:lstStyle/>
          <a:p>
            <a:pPr indent="0" lvl="0" marL="0" rtl="0" algn="l">
              <a:spcBef>
                <a:spcPts val="0"/>
              </a:spcBef>
              <a:spcAft>
                <a:spcPts val="0"/>
              </a:spcAft>
              <a:buNone/>
            </a:pPr>
            <a:r>
              <a:rPr b="1" lang="en" sz="800">
                <a:solidFill>
                  <a:srgbClr val="FFFFFF"/>
                </a:solidFill>
                <a:latin typeface="Proxima Nova"/>
                <a:ea typeface="Proxima Nova"/>
                <a:cs typeface="Proxima Nova"/>
                <a:sym typeface="Proxima Nova"/>
              </a:rPr>
              <a:t>Out of scope</a:t>
            </a:r>
            <a:endParaRPr sz="800"/>
          </a:p>
        </p:txBody>
      </p:sp>
      <p:sp>
        <p:nvSpPr>
          <p:cNvPr id="350" name="Google Shape;350;p59"/>
          <p:cNvSpPr/>
          <p:nvPr/>
        </p:nvSpPr>
        <p:spPr>
          <a:xfrm>
            <a:off x="7779630" y="4661175"/>
            <a:ext cx="1134300" cy="153900"/>
          </a:xfrm>
          <a:prstGeom prst="roundRect">
            <a:avLst>
              <a:gd fmla="val 16667" name="adj"/>
            </a:avLst>
          </a:prstGeom>
          <a:solidFill>
            <a:srgbClr val="005339"/>
          </a:solidFill>
          <a:ln>
            <a:noFill/>
          </a:ln>
        </p:spPr>
        <p:txBody>
          <a:bodyPr anchorCtr="0" anchor="ctr" bIns="48850" lIns="48850" spcFirstLastPara="1" rIns="48850" wrap="square" tIns="48850">
            <a:noAutofit/>
          </a:bodyPr>
          <a:lstStyle/>
          <a:p>
            <a:pPr indent="0" lvl="0" marL="0" rtl="0" algn="l">
              <a:spcBef>
                <a:spcPts val="0"/>
              </a:spcBef>
              <a:spcAft>
                <a:spcPts val="0"/>
              </a:spcAft>
              <a:buNone/>
            </a:pPr>
            <a:r>
              <a:rPr b="1" lang="en" sz="800">
                <a:solidFill>
                  <a:srgbClr val="FFFFFF"/>
                </a:solidFill>
                <a:latin typeface="Proxima Nova"/>
                <a:ea typeface="Proxima Nova"/>
                <a:cs typeface="Proxima Nova"/>
                <a:sym typeface="Proxima Nova"/>
              </a:rPr>
              <a:t>In scope</a:t>
            </a:r>
            <a:endParaRPr sz="800"/>
          </a:p>
        </p:txBody>
      </p:sp>
      <p:sp>
        <p:nvSpPr>
          <p:cNvPr id="351" name="Google Shape;351;p59"/>
          <p:cNvSpPr/>
          <p:nvPr/>
        </p:nvSpPr>
        <p:spPr>
          <a:xfrm>
            <a:off x="7778300" y="4484300"/>
            <a:ext cx="635400" cy="15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Source Sans Pro"/>
                <a:ea typeface="Source Sans Pro"/>
                <a:cs typeface="Source Sans Pro"/>
                <a:sym typeface="Source Sans Pro"/>
              </a:rPr>
              <a:t>Legend:</a:t>
            </a:r>
            <a:endParaRPr b="1" sz="800">
              <a:solidFill>
                <a:schemeClr val="dk1"/>
              </a:solidFill>
              <a:latin typeface="Source Sans Pro"/>
              <a:ea typeface="Source Sans Pro"/>
              <a:cs typeface="Source Sans Pro"/>
              <a:sym typeface="Source Sans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0"/>
          <p:cNvSpPr/>
          <p:nvPr/>
        </p:nvSpPr>
        <p:spPr>
          <a:xfrm>
            <a:off x="58575" y="4515425"/>
            <a:ext cx="1973100" cy="548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357" name="Google Shape;357;p60"/>
          <p:cNvSpPr txBox="1"/>
          <p:nvPr>
            <p:ph type="title"/>
          </p:nvPr>
        </p:nvSpPr>
        <p:spPr>
          <a:xfrm>
            <a:off x="229988" y="415219"/>
            <a:ext cx="8684100" cy="3819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sz="2000">
                <a:solidFill>
                  <a:schemeClr val="accent2"/>
                </a:solidFill>
              </a:rPr>
              <a:t>Today, there is a ~$425 Mn addressable market opportunity in Singapore that Grab can tap into, to grow our core offerings and expand into new services</a:t>
            </a:r>
            <a:endParaRPr/>
          </a:p>
        </p:txBody>
      </p:sp>
      <p:sp>
        <p:nvSpPr>
          <p:cNvPr id="358" name="Google Shape;358;p60"/>
          <p:cNvSpPr txBox="1"/>
          <p:nvPr>
            <p:ph idx="1" type="subTitle"/>
          </p:nvPr>
        </p:nvSpPr>
        <p:spPr>
          <a:xfrm>
            <a:off x="229988" y="219019"/>
            <a:ext cx="1551300" cy="1392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sp>
        <p:nvSpPr>
          <p:cNvPr id="359" name="Google Shape;359;p60"/>
          <p:cNvSpPr/>
          <p:nvPr/>
        </p:nvSpPr>
        <p:spPr>
          <a:xfrm>
            <a:off x="4450500" y="3188300"/>
            <a:ext cx="1168500" cy="228900"/>
          </a:xfrm>
          <a:prstGeom prst="roundRect">
            <a:avLst>
              <a:gd fmla="val 16667" name="adj"/>
            </a:avLst>
          </a:prstGeom>
          <a:solidFill>
            <a:schemeClr val="accent1"/>
          </a:solidFill>
          <a:ln cap="flat" cmpd="sng" w="8700">
            <a:solidFill>
              <a:schemeClr val="dk2"/>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rPr b="1" lang="en" sz="722">
                <a:solidFill>
                  <a:schemeClr val="lt1"/>
                </a:solidFill>
              </a:rPr>
              <a:t>No of users</a:t>
            </a:r>
            <a:endParaRPr b="1" sz="722">
              <a:solidFill>
                <a:schemeClr val="lt1"/>
              </a:solidFill>
            </a:endParaRPr>
          </a:p>
        </p:txBody>
      </p:sp>
      <p:sp>
        <p:nvSpPr>
          <p:cNvPr id="360" name="Google Shape;360;p60"/>
          <p:cNvSpPr/>
          <p:nvPr/>
        </p:nvSpPr>
        <p:spPr>
          <a:xfrm>
            <a:off x="5961527" y="3188300"/>
            <a:ext cx="1170300" cy="258600"/>
          </a:xfrm>
          <a:prstGeom prst="roundRect">
            <a:avLst>
              <a:gd fmla="val 16667" name="adj"/>
            </a:avLst>
          </a:prstGeom>
          <a:solidFill>
            <a:schemeClr val="accent1"/>
          </a:solidFill>
          <a:ln cap="flat" cmpd="sng" w="8700">
            <a:solidFill>
              <a:schemeClr val="dk2"/>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rPr b="1" lang="en" sz="722">
                <a:solidFill>
                  <a:schemeClr val="lt1"/>
                </a:solidFill>
              </a:rPr>
              <a:t>Frequency of Purchase</a:t>
            </a:r>
            <a:endParaRPr b="1" sz="722">
              <a:solidFill>
                <a:schemeClr val="lt1"/>
              </a:solidFill>
            </a:endParaRPr>
          </a:p>
        </p:txBody>
      </p:sp>
      <p:sp>
        <p:nvSpPr>
          <p:cNvPr id="361" name="Google Shape;361;p60"/>
          <p:cNvSpPr/>
          <p:nvPr/>
        </p:nvSpPr>
        <p:spPr>
          <a:xfrm>
            <a:off x="7522425" y="3188300"/>
            <a:ext cx="1161300" cy="258600"/>
          </a:xfrm>
          <a:prstGeom prst="roundRect">
            <a:avLst>
              <a:gd fmla="val 16667" name="adj"/>
            </a:avLst>
          </a:prstGeom>
          <a:solidFill>
            <a:schemeClr val="accent1"/>
          </a:solidFill>
          <a:ln cap="flat" cmpd="sng" w="8700">
            <a:solidFill>
              <a:schemeClr val="dk2"/>
            </a:solidFill>
            <a:prstDash val="solid"/>
            <a:round/>
            <a:headEnd len="sm" w="sm" type="none"/>
            <a:tailEnd len="sm" w="sm" type="none"/>
          </a:ln>
        </p:spPr>
        <p:txBody>
          <a:bodyPr anchorCtr="0" anchor="ctr" bIns="83475" lIns="83475" spcFirstLastPara="1" rIns="83475" wrap="square" tIns="83475">
            <a:noAutofit/>
          </a:bodyPr>
          <a:lstStyle/>
          <a:p>
            <a:pPr indent="0" lvl="0" marL="0" rtl="0" algn="ctr">
              <a:spcBef>
                <a:spcPts val="0"/>
              </a:spcBef>
              <a:spcAft>
                <a:spcPts val="0"/>
              </a:spcAft>
              <a:buNone/>
            </a:pPr>
            <a:r>
              <a:rPr b="1" lang="en" sz="722">
                <a:solidFill>
                  <a:schemeClr val="lt1"/>
                </a:solidFill>
              </a:rPr>
              <a:t>Avg Spend per Purchase</a:t>
            </a:r>
            <a:endParaRPr b="1" sz="722">
              <a:solidFill>
                <a:schemeClr val="lt1"/>
              </a:solidFill>
            </a:endParaRPr>
          </a:p>
        </p:txBody>
      </p:sp>
      <p:sp>
        <p:nvSpPr>
          <p:cNvPr id="362" name="Google Shape;362;p60"/>
          <p:cNvSpPr txBox="1"/>
          <p:nvPr/>
        </p:nvSpPr>
        <p:spPr>
          <a:xfrm>
            <a:off x="4436250" y="2879625"/>
            <a:ext cx="11970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rgbClr val="3F3F3F"/>
                </a:solidFill>
                <a:latin typeface="Source Sans Pro"/>
                <a:ea typeface="Source Sans Pro"/>
                <a:cs typeface="Source Sans Pro"/>
                <a:sym typeface="Source Sans Pro"/>
              </a:rPr>
              <a:t>Methodology:</a:t>
            </a:r>
            <a:endParaRPr b="1" sz="1100">
              <a:solidFill>
                <a:srgbClr val="3F3F3F"/>
              </a:solidFill>
              <a:latin typeface="Source Sans Pro"/>
              <a:ea typeface="Source Sans Pro"/>
              <a:cs typeface="Source Sans Pro"/>
              <a:sym typeface="Source Sans Pro"/>
            </a:endParaRPr>
          </a:p>
        </p:txBody>
      </p:sp>
      <p:sp>
        <p:nvSpPr>
          <p:cNvPr id="363" name="Google Shape;363;p60"/>
          <p:cNvSpPr/>
          <p:nvPr/>
        </p:nvSpPr>
        <p:spPr>
          <a:xfrm>
            <a:off x="4275450" y="3446900"/>
            <a:ext cx="1357800" cy="1031700"/>
          </a:xfrm>
          <a:prstGeom prst="rect">
            <a:avLst/>
          </a:prstGeom>
          <a:solidFill>
            <a:schemeClr val="lt1"/>
          </a:solidFill>
          <a:ln>
            <a:noFill/>
          </a:ln>
        </p:spPr>
        <p:txBody>
          <a:bodyPr anchorCtr="0" anchor="t" bIns="91425" lIns="0" spcFirstLastPara="1" rIns="0" wrap="square" tIns="91425">
            <a:noAutofit/>
          </a:bodyPr>
          <a:lstStyle/>
          <a:p>
            <a:pPr indent="-279400" lvl="0" marL="457200" rtl="0" algn="l">
              <a:spcBef>
                <a:spcPts val="0"/>
              </a:spcBef>
              <a:spcAft>
                <a:spcPts val="0"/>
              </a:spcAft>
              <a:buSzPts val="800"/>
              <a:buChar char="●"/>
            </a:pPr>
            <a:r>
              <a:rPr lang="en" sz="800"/>
              <a:t>Calculated based on demographic data</a:t>
            </a:r>
            <a:endParaRPr sz="800"/>
          </a:p>
          <a:p>
            <a:pPr indent="-279400" lvl="0" marL="457200" rtl="0" algn="l">
              <a:spcBef>
                <a:spcPts val="0"/>
              </a:spcBef>
              <a:spcAft>
                <a:spcPts val="0"/>
              </a:spcAft>
              <a:buSzPts val="800"/>
              <a:buChar char="●"/>
            </a:pPr>
            <a:r>
              <a:rPr lang="en" sz="800"/>
              <a:t>Focus on high usage customers most relevant to each service</a:t>
            </a:r>
            <a:endParaRPr sz="800"/>
          </a:p>
        </p:txBody>
      </p:sp>
      <p:sp>
        <p:nvSpPr>
          <p:cNvPr id="364" name="Google Shape;364;p60"/>
          <p:cNvSpPr/>
          <p:nvPr/>
        </p:nvSpPr>
        <p:spPr>
          <a:xfrm>
            <a:off x="5643213" y="3167750"/>
            <a:ext cx="275700" cy="299700"/>
          </a:xfrm>
          <a:prstGeom prst="mathMultiply">
            <a:avLst>
              <a:gd fmla="val 23520" name="adj1"/>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urce Sans Pro"/>
              <a:ea typeface="Source Sans Pro"/>
              <a:cs typeface="Source Sans Pro"/>
              <a:sym typeface="Source Sans Pro"/>
            </a:endParaRPr>
          </a:p>
        </p:txBody>
      </p:sp>
      <p:sp>
        <p:nvSpPr>
          <p:cNvPr id="365" name="Google Shape;365;p60"/>
          <p:cNvSpPr/>
          <p:nvPr/>
        </p:nvSpPr>
        <p:spPr>
          <a:xfrm>
            <a:off x="5973452" y="3467400"/>
            <a:ext cx="1161300" cy="1031700"/>
          </a:xfrm>
          <a:prstGeom prst="rect">
            <a:avLst/>
          </a:prstGeom>
          <a:solidFill>
            <a:schemeClr val="lt1"/>
          </a:solidFill>
          <a:ln>
            <a:noFill/>
          </a:ln>
        </p:spPr>
        <p:txBody>
          <a:bodyPr anchorCtr="0" anchor="t" bIns="91425" lIns="0" spcFirstLastPara="1" rIns="0" wrap="square" tIns="91425">
            <a:noAutofit/>
          </a:bodyPr>
          <a:lstStyle/>
          <a:p>
            <a:pPr indent="0" lvl="0" marL="0" rtl="0" algn="l">
              <a:spcBef>
                <a:spcPts val="0"/>
              </a:spcBef>
              <a:spcAft>
                <a:spcPts val="0"/>
              </a:spcAft>
              <a:buNone/>
            </a:pPr>
            <a:r>
              <a:rPr lang="en" sz="800"/>
              <a:t>Modelled based on estimated usage of each service (Pending validation with customer interviews) </a:t>
            </a:r>
            <a:endParaRPr sz="800"/>
          </a:p>
        </p:txBody>
      </p:sp>
      <p:sp>
        <p:nvSpPr>
          <p:cNvPr id="366" name="Google Shape;366;p60"/>
          <p:cNvSpPr/>
          <p:nvPr/>
        </p:nvSpPr>
        <p:spPr>
          <a:xfrm>
            <a:off x="7432425" y="3467400"/>
            <a:ext cx="1251300" cy="1031700"/>
          </a:xfrm>
          <a:prstGeom prst="rect">
            <a:avLst/>
          </a:prstGeom>
          <a:solidFill>
            <a:schemeClr val="lt1"/>
          </a:solidFill>
          <a:ln>
            <a:noFill/>
          </a:ln>
        </p:spPr>
        <p:txBody>
          <a:bodyPr anchorCtr="0" anchor="t" bIns="91425" lIns="0" spcFirstLastPara="1" rIns="0" wrap="square" tIns="91425">
            <a:noAutofit/>
          </a:bodyPr>
          <a:lstStyle/>
          <a:p>
            <a:pPr indent="-279400" lvl="0" marL="457200" rtl="0" algn="l">
              <a:spcBef>
                <a:spcPts val="0"/>
              </a:spcBef>
              <a:spcAft>
                <a:spcPts val="0"/>
              </a:spcAft>
              <a:buSzPts val="800"/>
              <a:buChar char="●"/>
            </a:pPr>
            <a:r>
              <a:rPr lang="en" sz="800"/>
              <a:t>Grab historical AOVs</a:t>
            </a:r>
            <a:endParaRPr sz="800"/>
          </a:p>
          <a:p>
            <a:pPr indent="-279400" lvl="0" marL="457200" rtl="0" algn="l">
              <a:spcBef>
                <a:spcPts val="0"/>
              </a:spcBef>
              <a:spcAft>
                <a:spcPts val="0"/>
              </a:spcAft>
              <a:buSzPts val="800"/>
              <a:buChar char="●"/>
            </a:pPr>
            <a:r>
              <a:rPr lang="en" sz="800"/>
              <a:t>AIC budgets per trip</a:t>
            </a:r>
            <a:endParaRPr sz="800"/>
          </a:p>
          <a:p>
            <a:pPr indent="-279400" lvl="0" marL="457200" rtl="0" algn="l">
              <a:spcBef>
                <a:spcPts val="0"/>
              </a:spcBef>
              <a:spcAft>
                <a:spcPts val="0"/>
              </a:spcAft>
              <a:buSzPts val="800"/>
              <a:buChar char="●"/>
            </a:pPr>
            <a:r>
              <a:rPr lang="en" sz="800"/>
              <a:t>Competitor pricing</a:t>
            </a:r>
            <a:endParaRPr sz="800"/>
          </a:p>
        </p:txBody>
      </p:sp>
      <p:sp>
        <p:nvSpPr>
          <p:cNvPr id="367" name="Google Shape;367;p60"/>
          <p:cNvSpPr/>
          <p:nvPr/>
        </p:nvSpPr>
        <p:spPr>
          <a:xfrm>
            <a:off x="7189263" y="3167750"/>
            <a:ext cx="275700" cy="299700"/>
          </a:xfrm>
          <a:prstGeom prst="mathMultiply">
            <a:avLst>
              <a:gd fmla="val 23520" name="adj1"/>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urce Sans Pro"/>
              <a:ea typeface="Source Sans Pro"/>
              <a:cs typeface="Source Sans Pro"/>
              <a:sym typeface="Source Sans Pro"/>
            </a:endParaRPr>
          </a:p>
        </p:txBody>
      </p:sp>
      <p:sp>
        <p:nvSpPr>
          <p:cNvPr id="368" name="Google Shape;368;p60"/>
          <p:cNvSpPr txBox="1"/>
          <p:nvPr/>
        </p:nvSpPr>
        <p:spPr>
          <a:xfrm>
            <a:off x="230000" y="4604975"/>
            <a:ext cx="877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dk1"/>
                </a:solidFill>
              </a:rPr>
              <a:t>Note: SAM refers to serviceable addressable market, which refers to the portion of the Total Addressable Market that Grab can realistically target and serve </a:t>
            </a:r>
            <a:endParaRPr sz="600">
              <a:solidFill>
                <a:schemeClr val="dk1"/>
              </a:solidFill>
            </a:endParaRPr>
          </a:p>
          <a:p>
            <a:pPr indent="0" lvl="0" marL="0" rtl="0" algn="l">
              <a:spcBef>
                <a:spcPts val="0"/>
              </a:spcBef>
              <a:spcAft>
                <a:spcPts val="0"/>
              </a:spcAft>
              <a:buNone/>
            </a:pPr>
            <a:r>
              <a:rPr lang="en" sz="600">
                <a:solidFill>
                  <a:schemeClr val="dk1"/>
                </a:solidFill>
              </a:rPr>
              <a:t>Sources: SingStat Seniors Living Arrangements (2024); SingStat Census 2020: Difficulty in Basic Activities; IMDA Singapore Digital Society Report (2023); </a:t>
            </a:r>
            <a:r>
              <a:rPr lang="en" sz="600" u="sng">
                <a:solidFill>
                  <a:schemeClr val="hlink"/>
                </a:solidFill>
                <a:hlinkClick r:id="rId3"/>
              </a:rPr>
              <a:t>Ask.gov.sg HealthierSG – Medical consultation frequency </a:t>
            </a:r>
            <a:r>
              <a:rPr lang="en" sz="600">
                <a:solidFill>
                  <a:schemeClr val="dk1"/>
                </a:solidFill>
              </a:rPr>
              <a:t>; Homage Singapore – </a:t>
            </a:r>
            <a:r>
              <a:rPr lang="en" sz="600" u="sng">
                <a:solidFill>
                  <a:schemeClr val="hlink"/>
                </a:solidFill>
                <a:hlinkClick r:id="rId4"/>
              </a:rPr>
              <a:t>Home care pricing benchmarks</a:t>
            </a:r>
            <a:r>
              <a:rPr lang="en" sz="600">
                <a:solidFill>
                  <a:schemeClr val="dk1"/>
                </a:solidFill>
              </a:rPr>
              <a:t>; </a:t>
            </a:r>
            <a:r>
              <a:rPr lang="en" sz="600" u="sng">
                <a:solidFill>
                  <a:schemeClr val="hlink"/>
                </a:solidFill>
                <a:hlinkClick r:id="rId5"/>
              </a:rPr>
              <a:t>CNA Big Read – Ageing population &amp; care needs</a:t>
            </a:r>
            <a:r>
              <a:rPr lang="en" sz="600">
                <a:solidFill>
                  <a:schemeClr val="dk1"/>
                </a:solidFill>
              </a:rPr>
              <a:t>; </a:t>
            </a:r>
            <a:r>
              <a:rPr lang="en" sz="600" u="sng">
                <a:solidFill>
                  <a:schemeClr val="hlink"/>
                </a:solidFill>
                <a:hlinkClick r:id="rId6"/>
              </a:rPr>
              <a:t>Straits Times – Duke-NUS informal caregiving economic value study</a:t>
            </a:r>
            <a:endParaRPr sz="600">
              <a:solidFill>
                <a:schemeClr val="dk1"/>
              </a:solidFill>
            </a:endParaRPr>
          </a:p>
        </p:txBody>
      </p:sp>
      <p:sp>
        <p:nvSpPr>
          <p:cNvPr id="369" name="Google Shape;369;p60"/>
          <p:cNvSpPr/>
          <p:nvPr/>
        </p:nvSpPr>
        <p:spPr>
          <a:xfrm>
            <a:off x="4465700" y="1121750"/>
            <a:ext cx="4099800" cy="1478400"/>
          </a:xfrm>
          <a:prstGeom prst="rect">
            <a:avLst/>
          </a:prstGeom>
          <a:solidFill>
            <a:schemeClr val="lt1"/>
          </a:solidFill>
          <a:ln>
            <a:noFill/>
          </a:ln>
        </p:spPr>
        <p:txBody>
          <a:bodyPr anchorCtr="0" anchor="t" bIns="91425" lIns="0" spcFirstLastPara="1" rIns="0" wrap="square" tIns="91425">
            <a:noAutofit/>
          </a:bodyPr>
          <a:lstStyle/>
          <a:p>
            <a:pPr indent="0" lvl="0" marL="0" rtl="0" algn="l">
              <a:spcBef>
                <a:spcPts val="0"/>
              </a:spcBef>
              <a:spcAft>
                <a:spcPts val="0"/>
              </a:spcAft>
              <a:buNone/>
            </a:pPr>
            <a:r>
              <a:rPr b="1" lang="en" sz="1100"/>
              <a:t>Key Takeaways:</a:t>
            </a:r>
            <a:endParaRPr b="1" sz="1100"/>
          </a:p>
          <a:p>
            <a:pPr indent="-285750" lvl="0" marL="457200" rtl="0" algn="l">
              <a:lnSpc>
                <a:spcPct val="115000"/>
              </a:lnSpc>
              <a:spcBef>
                <a:spcPts val="0"/>
              </a:spcBef>
              <a:spcAft>
                <a:spcPts val="0"/>
              </a:spcAft>
              <a:buSzPts val="900"/>
              <a:buAutoNum type="arabicPeriod"/>
            </a:pPr>
            <a:r>
              <a:rPr lang="en" sz="900">
                <a:solidFill>
                  <a:schemeClr val="dk1"/>
                </a:solidFill>
              </a:rPr>
              <a:t>Elderly demographic growing at </a:t>
            </a:r>
            <a:r>
              <a:rPr b="1" lang="en" sz="900">
                <a:solidFill>
                  <a:schemeClr val="accent1"/>
                </a:solidFill>
              </a:rPr>
              <a:t>~9.75%</a:t>
            </a:r>
            <a:r>
              <a:rPr lang="en" sz="900">
                <a:solidFill>
                  <a:schemeClr val="dk1"/>
                </a:solidFill>
              </a:rPr>
              <a:t> CAGR over 5 years</a:t>
            </a:r>
            <a:endParaRPr sz="900"/>
          </a:p>
          <a:p>
            <a:pPr indent="-285750" lvl="0" marL="457200" rtl="0" algn="l">
              <a:lnSpc>
                <a:spcPct val="115000"/>
              </a:lnSpc>
              <a:spcBef>
                <a:spcPts val="0"/>
              </a:spcBef>
              <a:spcAft>
                <a:spcPts val="0"/>
              </a:spcAft>
              <a:buSzPts val="900"/>
              <a:buAutoNum type="arabicPeriod"/>
            </a:pPr>
            <a:r>
              <a:rPr lang="en" sz="900">
                <a:solidFill>
                  <a:schemeClr val="dk1"/>
                </a:solidFill>
              </a:rPr>
              <a:t>Medical and non-medical services must rapidly scale in the next 5 years to meet demand</a:t>
            </a:r>
            <a:endParaRPr sz="900"/>
          </a:p>
          <a:p>
            <a:pPr indent="-285750" lvl="0" marL="457200" rtl="0" algn="l">
              <a:lnSpc>
                <a:spcPct val="115000"/>
              </a:lnSpc>
              <a:spcBef>
                <a:spcPts val="0"/>
              </a:spcBef>
              <a:spcAft>
                <a:spcPts val="0"/>
              </a:spcAft>
              <a:buSzPts val="900"/>
              <a:buAutoNum type="arabicPeriod"/>
            </a:pPr>
            <a:r>
              <a:rPr lang="en" sz="900">
                <a:solidFill>
                  <a:schemeClr val="dk1"/>
                </a:solidFill>
              </a:rPr>
              <a:t>Elderly to soon represent 20-25% of Singapore’s population — a significant market opportunity</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lang="en" sz="900">
                <a:solidFill>
                  <a:schemeClr val="dk1"/>
                </a:solidFill>
              </a:rPr>
              <a:t>Grab must adapt mobility and food services to capture this growing market</a:t>
            </a:r>
            <a:endParaRPr sz="900"/>
          </a:p>
        </p:txBody>
      </p:sp>
      <p:pic>
        <p:nvPicPr>
          <p:cNvPr id="370" name="Google Shape;370;p60"/>
          <p:cNvPicPr preferRelativeResize="0"/>
          <p:nvPr/>
        </p:nvPicPr>
        <p:blipFill>
          <a:blip r:embed="rId7">
            <a:alphaModFix/>
          </a:blip>
          <a:stretch>
            <a:fillRect/>
          </a:stretch>
        </p:blipFill>
        <p:spPr>
          <a:xfrm>
            <a:off x="190200" y="1394387"/>
            <a:ext cx="4173649" cy="24542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1"/>
          <p:cNvSpPr txBox="1"/>
          <p:nvPr>
            <p:ph type="title"/>
          </p:nvPr>
        </p:nvSpPr>
        <p:spPr>
          <a:xfrm>
            <a:off x="229938" y="219019"/>
            <a:ext cx="8684100" cy="381900"/>
          </a:xfrm>
          <a:prstGeom prst="rect">
            <a:avLst/>
          </a:prstGeom>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 sz="2000">
                <a:solidFill>
                  <a:schemeClr val="accent2"/>
                </a:solidFill>
              </a:rPr>
              <a:t>290,800 seniors</a:t>
            </a:r>
            <a:r>
              <a:rPr lang="en" sz="2000">
                <a:solidFill>
                  <a:schemeClr val="accent2"/>
                </a:solidFill>
              </a:rPr>
              <a:t> live without their children and could be supported through our food and mart services but digital literacy will remain a barrier</a:t>
            </a:r>
            <a:endParaRPr/>
          </a:p>
        </p:txBody>
      </p:sp>
      <p:pic>
        <p:nvPicPr>
          <p:cNvPr id="376" name="Google Shape;376;p61"/>
          <p:cNvPicPr preferRelativeResize="0"/>
          <p:nvPr/>
        </p:nvPicPr>
        <p:blipFill>
          <a:blip r:embed="rId3">
            <a:alphaModFix/>
          </a:blip>
          <a:stretch>
            <a:fillRect/>
          </a:stretch>
        </p:blipFill>
        <p:spPr>
          <a:xfrm>
            <a:off x="152400" y="949525"/>
            <a:ext cx="3481748" cy="1998750"/>
          </a:xfrm>
          <a:prstGeom prst="rect">
            <a:avLst/>
          </a:prstGeom>
          <a:noFill/>
          <a:ln>
            <a:noFill/>
          </a:ln>
        </p:spPr>
      </p:pic>
      <p:pic>
        <p:nvPicPr>
          <p:cNvPr id="377" name="Google Shape;377;p61"/>
          <p:cNvPicPr preferRelativeResize="0"/>
          <p:nvPr/>
        </p:nvPicPr>
        <p:blipFill>
          <a:blip r:embed="rId4">
            <a:alphaModFix/>
          </a:blip>
          <a:stretch>
            <a:fillRect/>
          </a:stretch>
        </p:blipFill>
        <p:spPr>
          <a:xfrm>
            <a:off x="230000" y="3038500"/>
            <a:ext cx="3481748" cy="2041525"/>
          </a:xfrm>
          <a:prstGeom prst="rect">
            <a:avLst/>
          </a:prstGeom>
          <a:noFill/>
          <a:ln>
            <a:noFill/>
          </a:ln>
        </p:spPr>
      </p:pic>
      <p:graphicFrame>
        <p:nvGraphicFramePr>
          <p:cNvPr id="378" name="Google Shape;378;p61"/>
          <p:cNvGraphicFramePr/>
          <p:nvPr/>
        </p:nvGraphicFramePr>
        <p:xfrm>
          <a:off x="3820900" y="914175"/>
          <a:ext cx="3000000" cy="3000000"/>
        </p:xfrm>
        <a:graphic>
          <a:graphicData uri="http://schemas.openxmlformats.org/drawingml/2006/table">
            <a:tbl>
              <a:tblPr>
                <a:noFill/>
                <a:tableStyleId>{49CF5F29-3526-4AB9-838A-E46E55F47985}</a:tableStyleId>
              </a:tblPr>
              <a:tblGrid>
                <a:gridCol w="2118475"/>
                <a:gridCol w="3018500"/>
              </a:tblGrid>
              <a:tr h="360625">
                <a:tc>
                  <a:txBody>
                    <a:bodyPr/>
                    <a:lstStyle/>
                    <a:p>
                      <a:pPr indent="0" lvl="0" marL="0" rtl="0" algn="l">
                        <a:spcBef>
                          <a:spcPts val="0"/>
                        </a:spcBef>
                        <a:spcAft>
                          <a:spcPts val="0"/>
                        </a:spcAft>
                        <a:buNone/>
                      </a:pPr>
                      <a:r>
                        <a:rPr lang="en">
                          <a:solidFill>
                            <a:schemeClr val="lt1"/>
                          </a:solidFill>
                        </a:rPr>
                        <a:t>Key Assumptions</a:t>
                      </a:r>
                      <a:endParaRPr>
                        <a:solidFill>
                          <a:schemeClr val="lt1"/>
                        </a:solidFill>
                      </a:endParaRPr>
                    </a:p>
                  </a:txBody>
                  <a:tcPr marT="91425" marB="91425" marR="91425" marL="91425">
                    <a:solidFill>
                      <a:srgbClr val="005339"/>
                    </a:solidFill>
                  </a:tcPr>
                </a:tc>
                <a:tc>
                  <a:txBody>
                    <a:bodyPr/>
                    <a:lstStyle/>
                    <a:p>
                      <a:pPr indent="0" lvl="0" marL="0" rtl="0" algn="l">
                        <a:spcBef>
                          <a:spcPts val="0"/>
                        </a:spcBef>
                        <a:spcAft>
                          <a:spcPts val="0"/>
                        </a:spcAft>
                        <a:buNone/>
                      </a:pPr>
                      <a:r>
                        <a:rPr lang="en">
                          <a:solidFill>
                            <a:schemeClr val="lt1"/>
                          </a:solidFill>
                        </a:rPr>
                        <a:t>Explanation/Drivers</a:t>
                      </a:r>
                      <a:endParaRPr>
                        <a:solidFill>
                          <a:schemeClr val="lt1"/>
                        </a:solidFill>
                      </a:endParaRPr>
                    </a:p>
                  </a:txBody>
                  <a:tcPr marT="91425" marB="91425" marR="91425" marL="91425">
                    <a:solidFill>
                      <a:srgbClr val="005339"/>
                    </a:solidFill>
                  </a:tcPr>
                </a:tc>
              </a:tr>
              <a:tr h="998725">
                <a:tc>
                  <a:txBody>
                    <a:bodyPr/>
                    <a:lstStyle/>
                    <a:p>
                      <a:pPr indent="0" lvl="0" marL="0" rtl="0" algn="l">
                        <a:spcBef>
                          <a:spcPts val="0"/>
                        </a:spcBef>
                        <a:spcAft>
                          <a:spcPts val="0"/>
                        </a:spcAft>
                        <a:buNone/>
                      </a:pPr>
                      <a:r>
                        <a:rPr lang="en" sz="1200"/>
                        <a:t>Seniors living without children as target demographic</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(Base = 290.8k)</a:t>
                      </a:r>
                      <a:endParaRPr sz="1200"/>
                    </a:p>
                  </a:txBody>
                  <a:tcPr marT="91425" marB="91425" marR="91425" marL="91425"/>
                </a:tc>
                <a:tc>
                  <a:txBody>
                    <a:bodyPr/>
                    <a:lstStyle/>
                    <a:p>
                      <a:pPr indent="0" lvl="0" marL="0" rtl="0" algn="l">
                        <a:spcBef>
                          <a:spcPts val="0"/>
                        </a:spcBef>
                        <a:spcAft>
                          <a:spcPts val="0"/>
                        </a:spcAft>
                        <a:buNone/>
                      </a:pPr>
                      <a:r>
                        <a:rPr lang="en" sz="1200"/>
                        <a:t>This represents the total number of seniors living without children who can be empowered by Grab’s services</a:t>
                      </a:r>
                      <a:endParaRPr sz="1200"/>
                    </a:p>
                  </a:txBody>
                  <a:tcPr marT="91425" marB="91425" marR="91425" marL="91425"/>
                </a:tc>
              </a:tr>
              <a:tr h="702750">
                <a:tc>
                  <a:txBody>
                    <a:bodyPr/>
                    <a:lstStyle/>
                    <a:p>
                      <a:pPr indent="0" lvl="0" marL="0" rtl="0" algn="l">
                        <a:spcBef>
                          <a:spcPts val="0"/>
                        </a:spcBef>
                        <a:spcAft>
                          <a:spcPts val="0"/>
                        </a:spcAft>
                        <a:buNone/>
                      </a:pPr>
                      <a:r>
                        <a:rPr lang="en" sz="1200"/>
                        <a:t>Digitally Capable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(Base = 24%)</a:t>
                      </a:r>
                      <a:endParaRPr sz="1200"/>
                    </a:p>
                  </a:txBody>
                  <a:tcPr marT="91425" marB="91425" marR="91425" marL="91425"/>
                </a:tc>
                <a:tc>
                  <a:txBody>
                    <a:bodyPr/>
                    <a:lstStyle/>
                    <a:p>
                      <a:pPr indent="0" lvl="0" marL="0" rtl="0" algn="l">
                        <a:spcBef>
                          <a:spcPts val="0"/>
                        </a:spcBef>
                        <a:spcAft>
                          <a:spcPts val="0"/>
                        </a:spcAft>
                        <a:buNone/>
                      </a:pPr>
                      <a:r>
                        <a:rPr lang="en" sz="1200"/>
                        <a:t>Will increase naturally overtime, 24% is the current group of seniors comfortable with using emerging technologies</a:t>
                      </a:r>
                      <a:endParaRPr sz="1200"/>
                    </a:p>
                  </a:txBody>
                  <a:tcPr marT="91425" marB="91425" marR="91425" marL="91425"/>
                </a:tc>
              </a:tr>
              <a:tr h="702750">
                <a:tc>
                  <a:txBody>
                    <a:bodyPr/>
                    <a:lstStyle/>
                    <a:p>
                      <a:pPr indent="0" lvl="0" marL="0" rtl="0" algn="l">
                        <a:spcBef>
                          <a:spcPts val="0"/>
                        </a:spcBef>
                        <a:spcAft>
                          <a:spcPts val="0"/>
                        </a:spcAft>
                        <a:buNone/>
                      </a:pPr>
                      <a:r>
                        <a:rPr lang="en" sz="1200"/>
                        <a:t>Food Delivery Freq</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(Base = 52 orders per year)</a:t>
                      </a:r>
                      <a:endParaRPr sz="1200"/>
                    </a:p>
                  </a:txBody>
                  <a:tcPr marT="91425" marB="91425" marR="91425" marL="91425"/>
                </a:tc>
                <a:tc>
                  <a:txBody>
                    <a:bodyPr/>
                    <a:lstStyle/>
                    <a:p>
                      <a:pPr indent="0" lvl="0" marL="0" rtl="0" algn="l">
                        <a:spcBef>
                          <a:spcPts val="0"/>
                        </a:spcBef>
                        <a:spcAft>
                          <a:spcPts val="0"/>
                        </a:spcAft>
                        <a:buNone/>
                      </a:pPr>
                      <a:r>
                        <a:rPr lang="en" sz="1200"/>
                        <a:t>Assumes 1 delivery per week, customer behaviour to be validated during discovery</a:t>
                      </a:r>
                      <a:endParaRPr sz="1200"/>
                    </a:p>
                  </a:txBody>
                  <a:tcPr marT="91425" marB="91425" marR="91425" marL="91425"/>
                </a:tc>
              </a:tr>
              <a:tr h="832250">
                <a:tc>
                  <a:txBody>
                    <a:bodyPr/>
                    <a:lstStyle/>
                    <a:p>
                      <a:pPr indent="0" lvl="0" marL="0" rtl="0" algn="l">
                        <a:spcBef>
                          <a:spcPts val="0"/>
                        </a:spcBef>
                        <a:spcAft>
                          <a:spcPts val="0"/>
                        </a:spcAft>
                        <a:buNone/>
                      </a:pPr>
                      <a:r>
                        <a:rPr lang="en" sz="1200">
                          <a:solidFill>
                            <a:schemeClr val="dk1"/>
                          </a:solidFill>
                        </a:rPr>
                        <a:t>Mart Delivery Freq</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(Base = 6 orders per year)</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t>Assumes 1 delivery every other month, could be driven by auto-restocks and focus mostly on bulky and heavy items that are more difficult for seniors to carry</a:t>
                      </a:r>
                      <a:endParaRPr sz="1200"/>
                    </a:p>
                  </a:txBody>
                  <a:tcPr marT="91425" marB="91425" marR="91425" marL="91425"/>
                </a:tc>
              </a:tr>
            </a:tbl>
          </a:graphicData>
        </a:graphic>
      </p:graphicFrame>
      <p:sp>
        <p:nvSpPr>
          <p:cNvPr id="379" name="Google Shape;379;p61"/>
          <p:cNvSpPr txBox="1"/>
          <p:nvPr/>
        </p:nvSpPr>
        <p:spPr>
          <a:xfrm>
            <a:off x="3820925" y="4784925"/>
            <a:ext cx="5136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dk1"/>
                </a:solidFill>
              </a:rPr>
              <a:t>Sources: SingStat Seniors Living Arrangements (2024); SingStat Census 2020: IMDA Singapore Digital Society Report (2023)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Brainstorm on NAME</a:t>
            </a:r>
            <a:endParaRPr/>
          </a:p>
        </p:txBody>
      </p:sp>
      <p:sp>
        <p:nvSpPr>
          <p:cNvPr id="385" name="Google Shape;38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b="1" lang="en"/>
              <a:t>“Respite Care Resources” &lt;=====&gt; “Respite Care Market” </a:t>
            </a:r>
            <a:endParaRPr b="1"/>
          </a:p>
          <a:p>
            <a:pPr indent="0" lvl="0" marL="0" rtl="0" algn="l">
              <a:spcBef>
                <a:spcPts val="1200"/>
              </a:spcBef>
              <a:spcAft>
                <a:spcPts val="0"/>
              </a:spcAft>
              <a:buNone/>
            </a:pPr>
            <a:r>
              <a:rPr lang="en"/>
              <a:t>Care-pilot </a:t>
            </a:r>
            <a:endParaRPr/>
          </a:p>
          <a:p>
            <a:pPr indent="0" lvl="0" marL="0" rtl="0" algn="l">
              <a:spcBef>
                <a:spcPts val="1200"/>
              </a:spcBef>
              <a:spcAft>
                <a:spcPts val="0"/>
              </a:spcAft>
              <a:buNone/>
            </a:pPr>
            <a:r>
              <a:rPr lang="en"/>
              <a:t>C</a:t>
            </a:r>
            <a:r>
              <a:rPr lang="en"/>
              <a:t>aregiver co-pilot</a:t>
            </a:r>
            <a:endParaRPr/>
          </a:p>
          <a:p>
            <a:pPr indent="0" lvl="0" marL="0" rtl="0" algn="l">
              <a:spcBef>
                <a:spcPts val="1200"/>
              </a:spcBef>
              <a:spcAft>
                <a:spcPts val="0"/>
              </a:spcAft>
              <a:buNone/>
            </a:pPr>
            <a:r>
              <a:rPr lang="en"/>
              <a:t>Open-care</a:t>
            </a:r>
            <a:endParaRPr/>
          </a:p>
          <a:p>
            <a:pPr indent="0" lvl="0" marL="0" rtl="0" algn="l">
              <a:spcBef>
                <a:spcPts val="1200"/>
              </a:spcBef>
              <a:spcAft>
                <a:spcPts val="0"/>
              </a:spcAft>
              <a:buNone/>
            </a:pPr>
            <a:r>
              <a:rPr lang="en"/>
              <a:t>Respite carer</a:t>
            </a:r>
            <a:endParaRPr/>
          </a:p>
          <a:p>
            <a:pPr indent="0" lvl="0" marL="0" rtl="0" algn="l">
              <a:spcBef>
                <a:spcPts val="1200"/>
              </a:spcBef>
              <a:spcAft>
                <a:spcPts val="0"/>
              </a:spcAft>
              <a:buNone/>
            </a:pPr>
            <a:r>
              <a:rPr lang="en"/>
              <a:t>Caregiver co-work</a:t>
            </a:r>
            <a:endParaRPr/>
          </a:p>
          <a:p>
            <a:pPr indent="0" lvl="0" marL="0" rtl="0" algn="l">
              <a:spcBef>
                <a:spcPts val="1200"/>
              </a:spcBef>
              <a:spcAft>
                <a:spcPts val="0"/>
              </a:spcAft>
              <a:buNone/>
            </a:pPr>
            <a:r>
              <a:rPr lang="en"/>
              <a:t>C-3PO</a:t>
            </a:r>
            <a:endParaRPr/>
          </a:p>
          <a:p>
            <a:pPr indent="0" lvl="0" marL="0" rtl="0" algn="l">
              <a:spcBef>
                <a:spcPts val="1200"/>
              </a:spcBef>
              <a:spcAft>
                <a:spcPts val="0"/>
              </a:spcAft>
              <a:buNone/>
            </a:pPr>
            <a:r>
              <a:rPr lang="en"/>
              <a:t>Care Partner Lah !!</a:t>
            </a:r>
            <a:endParaRPr/>
          </a:p>
          <a:p>
            <a:pPr indent="0" lvl="0" marL="0" rtl="0" algn="l">
              <a:spcBef>
                <a:spcPts val="1200"/>
              </a:spcBef>
              <a:spcAft>
                <a:spcPts val="1200"/>
              </a:spcAft>
              <a:buNone/>
            </a:pPr>
            <a:r>
              <a:rPr lang="en">
                <a:solidFill>
                  <a:srgbClr val="0000FF"/>
                </a:solidFill>
              </a:rPr>
              <a:t>TemanLah</a:t>
            </a:r>
            <a:endParaRPr>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3"/>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en" sz="1100">
                <a:solidFill>
                  <a:schemeClr val="dk1"/>
                </a:solidFill>
              </a:rPr>
              <a:t>Matching control</a:t>
            </a:r>
            <a:r>
              <a:rPr lang="en" sz="1100">
                <a:solidFill>
                  <a:schemeClr val="dk1"/>
                </a:solidFill>
              </a:rPr>
              <a:t> — does the </a:t>
            </a:r>
            <a:r>
              <a:rPr i="1" lang="en" sz="1100">
                <a:solidFill>
                  <a:schemeClr val="dk1"/>
                </a:solidFill>
              </a:rPr>
              <a:t>customer</a:t>
            </a:r>
            <a:r>
              <a:rPr lang="en" sz="1100">
                <a:solidFill>
                  <a:schemeClr val="dk1"/>
                </a:solidFill>
              </a:rPr>
              <a:t> pick the specific supplier, or does the </a:t>
            </a:r>
            <a:r>
              <a:rPr i="1" lang="en" sz="1100">
                <a:solidFill>
                  <a:schemeClr val="dk1"/>
                </a:solidFill>
              </a:rPr>
              <a:t>platform</a:t>
            </a:r>
            <a:r>
              <a:rPr lang="en" sz="1100">
                <a:solidFill>
                  <a:schemeClr val="dk1"/>
                </a:solidFill>
              </a:rPr>
              <a:t> assign one? (Amazon lets you choose a seller; Uber hands you a driver.)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Management/integration depth</a:t>
            </a:r>
            <a:r>
              <a:rPr lang="en" sz="1100">
                <a:solidFill>
                  <a:schemeClr val="dk1"/>
                </a:solidFill>
              </a:rPr>
              <a:t> — how much the platform vets, trains, prices, standardizes, supplies tools to, or even </a:t>
            </a:r>
            <a:r>
              <a:rPr i="1" lang="en" sz="1100">
                <a:solidFill>
                  <a:schemeClr val="dk1"/>
                </a:solidFill>
              </a:rPr>
              <a:t>owns</a:t>
            </a:r>
            <a:r>
              <a:rPr lang="en" sz="1100">
                <a:solidFill>
                  <a:schemeClr val="dk1"/>
                </a:solidFill>
              </a:rPr>
              <a:t> the supply.</a:t>
            </a:r>
            <a:endParaRPr sz="1100">
              <a:solidFill>
                <a:schemeClr val="dk1"/>
              </a:solidFill>
            </a:endParaRPr>
          </a:p>
          <a:p>
            <a:pPr indent="0" lvl="0" marL="0" rtl="0" algn="l">
              <a:spcBef>
                <a:spcPts val="1200"/>
              </a:spcBef>
              <a:spcAft>
                <a:spcPts val="1200"/>
              </a:spcAft>
              <a:buNone/>
            </a:pPr>
            <a:r>
              <a:t/>
            </a:r>
            <a:endParaRPr/>
          </a:p>
        </p:txBody>
      </p:sp>
      <p:sp>
        <p:nvSpPr>
          <p:cNvPr id="391" name="Google Shape;391;p6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1100"/>
              <a:t>H</a:t>
            </a:r>
            <a:r>
              <a:rPr b="1" lang="en" sz="1100"/>
              <a:t>ow much control the platform takes over the supply side</a:t>
            </a:r>
            <a:endParaRPr b="1" sz="1100"/>
          </a:p>
        </p:txBody>
      </p:sp>
      <p:pic>
        <p:nvPicPr>
          <p:cNvPr id="392" name="Google Shape;392;p63" title="Screenshot 2026-06-25 at 12.31.20 PM.png"/>
          <p:cNvPicPr preferRelativeResize="0"/>
          <p:nvPr/>
        </p:nvPicPr>
        <p:blipFill>
          <a:blip r:embed="rId3">
            <a:alphaModFix/>
          </a:blip>
          <a:stretch>
            <a:fillRect/>
          </a:stretch>
        </p:blipFill>
        <p:spPr>
          <a:xfrm>
            <a:off x="245025" y="1995500"/>
            <a:ext cx="4396374" cy="2675725"/>
          </a:xfrm>
          <a:prstGeom prst="rect">
            <a:avLst/>
          </a:prstGeom>
          <a:noFill/>
          <a:ln>
            <a:noFill/>
          </a:ln>
        </p:spPr>
      </p:pic>
      <p:sp>
        <p:nvSpPr>
          <p:cNvPr id="393" name="Google Shape;393;p63"/>
          <p:cNvSpPr txBox="1"/>
          <p:nvPr/>
        </p:nvSpPr>
        <p:spPr>
          <a:xfrm>
            <a:off x="4885900" y="1756763"/>
            <a:ext cx="4147500" cy="326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700">
                <a:solidFill>
                  <a:schemeClr val="dk1"/>
                </a:solidFill>
              </a:rPr>
              <a:t>1. Open / listings marketplace</a:t>
            </a:r>
            <a:r>
              <a:rPr lang="en" sz="700">
                <a:solidFill>
                  <a:schemeClr val="dk1"/>
                </a:solidFill>
              </a:rPr>
              <a:t> </a:t>
            </a:r>
            <a:r>
              <a:rPr i="1" lang="en" sz="700">
                <a:solidFill>
                  <a:schemeClr val="dk1"/>
                </a:solidFill>
              </a:rPr>
              <a:t>(lowest control)</a:t>
            </a:r>
            <a:r>
              <a:rPr lang="en" sz="700">
                <a:solidFill>
                  <a:schemeClr val="dk1"/>
                </a:solidFill>
              </a:rPr>
              <a:t> — supply self-onboards, sets its own prices, and the customer browses and picks. The platform is essentially a directory plus trust, payments, and reviews. Supply is </a:t>
            </a:r>
            <a:r>
              <a:rPr i="1" lang="en" sz="700">
                <a:solidFill>
                  <a:schemeClr val="dk1"/>
                </a:solidFill>
              </a:rPr>
              <a:t>differentiated</a:t>
            </a:r>
            <a:r>
              <a:rPr lang="en" sz="700">
                <a:solidFill>
                  <a:schemeClr val="dk1"/>
                </a:solidFill>
              </a:rPr>
              <a:t> (one product/seller isn't interchangeable with another), so the buyer has to choose. → </a:t>
            </a:r>
            <a:r>
              <a:rPr b="1" lang="en" sz="700">
                <a:solidFill>
                  <a:schemeClr val="dk1"/>
                </a:solidFill>
              </a:rPr>
              <a:t>Amazon Marketplace (3P)</a:t>
            </a:r>
            <a:r>
              <a:rPr lang="en" sz="700">
                <a:solidFill>
                  <a:schemeClr val="dk1"/>
                </a:solidFill>
              </a:rPr>
              <a:t>, eBay, Etsy.</a:t>
            </a:r>
            <a:endParaRPr sz="700">
              <a:solidFill>
                <a:schemeClr val="dk1"/>
              </a:solidFill>
            </a:endParaRPr>
          </a:p>
          <a:p>
            <a:pPr indent="0" lvl="0" marL="0" rtl="0" algn="l">
              <a:lnSpc>
                <a:spcPct val="115000"/>
              </a:lnSpc>
              <a:spcBef>
                <a:spcPts val="1200"/>
              </a:spcBef>
              <a:spcAft>
                <a:spcPts val="0"/>
              </a:spcAft>
              <a:buNone/>
            </a:pPr>
            <a:r>
              <a:rPr b="1" lang="en" sz="700">
                <a:solidFill>
                  <a:schemeClr val="dk1"/>
                </a:solidFill>
              </a:rPr>
              <a:t>2. Curated / freelance marketplace</a:t>
            </a:r>
            <a:r>
              <a:rPr lang="en" sz="700">
                <a:solidFill>
                  <a:schemeClr val="dk1"/>
                </a:solidFill>
              </a:rPr>
              <a:t> </a:t>
            </a:r>
            <a:r>
              <a:rPr i="1" lang="en" sz="700">
                <a:solidFill>
                  <a:schemeClr val="dk1"/>
                </a:solidFill>
              </a:rPr>
              <a:t>(low–medium)</a:t>
            </a:r>
            <a:r>
              <a:rPr lang="en" sz="700">
                <a:solidFill>
                  <a:schemeClr val="dk1"/>
                </a:solidFill>
              </a:rPr>
              <a:t> — same demand-led matching (buyer still picks), but the platform shapes how supply is packaged: standardized "gigs," profiles, ratings, escrow, light vetting. → </a:t>
            </a:r>
            <a:r>
              <a:rPr b="1" lang="en" sz="700">
                <a:solidFill>
                  <a:schemeClr val="dk1"/>
                </a:solidFill>
              </a:rPr>
              <a:t>Fiverr</a:t>
            </a:r>
            <a:r>
              <a:rPr lang="en" sz="700">
                <a:solidFill>
                  <a:schemeClr val="dk1"/>
                </a:solidFill>
              </a:rPr>
              <a:t>, Upwork, Airbnb. Fiverr sits a notch above Upwork because it forces sellers into productized gig formats.</a:t>
            </a:r>
            <a:endParaRPr sz="700">
              <a:solidFill>
                <a:schemeClr val="dk1"/>
              </a:solidFill>
            </a:endParaRPr>
          </a:p>
          <a:p>
            <a:pPr indent="0" lvl="0" marL="0" rtl="0" algn="l">
              <a:lnSpc>
                <a:spcPct val="115000"/>
              </a:lnSpc>
              <a:spcBef>
                <a:spcPts val="1200"/>
              </a:spcBef>
              <a:spcAft>
                <a:spcPts val="0"/>
              </a:spcAft>
              <a:buNone/>
            </a:pPr>
            <a:r>
              <a:rPr b="1" lang="en" sz="700">
                <a:solidFill>
                  <a:schemeClr val="dk1"/>
                </a:solidFill>
              </a:rPr>
              <a:t>3. On-demand dispatch</a:t>
            </a:r>
            <a:r>
              <a:rPr lang="en" sz="700">
                <a:solidFill>
                  <a:schemeClr val="dk1"/>
                </a:solidFill>
              </a:rPr>
              <a:t> </a:t>
            </a:r>
            <a:r>
              <a:rPr i="1" lang="en" sz="700">
                <a:solidFill>
                  <a:schemeClr val="dk1"/>
                </a:solidFill>
              </a:rPr>
              <a:t>(medium–high — control over matching)</a:t>
            </a:r>
            <a:r>
              <a:rPr lang="en" sz="700">
                <a:solidFill>
                  <a:schemeClr val="dk1"/>
                </a:solidFill>
              </a:rPr>
              <a:t> — the defining shift: the customer </a:t>
            </a:r>
            <a:r>
              <a:rPr i="1" lang="en" sz="700">
                <a:solidFill>
                  <a:schemeClr val="dk1"/>
                </a:solidFill>
              </a:rPr>
              <a:t>no longer picks</a:t>
            </a:r>
            <a:r>
              <a:rPr lang="en" sz="700">
                <a:solidFill>
                  <a:schemeClr val="dk1"/>
                </a:solidFill>
              </a:rPr>
              <a:t>. Because supply is </a:t>
            </a:r>
            <a:r>
              <a:rPr b="1" lang="en" sz="700">
                <a:solidFill>
                  <a:schemeClr val="dk1"/>
                </a:solidFill>
              </a:rPr>
              <a:t>fungible/commoditized</a:t>
            </a:r>
            <a:r>
              <a:rPr lang="en" sz="700">
                <a:solidFill>
                  <a:schemeClr val="dk1"/>
                </a:solidFill>
              </a:rPr>
              <a:t> (one ride ≈ another), the platform can algorithmically assign a supplier and set the price (including surge). It still vets but stays asset-light — drivers own the cars and are independent. → </a:t>
            </a:r>
            <a:r>
              <a:rPr b="1" lang="en" sz="700">
                <a:solidFill>
                  <a:schemeClr val="dk1"/>
                </a:solidFill>
              </a:rPr>
              <a:t>Uber</a:t>
            </a:r>
            <a:r>
              <a:rPr lang="en" sz="700">
                <a:solidFill>
                  <a:schemeClr val="dk1"/>
                </a:solidFill>
              </a:rPr>
              <a:t>, Lyft, DoorDash.</a:t>
            </a:r>
            <a:endParaRPr sz="700">
              <a:solidFill>
                <a:schemeClr val="dk1"/>
              </a:solidFill>
            </a:endParaRPr>
          </a:p>
          <a:p>
            <a:pPr indent="0" lvl="0" marL="0" rtl="0" algn="l">
              <a:lnSpc>
                <a:spcPct val="115000"/>
              </a:lnSpc>
              <a:spcBef>
                <a:spcPts val="1200"/>
              </a:spcBef>
              <a:spcAft>
                <a:spcPts val="0"/>
              </a:spcAft>
              <a:buNone/>
            </a:pPr>
            <a:r>
              <a:rPr b="1" lang="en" sz="700">
                <a:solidFill>
                  <a:srgbClr val="0000FF"/>
                </a:solidFill>
              </a:rPr>
              <a:t>4. Managed marketplace</a:t>
            </a:r>
            <a:r>
              <a:rPr lang="en" sz="700">
                <a:solidFill>
                  <a:srgbClr val="0000FF"/>
                </a:solidFill>
              </a:rPr>
              <a:t> </a:t>
            </a:r>
            <a:r>
              <a:rPr i="1" lang="en" sz="700">
                <a:solidFill>
                  <a:srgbClr val="0000FF"/>
                </a:solidFill>
              </a:rPr>
              <a:t>(high)</a:t>
            </a:r>
            <a:r>
              <a:rPr lang="en" sz="700">
                <a:solidFill>
                  <a:srgbClr val="0000FF"/>
                </a:solidFill>
              </a:rPr>
              <a:t> — platform-led matching </a:t>
            </a:r>
            <a:r>
              <a:rPr i="1" lang="en" sz="700">
                <a:solidFill>
                  <a:srgbClr val="0000FF"/>
                </a:solidFill>
              </a:rPr>
              <a:t>plus</a:t>
            </a:r>
            <a:r>
              <a:rPr lang="en" sz="700">
                <a:solidFill>
                  <a:srgbClr val="0000FF"/>
                </a:solidFill>
              </a:rPr>
              <a:t> deep management. It vets and trains providers, sets the price, defines the service protocol and quality standards, and often supplies the materials/tools. The supplier becomes almost a controlled extension of the platform without being employed by it. → </a:t>
            </a:r>
            <a:r>
              <a:rPr b="1" lang="en" sz="700">
                <a:solidFill>
                  <a:srgbClr val="0000FF"/>
                </a:solidFill>
              </a:rPr>
              <a:t>Urban Company (UrbanClap)</a:t>
            </a:r>
            <a:r>
              <a:rPr lang="en" sz="700">
                <a:solidFill>
                  <a:srgbClr val="0000FF"/>
                </a:solidFill>
              </a:rPr>
              <a:t>, and parts of Thumbtack/Instacart.</a:t>
            </a:r>
            <a:endParaRPr sz="700">
              <a:solidFill>
                <a:srgbClr val="0000FF"/>
              </a:solidFill>
            </a:endParaRPr>
          </a:p>
          <a:p>
            <a:pPr indent="0" lvl="0" marL="0" rtl="0" algn="l">
              <a:lnSpc>
                <a:spcPct val="115000"/>
              </a:lnSpc>
              <a:spcBef>
                <a:spcPts val="1200"/>
              </a:spcBef>
              <a:spcAft>
                <a:spcPts val="1200"/>
              </a:spcAft>
              <a:buNone/>
            </a:pPr>
            <a:r>
              <a:rPr b="1" lang="en" sz="700">
                <a:solidFill>
                  <a:schemeClr val="dk1"/>
                </a:solidFill>
              </a:rPr>
              <a:t>5. Owned / integrated</a:t>
            </a:r>
            <a:r>
              <a:rPr lang="en" sz="700">
                <a:solidFill>
                  <a:schemeClr val="dk1"/>
                </a:solidFill>
              </a:rPr>
              <a:t> </a:t>
            </a:r>
            <a:r>
              <a:rPr i="1" lang="en" sz="700">
                <a:solidFill>
                  <a:schemeClr val="dk1"/>
                </a:solidFill>
              </a:rPr>
              <a:t>(highest)</a:t>
            </a:r>
            <a:r>
              <a:rPr lang="en" sz="700">
                <a:solidFill>
                  <a:schemeClr val="dk1"/>
                </a:solidFill>
              </a:rPr>
              <a:t> — the platform owns the inventory or employs the providers outright. At this point it stops being a true marketplace and becomes a vertically integrated retailer/operator. → </a:t>
            </a:r>
            <a:r>
              <a:rPr b="1" lang="en" sz="700">
                <a:solidFill>
                  <a:schemeClr val="dk1"/>
                </a:solidFill>
              </a:rPr>
              <a:t>Amazon Retail (1P/FBA)</a:t>
            </a:r>
            <a:r>
              <a:rPr lang="en" sz="700">
                <a:solidFill>
                  <a:schemeClr val="dk1"/>
                </a:solidFill>
              </a:rPr>
              <a:t>, cloud kitchens (Rebel Foods), Oyo's managed inventory.</a:t>
            </a:r>
            <a:endParaRPr sz="700">
              <a:solidFill>
                <a:schemeClr val="dk1"/>
              </a:solidFill>
            </a:endParaRPr>
          </a:p>
        </p:txBody>
      </p:sp>
      <p:sp>
        <p:nvSpPr>
          <p:cNvPr id="394" name="Google Shape;394;p63"/>
          <p:cNvSpPr/>
          <p:nvPr/>
        </p:nvSpPr>
        <p:spPr>
          <a:xfrm>
            <a:off x="2945275" y="2172475"/>
            <a:ext cx="1571400" cy="1193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rab Theme">
  <a:themeElements>
    <a:clrScheme name="Office">
      <a:dk1>
        <a:srgbClr val="000000"/>
      </a:dk1>
      <a:lt1>
        <a:srgbClr val="FFFFFF"/>
      </a:lt1>
      <a:dk2>
        <a:srgbClr val="44546A"/>
      </a:dk2>
      <a:lt2>
        <a:srgbClr val="E7E6E6"/>
      </a:lt2>
      <a:accent1>
        <a:srgbClr val="006850"/>
      </a:accent1>
      <a:accent2>
        <a:srgbClr val="00B14F"/>
      </a:accent2>
      <a:accent3>
        <a:srgbClr val="95E662"/>
      </a:accent3>
      <a:accent4>
        <a:srgbClr val="D6EF52"/>
      </a:accent4>
      <a:accent5>
        <a:srgbClr val="434343"/>
      </a:accent5>
      <a:accent6>
        <a:srgbClr val="F3F3F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