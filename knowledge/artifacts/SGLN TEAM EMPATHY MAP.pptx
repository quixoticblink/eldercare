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b135212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b13521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7f291a58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7f291a58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7530f06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7530f06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47530f06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47530f06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7530f06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47530f06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47530f06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47530f06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47530f06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47530f06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47530f06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47530f06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7f291a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47f291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47530f06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47530f06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3b3a06a0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3b3a06a0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3b3a06a0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3b3a06a0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https://www.touch.org.sg/get-assistance/tips-and-articles/impact-of-social-isolation-and-loneliness-on-seniors.html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47530f06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47530f0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47530f0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47530f0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47530f0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47530f0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47f291a58_10_0)">
  <p:cSld name="Generated (g3e47f291a58_1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6851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Let us look at some stats…</a:t>
            </a:r>
            <a:endParaRPr b="1" sz="3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5"/>
          <p:cNvGrpSpPr/>
          <p:nvPr/>
        </p:nvGrpSpPr>
        <p:grpSpPr>
          <a:xfrm>
            <a:off x="476250" y="1238250"/>
            <a:ext cx="2476500" cy="3238500"/>
            <a:chOff x="0" y="0"/>
            <a:chExt cx="2476500" cy="3238500"/>
          </a:xfrm>
        </p:grpSpPr>
        <p:pic>
          <p:nvPicPr>
            <p:cNvPr id="63" name="Google Shape;6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5"/>
            <p:cNvSpPr/>
            <p:nvPr/>
          </p:nvSpPr>
          <p:spPr>
            <a:xfrm>
              <a:off x="0" y="0"/>
              <a:ext cx="2476500" cy="76200"/>
            </a:xfrm>
            <a:prstGeom prst="roundRect">
              <a:avLst>
                <a:gd fmla="val 50000" name="adj"/>
              </a:avLst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 txBox="1"/>
            <p:nvPr/>
          </p:nvSpPr>
          <p:spPr>
            <a:xfrm>
              <a:off x="190500" y="28575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1B+</a:t>
              </a:r>
              <a:endParaRPr b="1" sz="4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GLOBAL ELDERLY POPULATION</a:t>
              </a:r>
              <a:endParaRPr b="1"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By 2030, 24% of Singaporeans will be 65+. Globally, the elderly population will hit 1 billion milestones.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UN WPP 2024 / SINGSTAT</a:t>
              </a:r>
              <a:endParaRPr b="1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>
            <a:off x="3333750" y="1238250"/>
            <a:ext cx="2476500" cy="3238500"/>
            <a:chOff x="0" y="0"/>
            <a:chExt cx="2476500" cy="3238500"/>
          </a:xfrm>
        </p:grpSpPr>
        <p:pic>
          <p:nvPicPr>
            <p:cNvPr id="67" name="Google Shape;6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5"/>
            <p:cNvSpPr/>
            <p:nvPr/>
          </p:nvSpPr>
          <p:spPr>
            <a:xfrm>
              <a:off x="0" y="0"/>
              <a:ext cx="2476500" cy="76200"/>
            </a:xfrm>
            <a:prstGeom prst="roundRect">
              <a:avLst>
                <a:gd fmla="val 50000" name="adj"/>
              </a:avLst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190500" y="28575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3-5y</a:t>
              </a:r>
              <a:endParaRPr b="1" sz="4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LIFE EXPECTANCY GAIN</a:t>
              </a:r>
              <a:endParaRPr b="1"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Strong social connections lead to significantly better health outcomes and longer lives.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WHO REPORT 2025</a:t>
              </a:r>
              <a:endParaRPr b="1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6191250" y="1238250"/>
            <a:ext cx="2476500" cy="3238500"/>
            <a:chOff x="0" y="0"/>
            <a:chExt cx="2476500" cy="3238500"/>
          </a:xfrm>
        </p:grpSpPr>
        <p:pic>
          <p:nvPicPr>
            <p:cNvPr id="71" name="Google Shape;7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5"/>
            <p:cNvSpPr/>
            <p:nvPr/>
          </p:nvSpPr>
          <p:spPr>
            <a:xfrm>
              <a:off x="0" y="0"/>
              <a:ext cx="2476500" cy="76200"/>
            </a:xfrm>
            <a:prstGeom prst="roundRect">
              <a:avLst>
                <a:gd fmla="val 50000" name="adj"/>
              </a:avLst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190500" y="285750"/>
              <a:ext cx="2095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80%</a:t>
              </a:r>
              <a:endParaRPr b="1" sz="4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HIDDEN ISOLATION</a:t>
              </a:r>
              <a:endParaRPr b="1"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Of elderly Singaporeans reporting social disconnection were living WITH family members, proving co-residence is not a cure.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DUKE-NUS 2021</a:t>
              </a:r>
              <a:endParaRPr b="1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5"/>
          <p:cNvSpPr/>
          <p:nvPr/>
        </p:nvSpPr>
        <p:spPr>
          <a:xfrm>
            <a:off x="476250" y="4762500"/>
            <a:ext cx="81915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76250" y="4762500"/>
            <a:ext cx="81915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55249" l="6097" r="7903" t="5166"/>
          <a:stretch/>
        </p:blipFill>
        <p:spPr>
          <a:xfrm>
            <a:off x="0" y="0"/>
            <a:ext cx="5253651" cy="262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50380"/>
          <a:stretch/>
        </p:blipFill>
        <p:spPr>
          <a:xfrm>
            <a:off x="3412050" y="2059249"/>
            <a:ext cx="5731951" cy="30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5" y="161675"/>
            <a:ext cx="4810993" cy="298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925" y="161674"/>
            <a:ext cx="4045801" cy="298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925" y="3145625"/>
            <a:ext cx="2367965" cy="169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Map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89344" l="0" r="50380" t="0"/>
          <a:stretch/>
        </p:blipFill>
        <p:spPr>
          <a:xfrm>
            <a:off x="152400" y="725100"/>
            <a:ext cx="3433899" cy="52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0" l="0" r="50693" t="28831"/>
          <a:stretch/>
        </p:blipFill>
        <p:spPr>
          <a:xfrm>
            <a:off x="152400" y="1302400"/>
            <a:ext cx="3433899" cy="3497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87801" l="49602" r="0" t="0"/>
          <a:stretch/>
        </p:blipFill>
        <p:spPr>
          <a:xfrm>
            <a:off x="3844100" y="493838"/>
            <a:ext cx="3433899" cy="586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49602" r="0" t="12196"/>
          <a:stretch/>
        </p:blipFill>
        <p:spPr>
          <a:xfrm>
            <a:off x="3844100" y="1104200"/>
            <a:ext cx="3433899" cy="4221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Map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90892" l="0" r="50615" t="0"/>
          <a:stretch/>
        </p:blipFill>
        <p:spPr>
          <a:xfrm>
            <a:off x="171275" y="613250"/>
            <a:ext cx="3526026" cy="53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46143" l="0" r="50615" t="8849"/>
          <a:stretch/>
        </p:blipFill>
        <p:spPr>
          <a:xfrm>
            <a:off x="171275" y="1183900"/>
            <a:ext cx="3526026" cy="26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0" r="50615" t="83024"/>
          <a:stretch/>
        </p:blipFill>
        <p:spPr>
          <a:xfrm>
            <a:off x="171275" y="3843896"/>
            <a:ext cx="3526026" cy="9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90483" l="49927" r="0" t="0"/>
          <a:stretch/>
        </p:blipFill>
        <p:spPr>
          <a:xfrm>
            <a:off x="4256350" y="613250"/>
            <a:ext cx="3526026" cy="546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9761" l="49927" r="0" t="9300"/>
          <a:stretch/>
        </p:blipFill>
        <p:spPr>
          <a:xfrm>
            <a:off x="4256350" y="1143350"/>
            <a:ext cx="3526026" cy="464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Map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7910535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Map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86575" l="0" r="0" t="0"/>
          <a:stretch/>
        </p:blipFill>
        <p:spPr>
          <a:xfrm>
            <a:off x="152400" y="725100"/>
            <a:ext cx="7843926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41407"/>
          <a:stretch/>
        </p:blipFill>
        <p:spPr>
          <a:xfrm>
            <a:off x="152400" y="1321962"/>
            <a:ext cx="7843926" cy="24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 b="58373" l="50137" r="0" t="14416"/>
          <a:stretch/>
        </p:blipFill>
        <p:spPr>
          <a:xfrm>
            <a:off x="4085100" y="3666375"/>
            <a:ext cx="3911224" cy="11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Narrative for 2026-05-26 Tue Presentation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/ Purpose</a:t>
            </a:r>
            <a:endParaRPr/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[ZW - 1 min] </a:t>
            </a:r>
            <a:r>
              <a:rPr lang="en"/>
              <a:t>Real Story on caregiver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Elderly stayed alone with caregiver. While caregiver away at work, </a:t>
            </a:r>
            <a:r>
              <a:rPr lang="en"/>
              <a:t>elderly</a:t>
            </a:r>
            <a:r>
              <a:rPr lang="en"/>
              <a:t> is unable to even open/close doors, and ended up hungry through the day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Multiple solutions explored, but the only recourse was to send elderly to a nursing home.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Although unspoken, </a:t>
            </a:r>
            <a:r>
              <a:rPr lang="en"/>
              <a:t>Elderly craves connection, often lighting up once caregiver visits and asks for her only son.</a:t>
            </a:r>
            <a:endParaRPr/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[SS - 1 min]</a:t>
            </a:r>
            <a:r>
              <a:rPr lang="en"/>
              <a:t> Real story on the elderly that we interview 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Elderly staying with his wife but not working any more. Feels disconnected from the world due to loss of routine and </a:t>
            </a:r>
            <a:r>
              <a:rPr lang="en"/>
              <a:t>social</a:t>
            </a:r>
            <a:r>
              <a:rPr lang="en"/>
              <a:t> imagery he had for himself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Started going to Active Ageing centers around his HDB deck. He goes there every day for 4-5 just to connect with people even when there is no </a:t>
            </a:r>
            <a:r>
              <a:rPr lang="en"/>
              <a:t>activity</a:t>
            </a:r>
            <a:r>
              <a:rPr lang="en"/>
              <a:t> planned. So goes there to talk to others, play some games to keep his cognitive abilities alive. He wants to ensure he remains ‘seen’ and not </a:t>
            </a:r>
            <a:r>
              <a:rPr lang="en"/>
              <a:t>forgotten. These daily connections help him be seen</a:t>
            </a:r>
            <a:endParaRPr/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[AA - 1 min] </a:t>
            </a:r>
            <a:r>
              <a:rPr lang="en"/>
              <a:t>Did you know … (3 Key Stats)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Super aging population -- by 2030, 24% will be 65+ ⇒ </a:t>
            </a:r>
            <a:r>
              <a:rPr lang="en"/>
              <a:t>Globally, by 2030, 1B!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WHO acknowledged that “loneliness”/ &lt;&gt; life expectancy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_____</a:t>
            </a:r>
            <a:endParaRPr/>
          </a:p>
          <a:p>
            <a:pPr indent="-284163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Turns out, it is actually a very complex problem -- Not “just” a loneliness or aging problem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Who are we focused on</a:t>
            </a:r>
            <a:endParaRPr/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[AK - ½ min] </a:t>
            </a:r>
            <a:endParaRPr b="1">
              <a:solidFill>
                <a:srgbClr val="FF0000"/>
              </a:solidFill>
            </a:endParaRPr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SO we’re focusing on elderly!</a:t>
            </a:r>
            <a:endParaRPr/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“How might we help elderly in Singapore experience genuine daily connection? So that Singapore is brimming with elderly communities that are happy, mentally and physically healthy. 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Empathy Map</a:t>
            </a:r>
            <a:endParaRPr/>
          </a:p>
          <a:p>
            <a:pPr indent="-28416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[LY - 1 min] </a:t>
            </a:r>
            <a:r>
              <a:rPr lang="en"/>
              <a:t>Show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96189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1143838" y="870750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FF"/>
                </a:solidFill>
              </a:rPr>
              <a:t>Elderly in singapore </a:t>
            </a:r>
            <a:endParaRPr sz="1000">
              <a:solidFill>
                <a:srgbClr val="FF00FF"/>
              </a:solidFill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3655713" y="870750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 feel less lonely</a:t>
            </a:r>
            <a:endParaRPr sz="1000"/>
          </a:p>
        </p:txBody>
      </p:sp>
      <p:sp>
        <p:nvSpPr>
          <p:cNvPr id="140" name="Google Shape;140;p24"/>
          <p:cNvSpPr/>
          <p:nvPr/>
        </p:nvSpPr>
        <p:spPr>
          <a:xfrm>
            <a:off x="6200652" y="870750"/>
            <a:ext cx="24447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And feel part of the society, improve their quality of life, stay healthy to reduce healthcare burden / problems with ageing society</a:t>
            </a:r>
            <a:endParaRPr sz="1000"/>
          </a:p>
        </p:txBody>
      </p:sp>
      <p:sp>
        <p:nvSpPr>
          <p:cNvPr id="141" name="Google Shape;141;p24"/>
          <p:cNvSpPr/>
          <p:nvPr/>
        </p:nvSpPr>
        <p:spPr>
          <a:xfrm>
            <a:off x="1442638" y="-16250"/>
            <a:ext cx="1636500" cy="43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HELP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3954513" y="-16250"/>
            <a:ext cx="1636500" cy="43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45F06"/>
                </a:solidFill>
              </a:rPr>
              <a:t>DO</a:t>
            </a:r>
            <a:endParaRPr b="1">
              <a:solidFill>
                <a:srgbClr val="B45F06"/>
              </a:solidFill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6604752" y="-16250"/>
            <a:ext cx="1636500" cy="43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</a:rPr>
              <a:t>TO</a:t>
            </a:r>
            <a:endParaRPr b="1">
              <a:solidFill>
                <a:srgbClr val="9900FF"/>
              </a:solidFill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1442638" y="376990"/>
            <a:ext cx="1636500" cy="43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WHO are we helping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3954513" y="376990"/>
            <a:ext cx="1636500" cy="43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WHAT do they need to do</a:t>
            </a:r>
            <a:endParaRPr>
              <a:solidFill>
                <a:srgbClr val="B45F06"/>
              </a:solidFill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6604752" y="376990"/>
            <a:ext cx="1636500" cy="43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WHAT outcome do we want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1143838" y="153716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Elderly in Singapore that are not working and living without kids / grandkids</a:t>
            </a:r>
            <a:endParaRPr sz="1000"/>
          </a:p>
        </p:txBody>
      </p:sp>
      <p:sp>
        <p:nvSpPr>
          <p:cNvPr id="148" name="Google Shape;148;p24"/>
          <p:cNvSpPr/>
          <p:nvPr/>
        </p:nvSpPr>
        <p:spPr>
          <a:xfrm>
            <a:off x="3655713" y="153716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Feel connected with the society</a:t>
            </a:r>
            <a:endParaRPr sz="1000"/>
          </a:p>
        </p:txBody>
      </p:sp>
      <p:sp>
        <p:nvSpPr>
          <p:cNvPr id="149" name="Google Shape;149;p24"/>
          <p:cNvSpPr/>
          <p:nvPr/>
        </p:nvSpPr>
        <p:spPr>
          <a:xfrm>
            <a:off x="6211752" y="1537175"/>
            <a:ext cx="24225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 improve ageing experience (metric?) and increase life expectancy</a:t>
            </a:r>
            <a:endParaRPr sz="1000"/>
          </a:p>
        </p:txBody>
      </p:sp>
      <p:sp>
        <p:nvSpPr>
          <p:cNvPr id="150" name="Google Shape;150;p24"/>
          <p:cNvSpPr/>
          <p:nvPr/>
        </p:nvSpPr>
        <p:spPr>
          <a:xfrm>
            <a:off x="1143838" y="2249622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Elderly in Singapore who are staying alone (couple) </a:t>
            </a:r>
            <a:endParaRPr sz="1000"/>
          </a:p>
        </p:txBody>
      </p:sp>
      <p:sp>
        <p:nvSpPr>
          <p:cNvPr id="151" name="Google Shape;151;p24"/>
          <p:cNvSpPr/>
          <p:nvPr/>
        </p:nvSpPr>
        <p:spPr>
          <a:xfrm>
            <a:off x="3655713" y="2249622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 age with a close family member </a:t>
            </a:r>
            <a:endParaRPr sz="1000"/>
          </a:p>
        </p:txBody>
      </p:sp>
      <p:sp>
        <p:nvSpPr>
          <p:cNvPr id="152" name="Google Shape;152;p24"/>
          <p:cNvSpPr/>
          <p:nvPr/>
        </p:nvSpPr>
        <p:spPr>
          <a:xfrm>
            <a:off x="6211752" y="2249627"/>
            <a:ext cx="24225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To age happily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To age with purpose </a:t>
            </a:r>
            <a:r>
              <a:rPr lang="en" sz="1000"/>
              <a:t> </a:t>
            </a:r>
            <a:endParaRPr sz="1000"/>
          </a:p>
        </p:txBody>
      </p:sp>
      <p:sp>
        <p:nvSpPr>
          <p:cNvPr id="153" name="Google Shape;153;p24"/>
          <p:cNvSpPr/>
          <p:nvPr/>
        </p:nvSpPr>
        <p:spPr>
          <a:xfrm>
            <a:off x="1143838" y="296206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Socially isolated elderlies</a:t>
            </a:r>
            <a:endParaRPr sz="1000"/>
          </a:p>
        </p:txBody>
      </p:sp>
      <p:sp>
        <p:nvSpPr>
          <p:cNvPr id="154" name="Google Shape;154;p24"/>
          <p:cNvSpPr/>
          <p:nvPr/>
        </p:nvSpPr>
        <p:spPr>
          <a:xfrm>
            <a:off x="3655713" y="296206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FF"/>
                </a:solidFill>
              </a:rPr>
              <a:t>Experience genuine daily connection</a:t>
            </a:r>
            <a:endParaRPr sz="1000">
              <a:solidFill>
                <a:srgbClr val="FF00FF"/>
              </a:solidFill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6211752" y="2962073"/>
            <a:ext cx="24225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 feel seen, needed, and alive.</a:t>
            </a:r>
            <a:endParaRPr sz="1000"/>
          </a:p>
        </p:txBody>
      </p:sp>
      <p:sp>
        <p:nvSpPr>
          <p:cNvPr id="156" name="Google Shape;156;p24"/>
          <p:cNvSpPr/>
          <p:nvPr/>
        </p:nvSpPr>
        <p:spPr>
          <a:xfrm>
            <a:off x="6211752" y="3674526"/>
            <a:ext cx="24225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 live longer, healthier lives without dependency.</a:t>
            </a:r>
            <a:endParaRPr sz="1000"/>
          </a:p>
        </p:txBody>
      </p:sp>
      <p:sp>
        <p:nvSpPr>
          <p:cNvPr id="157" name="Google Shape;157;p24"/>
          <p:cNvSpPr/>
          <p:nvPr/>
        </p:nvSpPr>
        <p:spPr>
          <a:xfrm>
            <a:off x="1143838" y="367451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Lonely elderlies</a:t>
            </a:r>
            <a:endParaRPr sz="1000"/>
          </a:p>
        </p:txBody>
      </p:sp>
      <p:sp>
        <p:nvSpPr>
          <p:cNvPr id="158" name="Google Shape;158;p24"/>
          <p:cNvSpPr/>
          <p:nvPr/>
        </p:nvSpPr>
        <p:spPr>
          <a:xfrm>
            <a:off x="3655713" y="367451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Find meaningful companionship</a:t>
            </a:r>
            <a:endParaRPr sz="1000"/>
          </a:p>
        </p:txBody>
      </p:sp>
      <p:sp>
        <p:nvSpPr>
          <p:cNvPr id="159" name="Google Shape;159;p24"/>
          <p:cNvSpPr/>
          <p:nvPr/>
        </p:nvSpPr>
        <p:spPr>
          <a:xfrm>
            <a:off x="6211752" y="4386975"/>
            <a:ext cx="24225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FF"/>
                </a:solidFill>
              </a:rPr>
              <a:t>To ensure that Singapore is brimming with elderly communities that are happy, mentally/physically healthy</a:t>
            </a:r>
            <a:endParaRPr sz="1000">
              <a:solidFill>
                <a:srgbClr val="FF00FF"/>
              </a:solidFill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1143838" y="438696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Elderly in Singapore - who are sick/healthy, rich/poor, social/introverted, happy/sad</a:t>
            </a:r>
            <a:endParaRPr sz="1000"/>
          </a:p>
        </p:txBody>
      </p:sp>
      <p:sp>
        <p:nvSpPr>
          <p:cNvPr id="161" name="Google Shape;161;p24"/>
          <p:cNvSpPr/>
          <p:nvPr/>
        </p:nvSpPr>
        <p:spPr>
          <a:xfrm>
            <a:off x="3655713" y="4386968"/>
            <a:ext cx="2234100" cy="59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They need to have a sense of belonging, a sense of assurance that they are not alone or left behind</a:t>
            </a:r>
            <a:endParaRPr sz="1000"/>
          </a:p>
        </p:txBody>
      </p:sp>
      <p:sp>
        <p:nvSpPr>
          <p:cNvPr id="162" name="Google Shape;162;p24"/>
          <p:cNvSpPr txBox="1"/>
          <p:nvPr/>
        </p:nvSpPr>
        <p:spPr>
          <a:xfrm>
            <a:off x="376113" y="3030175"/>
            <a:ext cx="6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ZW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376113" y="3742625"/>
            <a:ext cx="6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ZW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439713" y="1646775"/>
            <a:ext cx="53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</a:t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376113" y="2276975"/>
            <a:ext cx="6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376113" y="4455075"/>
            <a:ext cx="6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439713" y="1016575"/>
            <a:ext cx="53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AIs for this one week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80825" y="617225"/>
            <a:ext cx="8751600" cy="4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 -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PIC for Interview with 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SS - PIC for Presentation for 26th May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PIC for Interview with 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ZW - PIC for Research Orchestration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PIC for Interview with 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LY - PIC for Google Drive → Org &amp;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PIC for Interview with 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AK - PIC for GitHub + Website Launch (host via Vercel)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PIC for Interview with …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of micro site</a:t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426775" y="740198"/>
            <a:ext cx="8378400" cy="41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Problem Space : Why this problem is big and important : </a:t>
            </a:r>
            <a:r>
              <a:rPr lang="en">
                <a:highlight>
                  <a:srgbClr val="FFF2CC"/>
                </a:highlight>
              </a:rPr>
              <a:t>Partially covered</a:t>
            </a:r>
            <a:r>
              <a:rPr lang="en"/>
              <a:t> </a:t>
            </a:r>
            <a:endParaRPr/>
          </a:p>
          <a:p>
            <a:pPr indent="-203200" lvl="1" marL="571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Singapore elderly population stats (cover global as well)</a:t>
            </a:r>
            <a:endParaRPr/>
          </a:p>
          <a:p>
            <a:pPr indent="-203200" lvl="1" marL="571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Loneliness - definition and trends</a:t>
            </a:r>
            <a:endParaRPr/>
          </a:p>
          <a:p>
            <a:pPr indent="-203200" lvl="1" marL="571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 : health effect of Loneliness and causes of Elderly Loneliness</a:t>
            </a:r>
            <a:endParaRPr/>
          </a:p>
          <a:p>
            <a:pPr indent="-203200" lvl="1" marL="571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Existing programs / resources </a:t>
            </a:r>
            <a:endParaRPr/>
          </a:p>
          <a:p>
            <a:pPr indent="-2032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Discovery : To add </a:t>
            </a:r>
            <a:r>
              <a:rPr lang="en">
                <a:solidFill>
                  <a:schemeClr val="dk1"/>
                </a:solidFill>
              </a:rPr>
              <a:t>who we have spoken to, what did we observe</a:t>
            </a:r>
            <a:endParaRPr/>
          </a:p>
          <a:p>
            <a:pPr indent="-203200" lvl="1" marL="571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Personas we have </a:t>
            </a:r>
            <a:r>
              <a:rPr lang="en"/>
              <a:t>spoken</a:t>
            </a:r>
            <a:r>
              <a:rPr lang="en"/>
              <a:t> to, Quotes from people, Photos / audio recordings</a:t>
            </a:r>
            <a:endParaRPr/>
          </a:p>
          <a:p>
            <a:pPr indent="-2032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HMW statement - </a:t>
            </a:r>
            <a:r>
              <a:rPr lang="en">
                <a:highlight>
                  <a:srgbClr val="B6D7A8"/>
                </a:highlight>
              </a:rPr>
              <a:t>covered</a:t>
            </a:r>
            <a:r>
              <a:rPr lang="en"/>
              <a:t> under Question on microsite</a:t>
            </a:r>
            <a:endParaRPr/>
          </a:p>
          <a:p>
            <a:pPr indent="-2032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Empathy Map - To add</a:t>
            </a:r>
            <a:endParaRPr/>
          </a:p>
          <a:p>
            <a:pPr indent="-2032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Journey - 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</a:rPr>
              <a:t>partially covered</a:t>
            </a:r>
            <a:r>
              <a:rPr lang="en">
                <a:solidFill>
                  <a:schemeClr val="dk1"/>
                </a:solidFill>
              </a:rPr>
              <a:t>, add more based on today’s discussion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Personas we have spoken to</a:t>
            </a: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379600" y="702275"/>
            <a:ext cx="2581200" cy="493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Elderly</a:t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379600" y="1325350"/>
            <a:ext cx="25812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Living with daughter and family</a:t>
            </a:r>
            <a:endParaRPr sz="1200"/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Living with wife only</a:t>
            </a:r>
            <a:endParaRPr sz="1200"/>
          </a:p>
        </p:txBody>
      </p:sp>
      <p:sp>
        <p:nvSpPr>
          <p:cNvPr id="187" name="Google Shape;187;p27"/>
          <p:cNvSpPr/>
          <p:nvPr/>
        </p:nvSpPr>
        <p:spPr>
          <a:xfrm>
            <a:off x="3281400" y="702275"/>
            <a:ext cx="2581200" cy="493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caregiver</a:t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3281400" y="1325350"/>
            <a:ext cx="25812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Grandchild whose grandma is showing early signs of dementia. Living with grandma now</a:t>
            </a:r>
            <a:endParaRPr sz="1200"/>
          </a:p>
        </p:txBody>
      </p:sp>
      <p:sp>
        <p:nvSpPr>
          <p:cNvPr id="189" name="Google Shape;189;p27"/>
          <p:cNvSpPr/>
          <p:nvPr/>
        </p:nvSpPr>
        <p:spPr>
          <a:xfrm>
            <a:off x="6183200" y="702275"/>
            <a:ext cx="2581200" cy="493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providers</a:t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6183200" y="1325350"/>
            <a:ext cx="25812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Solution Provider</a:t>
            </a:r>
            <a:endParaRPr sz="1200"/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Caretaker of an old age home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Map</a:t>
            </a:r>
            <a:endParaRPr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50" y="572700"/>
            <a:ext cx="5767681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